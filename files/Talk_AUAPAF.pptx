
<file path=[Content_Types].xml><?xml version="1.0" encoding="utf-8"?>
<Types xmlns="http://schemas.openxmlformats.org/package/2006/content-types">
  <Default Extension="png" ContentType="image/png"/>
  <Default Extension="tmp"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sldIdLst>
    <p:sldId id="1939" r:id="rId2"/>
    <p:sldId id="2017" r:id="rId3"/>
    <p:sldId id="1990" r:id="rId4"/>
    <p:sldId id="2034" r:id="rId5"/>
    <p:sldId id="2038" r:id="rId6"/>
    <p:sldId id="2048" r:id="rId7"/>
    <p:sldId id="2036" r:id="rId8"/>
    <p:sldId id="2035" r:id="rId9"/>
    <p:sldId id="2037" r:id="rId10"/>
    <p:sldId id="2040" r:id="rId11"/>
    <p:sldId id="2042" r:id="rId12"/>
    <p:sldId id="2043" r:id="rId13"/>
    <p:sldId id="2044" r:id="rId14"/>
    <p:sldId id="2046" r:id="rId15"/>
    <p:sldId id="2049" r:id="rId16"/>
    <p:sldId id="2051" r:id="rId17"/>
    <p:sldId id="2052" r:id="rId18"/>
    <p:sldId id="2047" r:id="rId19"/>
    <p:sldId id="1985" r:id="rId20"/>
  </p:sldIdLst>
  <p:sldSz cx="9144000" cy="5143500" type="screen16x9"/>
  <p:notesSz cx="6858000" cy="9144000"/>
  <p:defaultTex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2565" algn="l" defTabSz="913765" rtl="0" eaLnBrk="1" latinLnBrk="0" hangingPunct="1">
      <a:defRPr sz="1800" kern="1200">
        <a:solidFill>
          <a:schemeClr val="tx1"/>
        </a:solidFill>
        <a:latin typeface="+mn-lt"/>
        <a:ea typeface="+mn-ea"/>
        <a:cs typeface="+mn-cs"/>
      </a:defRPr>
    </a:lvl7pPr>
    <a:lvl8pPr marL="3199765" algn="l" defTabSz="913765" rtl="0" eaLnBrk="1" latinLnBrk="0" hangingPunct="1">
      <a:defRPr sz="1800" kern="1200">
        <a:solidFill>
          <a:schemeClr val="tx1"/>
        </a:solidFill>
        <a:latin typeface="+mn-lt"/>
        <a:ea typeface="+mn-ea"/>
        <a:cs typeface="+mn-cs"/>
      </a:defRPr>
    </a:lvl8pPr>
    <a:lvl9pPr marL="3656965" algn="l" defTabSz="913765"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06">
          <p15:clr>
            <a:srgbClr val="A4A3A4"/>
          </p15:clr>
        </p15:guide>
        <p15:guide id="2" pos="2859">
          <p15:clr>
            <a:srgbClr val="A4A3A4"/>
          </p15:clr>
        </p15:guide>
      </p15:sldGuideLst>
    </p:ext>
    <p:ext uri="{2D200454-40CA-4A62-9FC3-DE9A4176ACB9}">
      <p15:notesGuideLst xmlns:p15="http://schemas.microsoft.com/office/powerpoint/2012/main">
        <p15:guide id="1" orient="horz" pos="2678">
          <p15:clr>
            <a:srgbClr val="A4A3A4"/>
          </p15:clr>
        </p15:guide>
        <p15:guide id="2" pos="214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A9A1"/>
    <a:srgbClr val="002A6D"/>
    <a:srgbClr val="034EA2"/>
    <a:srgbClr val="001355"/>
    <a:srgbClr val="006AB4"/>
    <a:srgbClr val="0082BE"/>
    <a:srgbClr val="40B9E9"/>
    <a:srgbClr val="0093D8"/>
    <a:srgbClr val="7FD0F0"/>
    <a:srgbClr val="EAEBF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39" autoAdjust="0"/>
    <p:restoredTop sz="70545" autoAdjust="0"/>
  </p:normalViewPr>
  <p:slideViewPr>
    <p:cSldViewPr>
      <p:cViewPr varScale="1">
        <p:scale>
          <a:sx n="68" d="100"/>
          <a:sy n="68" d="100"/>
        </p:scale>
        <p:origin x="1464" y="66"/>
      </p:cViewPr>
      <p:guideLst>
        <p:guide orient="horz" pos="1506"/>
        <p:guide pos="2859"/>
      </p:guideLst>
    </p:cSldViewPr>
  </p:slideViewPr>
  <p:outlineViewPr>
    <p:cViewPr>
      <p:scale>
        <a:sx n="33" d="100"/>
        <a:sy n="33" d="100"/>
      </p:scale>
      <p:origin x="0" y="-1339"/>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63" d="100"/>
          <a:sy n="63" d="100"/>
        </p:scale>
        <p:origin x="3206" y="77"/>
      </p:cViewPr>
      <p:guideLst>
        <p:guide orient="horz" pos="2678"/>
        <p:guide pos="2144"/>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82A5992-9D73-4015-9385-ABE035416B29}" type="datetimeFigureOut">
              <a:rPr lang="zh-CN" altLang="en-US" smtClean="0"/>
              <a:t>2018/10/18</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795A699-AB68-4A20-99FB-6F69DC266D45}"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3765" rtl="0" eaLnBrk="1" latinLnBrk="0" hangingPunct="1">
      <a:defRPr sz="1200" kern="1200">
        <a:solidFill>
          <a:schemeClr val="tx1"/>
        </a:solidFill>
        <a:latin typeface="+mn-lt"/>
        <a:ea typeface="+mn-ea"/>
        <a:cs typeface="+mn-cs"/>
      </a:defRPr>
    </a:lvl1pPr>
    <a:lvl2pPr marL="457200" algn="l" defTabSz="913765" rtl="0" eaLnBrk="1" latinLnBrk="0" hangingPunct="1">
      <a:defRPr sz="1200" kern="1200">
        <a:solidFill>
          <a:schemeClr val="tx1"/>
        </a:solidFill>
        <a:latin typeface="+mn-lt"/>
        <a:ea typeface="+mn-ea"/>
        <a:cs typeface="+mn-cs"/>
      </a:defRPr>
    </a:lvl2pPr>
    <a:lvl3pPr marL="914400" algn="l" defTabSz="913765" rtl="0" eaLnBrk="1" latinLnBrk="0" hangingPunct="1">
      <a:defRPr sz="1200" kern="1200">
        <a:solidFill>
          <a:schemeClr val="tx1"/>
        </a:solidFill>
        <a:latin typeface="+mn-lt"/>
        <a:ea typeface="+mn-ea"/>
        <a:cs typeface="+mn-cs"/>
      </a:defRPr>
    </a:lvl3pPr>
    <a:lvl4pPr marL="1371600" algn="l" defTabSz="913765" rtl="0" eaLnBrk="1" latinLnBrk="0" hangingPunct="1">
      <a:defRPr sz="1200" kern="1200">
        <a:solidFill>
          <a:schemeClr val="tx1"/>
        </a:solidFill>
        <a:latin typeface="+mn-lt"/>
        <a:ea typeface="+mn-ea"/>
        <a:cs typeface="+mn-cs"/>
      </a:defRPr>
    </a:lvl4pPr>
    <a:lvl5pPr marL="1828800" algn="l" defTabSz="913765" rtl="0" eaLnBrk="1" latinLnBrk="0" hangingPunct="1">
      <a:defRPr sz="1200" kern="1200">
        <a:solidFill>
          <a:schemeClr val="tx1"/>
        </a:solidFill>
        <a:latin typeface="+mn-lt"/>
        <a:ea typeface="+mn-ea"/>
        <a:cs typeface="+mn-cs"/>
      </a:defRPr>
    </a:lvl5pPr>
    <a:lvl6pPr marL="2286000" algn="l" defTabSz="913765" rtl="0" eaLnBrk="1" latinLnBrk="0" hangingPunct="1">
      <a:defRPr sz="1200" kern="1200">
        <a:solidFill>
          <a:schemeClr val="tx1"/>
        </a:solidFill>
        <a:latin typeface="+mn-lt"/>
        <a:ea typeface="+mn-ea"/>
        <a:cs typeface="+mn-cs"/>
      </a:defRPr>
    </a:lvl6pPr>
    <a:lvl7pPr marL="2742565" algn="l" defTabSz="913765" rtl="0" eaLnBrk="1" latinLnBrk="0" hangingPunct="1">
      <a:defRPr sz="1200" kern="1200">
        <a:solidFill>
          <a:schemeClr val="tx1"/>
        </a:solidFill>
        <a:latin typeface="+mn-lt"/>
        <a:ea typeface="+mn-ea"/>
        <a:cs typeface="+mn-cs"/>
      </a:defRPr>
    </a:lvl7pPr>
    <a:lvl8pPr marL="3199765" algn="l" defTabSz="913765" rtl="0" eaLnBrk="1" latinLnBrk="0" hangingPunct="1">
      <a:defRPr sz="1200" kern="1200">
        <a:solidFill>
          <a:schemeClr val="tx1"/>
        </a:solidFill>
        <a:latin typeface="+mn-lt"/>
        <a:ea typeface="+mn-ea"/>
        <a:cs typeface="+mn-cs"/>
      </a:defRPr>
    </a:lvl8pPr>
    <a:lvl9pPr marL="3656965" algn="l" defTabSz="913765"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smtClean="0">
                <a:solidFill>
                  <a:schemeClr val="tx1"/>
                </a:solidFill>
                <a:effectLst/>
                <a:latin typeface="+mn-lt"/>
                <a:ea typeface="+mn-ea"/>
                <a:cs typeface="+mn-cs"/>
              </a:rPr>
              <a:t>Good afternoon everyone, my name is </a:t>
            </a:r>
            <a:r>
              <a:rPr lang="en-US" altLang="zh-CN" sz="1200" kern="1200" dirty="0" err="1" smtClean="0">
                <a:solidFill>
                  <a:schemeClr val="tx1"/>
                </a:solidFill>
                <a:effectLst/>
                <a:latin typeface="+mn-lt"/>
                <a:ea typeface="+mn-ea"/>
                <a:cs typeface="+mn-cs"/>
              </a:rPr>
              <a:t>Yichi</a:t>
            </a:r>
            <a:r>
              <a:rPr lang="en-US" altLang="zh-CN" sz="1200" kern="1200" dirty="0" smtClean="0">
                <a:solidFill>
                  <a:schemeClr val="tx1"/>
                </a:solidFill>
                <a:effectLst/>
                <a:latin typeface="+mn-lt"/>
                <a:ea typeface="+mn-ea"/>
                <a:cs typeface="+mn-cs"/>
              </a:rPr>
              <a:t> Zhang and I’m from </a:t>
            </a:r>
            <a:r>
              <a:rPr lang="en-US" altLang="zh-CN" sz="1200" kern="1200" baseline="0" dirty="0" smtClean="0">
                <a:solidFill>
                  <a:schemeClr val="tx1"/>
                </a:solidFill>
                <a:effectLst/>
                <a:latin typeface="+mn-lt"/>
                <a:ea typeface="+mn-ea"/>
                <a:cs typeface="+mn-cs"/>
              </a:rPr>
              <a:t>Tsinghua University, </a:t>
            </a:r>
            <a:r>
              <a:rPr lang="en-US" altLang="zh-CN" sz="1200" kern="1200" baseline="0" dirty="0" smtClean="0">
                <a:solidFill>
                  <a:schemeClr val="tx1"/>
                </a:solidFill>
                <a:effectLst/>
                <a:latin typeface="+mn-lt"/>
                <a:ea typeface="+mn-ea"/>
                <a:cs typeface="+mn-cs"/>
              </a:rPr>
              <a:t>today</a:t>
            </a:r>
            <a:r>
              <a:rPr lang="en-US" altLang="zh-CN" sz="1200" kern="1200" dirty="0" smtClean="0">
                <a:solidFill>
                  <a:schemeClr val="tx1"/>
                </a:solidFill>
                <a:effectLst/>
                <a:latin typeface="+mn-lt"/>
                <a:ea typeface="+mn-ea"/>
                <a:cs typeface="+mn-cs"/>
              </a:rPr>
              <a:t> </a:t>
            </a:r>
            <a:r>
              <a:rPr lang="en-US" altLang="zh-CN" sz="1200" kern="1200" dirty="0" smtClean="0">
                <a:solidFill>
                  <a:schemeClr val="tx1"/>
                </a:solidFill>
                <a:effectLst/>
                <a:latin typeface="+mn-lt"/>
                <a:ea typeface="+mn-ea"/>
                <a:cs typeface="+mn-cs"/>
              </a:rPr>
              <a:t>I’m glad to introduce our work, LEARNING SPARSE STRUCTURED ENSEMBLES WITH STOCASTIC GTADIENT MCMC SAMPLING AND NETWORK PRUNING.</a:t>
            </a:r>
            <a:endParaRPr lang="zh-CN" altLang="zh-CN" sz="1200" kern="1200" dirty="0" smtClean="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418F03C3-53C1-4F10-8DAF-D1F318E96C6E}"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3765" rtl="0" eaLnBrk="1" fontAlgn="auto" latinLnBrk="0" hangingPunct="1">
              <a:lnSpc>
                <a:spcPct val="100000"/>
              </a:lnSpc>
              <a:spcBef>
                <a:spcPts val="0"/>
              </a:spcBef>
              <a:spcAft>
                <a:spcPts val="0"/>
              </a:spcAft>
              <a:buClrTx/>
              <a:buSzTx/>
              <a:buFontTx/>
              <a:buNone/>
              <a:tabLst/>
              <a:defRPr/>
            </a:pPr>
            <a:r>
              <a:rPr lang="en-US" altLang="zh-CN" sz="1200" kern="1200" dirty="0" smtClean="0">
                <a:solidFill>
                  <a:schemeClr val="tx1"/>
                </a:solidFill>
                <a:effectLst/>
                <a:latin typeface="+mn-lt"/>
                <a:ea typeface="+mn-ea"/>
                <a:cs typeface="+mn-cs"/>
              </a:rPr>
              <a:t>Our proposed method aims at efficiently </a:t>
            </a:r>
            <a:r>
              <a:rPr lang="en-US" altLang="zh-CN" sz="1200" kern="1200" baseline="0" dirty="0" smtClean="0">
                <a:solidFill>
                  <a:schemeClr val="tx1"/>
                </a:solidFill>
                <a:effectLst/>
                <a:latin typeface="+mn-lt"/>
                <a:ea typeface="+mn-ea"/>
                <a:cs typeface="+mn-cs"/>
              </a:rPr>
              <a:t>learning ensemble for neural networks with low training and testing cost. </a:t>
            </a:r>
            <a:r>
              <a:rPr lang="en-US" altLang="zh-CN" sz="1200" kern="1200" dirty="0" smtClean="0">
                <a:solidFill>
                  <a:schemeClr val="tx1"/>
                </a:solidFill>
                <a:effectLst/>
                <a:latin typeface="+mn-lt"/>
                <a:ea typeface="+mn-ea"/>
                <a:cs typeface="+mn-cs"/>
              </a:rPr>
              <a:t>This</a:t>
            </a:r>
            <a:r>
              <a:rPr lang="en-US" altLang="zh-CN" sz="1200" kern="1200" baseline="0" dirty="0" smtClean="0">
                <a:solidFill>
                  <a:schemeClr val="tx1"/>
                </a:solidFill>
                <a:effectLst/>
                <a:latin typeface="+mn-lt"/>
                <a:ea typeface="+mn-ea"/>
                <a:cs typeface="+mn-cs"/>
              </a:rPr>
              <a:t> is the outline of my presentation, </a:t>
            </a:r>
            <a:r>
              <a:rPr lang="en-US" altLang="zh-CN" sz="1200" kern="1200" dirty="0" smtClean="0">
                <a:solidFill>
                  <a:schemeClr val="tx1"/>
                </a:solidFill>
                <a:effectLst/>
                <a:latin typeface="+mn-lt"/>
                <a:ea typeface="+mn-ea"/>
                <a:cs typeface="+mn-cs"/>
              </a:rPr>
              <a:t>I will begin with our research motivation and</a:t>
            </a:r>
            <a:r>
              <a:rPr lang="en-US" altLang="zh-CN" sz="1200" kern="1200" baseline="0" dirty="0" smtClean="0">
                <a:solidFill>
                  <a:schemeClr val="tx1"/>
                </a:solidFill>
                <a:effectLst/>
                <a:latin typeface="+mn-lt"/>
                <a:ea typeface="+mn-ea"/>
                <a:cs typeface="+mn-cs"/>
              </a:rPr>
              <a:t> the </a:t>
            </a:r>
            <a:r>
              <a:rPr lang="en-US" altLang="zh-CN" sz="1200" kern="1200" dirty="0" smtClean="0">
                <a:solidFill>
                  <a:schemeClr val="tx1"/>
                </a:solidFill>
                <a:effectLst/>
                <a:latin typeface="+mn-lt"/>
                <a:ea typeface="+mn-ea"/>
                <a:cs typeface="+mn-cs"/>
              </a:rPr>
              <a:t>existing</a:t>
            </a:r>
            <a:r>
              <a:rPr lang="en-US" altLang="zh-CN" sz="1200" kern="1200" baseline="0" dirty="0" smtClean="0">
                <a:solidFill>
                  <a:schemeClr val="tx1"/>
                </a:solidFill>
                <a:effectLst/>
                <a:latin typeface="+mn-lt"/>
                <a:ea typeface="+mn-ea"/>
                <a:cs typeface="+mn-cs"/>
              </a:rPr>
              <a:t> problem, then discuss some related work a</a:t>
            </a:r>
            <a:r>
              <a:rPr lang="en-US" altLang="zh-CN" sz="1200" kern="1200" dirty="0" smtClean="0">
                <a:solidFill>
                  <a:schemeClr val="tx1"/>
                </a:solidFill>
                <a:effectLst/>
                <a:latin typeface="+mn-lt"/>
                <a:ea typeface="+mn-ea"/>
                <a:cs typeface="+mn-cs"/>
              </a:rPr>
              <a:t>nd come</a:t>
            </a:r>
            <a:r>
              <a:rPr lang="en-US" altLang="zh-CN" sz="1200" kern="1200" baseline="0" dirty="0" smtClean="0">
                <a:solidFill>
                  <a:schemeClr val="tx1"/>
                </a:solidFill>
                <a:effectLst/>
                <a:latin typeface="+mn-lt"/>
                <a:ea typeface="+mn-ea"/>
                <a:cs typeface="+mn-cs"/>
              </a:rPr>
              <a:t> to</a:t>
            </a:r>
            <a:r>
              <a:rPr lang="en-US" altLang="zh-CN" sz="1200" kern="1200" dirty="0" smtClean="0">
                <a:solidFill>
                  <a:schemeClr val="tx1"/>
                </a:solidFill>
                <a:effectLst/>
                <a:latin typeface="+mn-lt"/>
                <a:ea typeface="+mn-ea"/>
                <a:cs typeface="+mn-cs"/>
              </a:rPr>
              <a:t> our solution,</a:t>
            </a:r>
            <a:r>
              <a:rPr lang="en-US" altLang="zh-CN" sz="1200" kern="1200" baseline="0" dirty="0" smtClean="0">
                <a:solidFill>
                  <a:schemeClr val="tx1"/>
                </a:solidFill>
                <a:effectLst/>
                <a:latin typeface="+mn-lt"/>
                <a:ea typeface="+mn-ea"/>
                <a:cs typeface="+mn-cs"/>
              </a:rPr>
              <a:t> and finally show the experimental results and conclude.</a:t>
            </a:r>
            <a:endParaRPr lang="zh-CN" altLang="en-US" dirty="0" smtClean="0"/>
          </a:p>
          <a:p>
            <a:endParaRPr lang="zh-CN" altLang="en-US" dirty="0"/>
          </a:p>
        </p:txBody>
      </p:sp>
      <p:sp>
        <p:nvSpPr>
          <p:cNvPr id="4" name="灯片编号占位符 3"/>
          <p:cNvSpPr>
            <a:spLocks noGrp="1"/>
          </p:cNvSpPr>
          <p:nvPr>
            <p:ph type="sldNum" sz="quarter" idx="10"/>
          </p:nvPr>
        </p:nvSpPr>
        <p:spPr/>
        <p:txBody>
          <a:bodyPr/>
          <a:lstStyle/>
          <a:p>
            <a:fld id="{0B48A77E-79FB-4BFF-B1F0-CFD29F30865E}" type="slidenum">
              <a:rPr lang="en-US" altLang="zh-CN" smtClean="0"/>
              <a:t>2</a:t>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smtClean="0">
                <a:solidFill>
                  <a:schemeClr val="tx1"/>
                </a:solidFill>
                <a:effectLst/>
                <a:latin typeface="+mn-lt"/>
                <a:ea typeface="+mn-ea"/>
                <a:cs typeface="+mn-cs"/>
              </a:rPr>
              <a:t>As</a:t>
            </a:r>
            <a:r>
              <a:rPr lang="en-US" altLang="zh-CN" sz="1200" kern="1200" baseline="0" dirty="0" smtClean="0">
                <a:solidFill>
                  <a:schemeClr val="tx1"/>
                </a:solidFill>
                <a:effectLst/>
                <a:latin typeface="+mn-lt"/>
                <a:ea typeface="+mn-ea"/>
                <a:cs typeface="+mn-cs"/>
              </a:rPr>
              <a:t> we know, an e</a:t>
            </a:r>
            <a:r>
              <a:rPr lang="en-US" altLang="zh-CN" sz="1200" kern="1200" dirty="0" smtClean="0">
                <a:solidFill>
                  <a:schemeClr val="tx1"/>
                </a:solidFill>
                <a:effectLst/>
                <a:latin typeface="+mn-lt"/>
                <a:ea typeface="+mn-ea"/>
                <a:cs typeface="+mn-cs"/>
              </a:rPr>
              <a:t>nsemble is a </a:t>
            </a:r>
            <a:r>
              <a:rPr lang="en-US" altLang="zh-CN" sz="1200" b="0" kern="1200" dirty="0" smtClean="0">
                <a:solidFill>
                  <a:schemeClr val="tx1"/>
                </a:solidFill>
                <a:effectLst/>
                <a:latin typeface="+mn-lt"/>
                <a:ea typeface="+mn-ea"/>
                <a:cs typeface="+mn-cs"/>
              </a:rPr>
              <a:t>group of models to work together.</a:t>
            </a:r>
            <a:r>
              <a:rPr lang="en-US" altLang="zh-CN" sz="1200" b="0" kern="1200" baseline="0" dirty="0" smtClean="0">
                <a:solidFill>
                  <a:schemeClr val="tx1"/>
                </a:solidFill>
                <a:effectLst/>
                <a:latin typeface="+mn-lt"/>
                <a:ea typeface="+mn-ea"/>
                <a:cs typeface="+mn-cs"/>
              </a:rPr>
              <a:t> </a:t>
            </a:r>
            <a:endParaRPr lang="zh-CN" altLang="zh-CN" sz="1200" kern="1200" dirty="0" smtClean="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7795A699-AB68-4A20-99FB-6F69DC266D45}" type="slidenum">
              <a:rPr lang="zh-CN" altLang="en-US" smtClean="0"/>
              <a:t>3</a:t>
            </a:fld>
            <a:endParaRPr lang="zh-CN" altLang="en-US"/>
          </a:p>
        </p:txBody>
      </p:sp>
    </p:spTree>
    <p:extLst>
      <p:ext uri="{BB962C8B-B14F-4D97-AF65-F5344CB8AC3E}">
        <p14:creationId xmlns:p14="http://schemas.microsoft.com/office/powerpoint/2010/main" val="29846234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200" baseline="0" dirty="0" smtClean="0">
                <a:solidFill>
                  <a:schemeClr val="tx1"/>
                </a:solidFill>
                <a:effectLst/>
                <a:latin typeface="+mn-lt"/>
                <a:ea typeface="+mn-ea"/>
                <a:cs typeface="+mn-cs"/>
              </a:rPr>
              <a:t>We prefer ensembles, b</a:t>
            </a:r>
            <a:r>
              <a:rPr lang="en-US" altLang="zh-CN" sz="1200" kern="1200" dirty="0" smtClean="0">
                <a:solidFill>
                  <a:schemeClr val="tx1"/>
                </a:solidFill>
                <a:effectLst/>
                <a:latin typeface="+mn-lt"/>
                <a:ea typeface="+mn-ea"/>
                <a:cs typeface="+mn-cs"/>
              </a:rPr>
              <a:t>ecause</a:t>
            </a:r>
            <a:r>
              <a:rPr lang="en-US" altLang="zh-CN" sz="1200" kern="1200" baseline="0" dirty="0" smtClean="0">
                <a:solidFill>
                  <a:schemeClr val="tx1"/>
                </a:solidFill>
                <a:effectLst/>
                <a:latin typeface="+mn-lt"/>
                <a:ea typeface="+mn-ea"/>
                <a:cs typeface="+mn-cs"/>
              </a:rPr>
              <a:t> they</a:t>
            </a:r>
            <a:r>
              <a:rPr lang="en-US" altLang="zh-CN" sz="1200" kern="1200" dirty="0" smtClean="0">
                <a:solidFill>
                  <a:schemeClr val="tx1"/>
                </a:solidFill>
                <a:effectLst/>
                <a:latin typeface="+mn-lt"/>
                <a:ea typeface="+mn-ea"/>
                <a:cs typeface="+mn-cs"/>
              </a:rPr>
              <a:t> can greatly improve the prediction accuracy, since multiple models obtained from applying stochastic optimization training may converge to different local </a:t>
            </a:r>
            <a:r>
              <a:rPr lang="en-US" altLang="zh-CN" sz="1200" kern="1200" dirty="0" err="1" smtClean="0">
                <a:solidFill>
                  <a:schemeClr val="tx1"/>
                </a:solidFill>
                <a:effectLst/>
                <a:latin typeface="+mn-lt"/>
                <a:ea typeface="+mn-ea"/>
                <a:cs typeface="+mn-cs"/>
              </a:rPr>
              <a:t>minimas</a:t>
            </a:r>
            <a:r>
              <a:rPr lang="en-US" altLang="zh-CN" sz="1200" kern="1200" dirty="0" smtClean="0">
                <a:solidFill>
                  <a:schemeClr val="tx1"/>
                </a:solidFill>
                <a:effectLst/>
                <a:latin typeface="+mn-lt"/>
                <a:ea typeface="+mn-ea"/>
                <a:cs typeface="+mn-cs"/>
              </a:rPr>
              <a:t>, and tend to make different classification errors. </a:t>
            </a:r>
            <a:r>
              <a:rPr lang="en-US" altLang="zh-CN" sz="1200" kern="1200" dirty="0" smtClean="0">
                <a:solidFill>
                  <a:schemeClr val="tx1"/>
                </a:solidFill>
                <a:effectLst/>
                <a:latin typeface="+mn-lt"/>
                <a:ea typeface="+mn-ea"/>
                <a:cs typeface="+mn-cs"/>
              </a:rPr>
              <a:t>This diversity makes an ensemble</a:t>
            </a:r>
            <a:r>
              <a:rPr lang="en-US" altLang="zh-CN" sz="1200" kern="1200" baseline="0" dirty="0" smtClean="0">
                <a:solidFill>
                  <a:schemeClr val="tx1"/>
                </a:solidFill>
                <a:effectLst/>
                <a:latin typeface="+mn-lt"/>
                <a:ea typeface="+mn-ea"/>
                <a:cs typeface="+mn-cs"/>
              </a:rPr>
              <a:t> more robust and make less mistakes than individual model. </a:t>
            </a:r>
            <a:endParaRPr lang="zh-CN" altLang="zh-CN" sz="1200" kern="1200" dirty="0" smtClean="0">
              <a:solidFill>
                <a:schemeClr val="tx1"/>
              </a:solidFill>
              <a:effectLst/>
              <a:latin typeface="+mn-lt"/>
              <a:ea typeface="+mn-ea"/>
              <a:cs typeface="+mn-cs"/>
            </a:endParaRPr>
          </a:p>
          <a:p>
            <a:endParaRPr lang="zh-CN" altLang="en-US" dirty="0" smtClean="0"/>
          </a:p>
          <a:p>
            <a:endParaRPr lang="zh-CN" altLang="en-US" dirty="0"/>
          </a:p>
        </p:txBody>
      </p:sp>
      <p:sp>
        <p:nvSpPr>
          <p:cNvPr id="4" name="灯片编号占位符 3"/>
          <p:cNvSpPr>
            <a:spLocks noGrp="1"/>
          </p:cNvSpPr>
          <p:nvPr>
            <p:ph type="sldNum" sz="quarter" idx="10"/>
          </p:nvPr>
        </p:nvSpPr>
        <p:spPr/>
        <p:txBody>
          <a:bodyPr/>
          <a:lstStyle/>
          <a:p>
            <a:fld id="{7795A699-AB68-4A20-99FB-6F69DC266D45}" type="slidenum">
              <a:rPr lang="zh-CN" altLang="en-US" smtClean="0"/>
              <a:t>4</a:t>
            </a:fld>
            <a:endParaRPr lang="zh-CN" altLang="en-US"/>
          </a:p>
        </p:txBody>
      </p:sp>
    </p:spTree>
    <p:extLst>
      <p:ext uri="{BB962C8B-B14F-4D97-AF65-F5344CB8AC3E}">
        <p14:creationId xmlns:p14="http://schemas.microsoft.com/office/powerpoint/2010/main" val="7319062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en-US" altLang="zh-CN" sz="1200" kern="1200" dirty="0" smtClean="0">
                    <a:solidFill>
                      <a:schemeClr val="tx1"/>
                    </a:solidFill>
                    <a:effectLst/>
                    <a:latin typeface="+mn-lt"/>
                    <a:ea typeface="+mn-ea"/>
                    <a:cs typeface="+mn-cs"/>
                  </a:rPr>
                  <a:t>However the problem is, when we train an ensemble of </a:t>
                </a:r>
                <a:r>
                  <a:rPr lang="zh-CN" altLang="en-US" sz="1200" kern="1200" dirty="0" smtClean="0">
                    <a:solidFill>
                      <a:schemeClr val="tx1"/>
                    </a:solidFill>
                    <a:effectLst/>
                    <a:latin typeface="+mn-lt"/>
                    <a:ea typeface="+mn-ea"/>
                    <a:cs typeface="+mn-cs"/>
                  </a:rPr>
                  <a:t>𝑁 </a:t>
                </a:r>
                <a:r>
                  <a:rPr lang="en-US" altLang="zh-CN" sz="1200" kern="1200" dirty="0" smtClean="0">
                    <a:solidFill>
                      <a:schemeClr val="tx1"/>
                    </a:solidFill>
                    <a:effectLst/>
                    <a:latin typeface="+mn-lt"/>
                    <a:ea typeface="+mn-ea"/>
                    <a:cs typeface="+mn-cs"/>
                  </a:rPr>
                  <a:t>neural networks, the training time are also N times as large. While we need to store these networks and run all of </a:t>
                </a:r>
                <a:r>
                  <a:rPr lang="en-US" altLang="zh-CN" sz="1200" kern="1200" dirty="0" smtClean="0">
                    <a:solidFill>
                      <a:schemeClr val="tx1"/>
                    </a:solidFill>
                    <a:effectLst/>
                    <a:latin typeface="+mn-lt"/>
                    <a:ea typeface="+mn-ea"/>
                    <a:cs typeface="+mn-cs"/>
                  </a:rPr>
                  <a:t>them</a:t>
                </a:r>
                <a:r>
                  <a:rPr lang="en-US" altLang="zh-CN" sz="1200" kern="1200" baseline="0" dirty="0" smtClean="0">
                    <a:solidFill>
                      <a:schemeClr val="tx1"/>
                    </a:solidFill>
                    <a:effectLst/>
                    <a:latin typeface="+mn-lt"/>
                    <a:ea typeface="+mn-ea"/>
                    <a:cs typeface="+mn-cs"/>
                  </a:rPr>
                  <a:t> to do average</a:t>
                </a:r>
                <a:r>
                  <a:rPr lang="en-US" altLang="zh-CN" sz="1200" kern="1200" dirty="0" smtClean="0">
                    <a:solidFill>
                      <a:schemeClr val="tx1"/>
                    </a:solidFill>
                    <a:effectLst/>
                    <a:latin typeface="+mn-lt"/>
                    <a:ea typeface="+mn-ea"/>
                    <a:cs typeface="+mn-cs"/>
                  </a:rPr>
                  <a:t>, </a:t>
                </a:r>
                <a:r>
                  <a:rPr lang="en-US" altLang="zh-CN" sz="1200" kern="1200" dirty="0" smtClean="0">
                    <a:solidFill>
                      <a:schemeClr val="tx1"/>
                    </a:solidFill>
                    <a:effectLst/>
                    <a:latin typeface="+mn-lt"/>
                    <a:ea typeface="+mn-ea"/>
                    <a:cs typeface="+mn-cs"/>
                  </a:rPr>
                  <a:t>our memory and testing time cost are also N times. </a:t>
                </a:r>
                <a:r>
                  <a:rPr lang="en-US" altLang="zh-CN" sz="1200" kern="1200" dirty="0" smtClean="0">
                    <a:solidFill>
                      <a:schemeClr val="tx1"/>
                    </a:solidFill>
                    <a:effectLst/>
                    <a:latin typeface="+mn-lt"/>
                    <a:ea typeface="+mn-ea"/>
                    <a:cs typeface="+mn-cs"/>
                  </a:rPr>
                  <a:t>Therefore </a:t>
                </a:r>
                <a:r>
                  <a:rPr lang="en-US" altLang="zh-CN" sz="1200" kern="1200" dirty="0" smtClean="0">
                    <a:solidFill>
                      <a:schemeClr val="tx1"/>
                    </a:solidFill>
                    <a:effectLst/>
                    <a:latin typeface="+mn-lt"/>
                    <a:ea typeface="+mn-ea"/>
                    <a:cs typeface="+mn-cs"/>
                  </a:rPr>
                  <a:t>it is too costly to benefit from an ensemble.</a:t>
                </a:r>
              </a:p>
              <a:p>
                <a:r>
                  <a:rPr lang="en-US" altLang="zh-CN" sz="1200" kern="1200" dirty="0" smtClean="0">
                    <a:solidFill>
                      <a:schemeClr val="tx1"/>
                    </a:solidFill>
                    <a:effectLst/>
                    <a:latin typeface="+mn-lt"/>
                    <a:ea typeface="+mn-ea"/>
                    <a:cs typeface="+mn-cs"/>
                  </a:rPr>
                  <a:t>These problems gives us the inspiration to study for a better way to learn ensembles for deep neural networks.</a:t>
                </a:r>
              </a:p>
              <a:p>
                <a:endParaRPr lang="zh-CN" altLang="zh-CN" sz="1200" kern="1200" dirty="0" smtClean="0">
                  <a:solidFill>
                    <a:schemeClr val="tx1"/>
                  </a:solidFill>
                  <a:effectLst/>
                  <a:latin typeface="+mn-lt"/>
                  <a:ea typeface="+mn-ea"/>
                  <a:cs typeface="+mn-cs"/>
                </a:endParaRPr>
              </a:p>
              <a:p>
                <a:endParaRPr lang="zh-CN" altLang="en-US" dirty="0"/>
              </a:p>
            </p:txBody>
          </p:sp>
        </mc:Choice>
        <mc:Fallback xmlns="">
          <p:sp>
            <p:nvSpPr>
              <p:cNvPr id="3" name="备注占位符 2"/>
              <p:cNvSpPr>
                <a:spLocks noGrp="1"/>
              </p:cNvSpPr>
              <p:nvPr>
                <p:ph type="body" idx="1"/>
              </p:nvPr>
            </p:nvSpPr>
            <p:spPr/>
            <p:txBody>
              <a:bodyPr/>
              <a:lstStyle/>
              <a:p>
                <a:r>
                  <a:rPr lang="en-US" altLang="zh-CN" sz="1200" kern="1200" dirty="0" smtClean="0">
                    <a:solidFill>
                      <a:schemeClr val="tx1"/>
                    </a:solidFill>
                    <a:effectLst/>
                    <a:latin typeface="+mn-lt"/>
                    <a:ea typeface="+mn-ea"/>
                    <a:cs typeface="+mn-cs"/>
                  </a:rPr>
                  <a:t>However, when we train an ensemble of </a:t>
                </a:r>
                <a:r>
                  <a:rPr lang="en-US" altLang="zh-CN" sz="1200" i="0" kern="1200">
                    <a:solidFill>
                      <a:schemeClr val="tx1"/>
                    </a:solidFill>
                    <a:effectLst/>
                    <a:latin typeface="+mn-lt"/>
                    <a:ea typeface="+mn-ea"/>
                    <a:cs typeface="+mn-cs"/>
                  </a:rPr>
                  <a:t>𝑁</a:t>
                </a:r>
                <a:r>
                  <a:rPr lang="en-US" altLang="zh-CN" sz="1200" kern="1200" dirty="0">
                    <a:solidFill>
                      <a:schemeClr val="tx1"/>
                    </a:solidFill>
                    <a:effectLst/>
                    <a:latin typeface="+mn-lt"/>
                    <a:ea typeface="+mn-ea"/>
                    <a:cs typeface="+mn-cs"/>
                  </a:rPr>
                  <a:t> neural networks, the time and saving cost are also N times as large. Since state of the art deep models are usually too large and hard to train, it is too hard to take use of the benefit of ensemble.</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This gives us the inspiration to study for a better way to learn neural network ensembles.</a:t>
                </a:r>
                <a:endParaRPr lang="zh-CN" altLang="zh-CN" sz="1200" kern="1200" dirty="0">
                  <a:solidFill>
                    <a:schemeClr val="tx1"/>
                  </a:solidFill>
                  <a:effectLst/>
                  <a:latin typeface="+mn-lt"/>
                  <a:ea typeface="+mn-ea"/>
                  <a:cs typeface="+mn-cs"/>
                </a:endParaRPr>
              </a:p>
              <a:p>
                <a:endParaRPr lang="zh-CN" altLang="en-US" dirty="0"/>
              </a:p>
            </p:txBody>
          </p:sp>
        </mc:Fallback>
      </mc:AlternateContent>
      <p:sp>
        <p:nvSpPr>
          <p:cNvPr id="4" name="灯片编号占位符 3"/>
          <p:cNvSpPr>
            <a:spLocks noGrp="1"/>
          </p:cNvSpPr>
          <p:nvPr>
            <p:ph type="sldNum" sz="quarter" idx="10"/>
          </p:nvPr>
        </p:nvSpPr>
        <p:spPr/>
        <p:txBody>
          <a:bodyPr/>
          <a:lstStyle/>
          <a:p>
            <a:fld id="{D84EF7DF-42E2-494E-8341-BFA4D56922B5}" type="slidenum">
              <a:rPr lang="zh-CN" altLang="en-US" smtClean="0"/>
              <a:t>5</a:t>
            </a:fld>
            <a:endParaRPr lang="zh-CN" altLang="en-US"/>
          </a:p>
        </p:txBody>
      </p:sp>
    </p:spTree>
    <p:extLst>
      <p:ext uri="{BB962C8B-B14F-4D97-AF65-F5344CB8AC3E}">
        <p14:creationId xmlns:p14="http://schemas.microsoft.com/office/powerpoint/2010/main" val="22405497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marL="0" marR="0" indent="0" algn="l" defTabSz="713232" rtl="0" eaLnBrk="1" fontAlgn="auto" latinLnBrk="0" hangingPunct="1">
                  <a:lnSpc>
                    <a:spcPct val="100000"/>
                  </a:lnSpc>
                  <a:spcBef>
                    <a:spcPts val="0"/>
                  </a:spcBef>
                  <a:spcAft>
                    <a:spcPts val="0"/>
                  </a:spcAft>
                  <a:buClrTx/>
                  <a:buSzTx/>
                  <a:buFontTx/>
                  <a:buNone/>
                  <a:tabLst/>
                  <a:defRPr/>
                </a:pPr>
                <a:r>
                  <a:rPr lang="en-US" altLang="zh-CN" dirty="0" smtClean="0"/>
                  <a:t>For the training</a:t>
                </a:r>
                <a:r>
                  <a:rPr lang="en-US" altLang="zh-CN" baseline="0" dirty="0" smtClean="0"/>
                  <a:t> problem, the previous work of snapshot ensembles try to solve it by leveraging a special cyclic learning rate as shown in the figure</a:t>
                </a:r>
                <a:r>
                  <a:rPr lang="en-US" altLang="zh-CN" sz="900" kern="1200" dirty="0" smtClean="0">
                    <a:solidFill>
                      <a:schemeClr val="tx1"/>
                    </a:solidFill>
                    <a:effectLst/>
                    <a:latin typeface="+mn-lt"/>
                    <a:ea typeface="+mn-ea"/>
                    <a:cs typeface="+mn-cs"/>
                  </a:rPr>
                  <a:t> to</a:t>
                </a:r>
                <a:r>
                  <a:rPr lang="en-US" altLang="zh-CN" sz="900" kern="1200" baseline="0" dirty="0" smtClean="0">
                    <a:solidFill>
                      <a:schemeClr val="tx1"/>
                    </a:solidFill>
                    <a:effectLst/>
                    <a:latin typeface="+mn-lt"/>
                    <a:ea typeface="+mn-ea"/>
                    <a:cs typeface="+mn-cs"/>
                  </a:rPr>
                  <a:t> </a:t>
                </a:r>
                <a:r>
                  <a:rPr lang="en-US" altLang="zh-CN" sz="900" kern="1200" dirty="0" smtClean="0">
                    <a:solidFill>
                      <a:schemeClr val="tx1"/>
                    </a:solidFill>
                    <a:effectLst/>
                    <a:latin typeface="+mn-lt"/>
                    <a:ea typeface="+mn-ea"/>
                    <a:cs typeface="+mn-cs"/>
                  </a:rPr>
                  <a:t>collect</a:t>
                </a:r>
                <a:r>
                  <a:rPr lang="en-US" altLang="zh-CN" sz="900" kern="1200" baseline="0" dirty="0" smtClean="0">
                    <a:solidFill>
                      <a:schemeClr val="tx1"/>
                    </a:solidFill>
                    <a:effectLst/>
                    <a:latin typeface="+mn-lt"/>
                    <a:ea typeface="+mn-ea"/>
                    <a:cs typeface="+mn-cs"/>
                  </a:rPr>
                  <a:t> large diversity models within a single training process. So the training cost is reduced. However, we can see that the setting of the </a:t>
                </a:r>
                <a:r>
                  <a:rPr lang="en-US" altLang="zh-CN" sz="900" baseline="0" dirty="0" smtClean="0"/>
                  <a:t>learning rate is </a:t>
                </a:r>
                <a:r>
                  <a:rPr lang="en-US" altLang="zh-CN" sz="900" kern="1200" baseline="0" dirty="0" smtClean="0">
                    <a:solidFill>
                      <a:schemeClr val="tx1"/>
                    </a:solidFill>
                    <a:effectLst/>
                    <a:latin typeface="+mn-lt"/>
                    <a:ea typeface="+mn-ea"/>
                    <a:cs typeface="+mn-cs"/>
                  </a:rPr>
                  <a:t>very </a:t>
                </a:r>
                <a:r>
                  <a:rPr lang="en-US" altLang="zh-CN" sz="900" b="0" i="0" u="none" strike="noStrike" kern="1200" baseline="0" dirty="0" smtClean="0">
                    <a:solidFill>
                      <a:schemeClr val="tx1"/>
                    </a:solidFill>
                    <a:latin typeface="+mn-lt"/>
                    <a:ea typeface="+mn-ea"/>
                    <a:cs typeface="+mn-cs"/>
                  </a:rPr>
                  <a:t>empirical and it is hard to scale to other tasks. </a:t>
                </a:r>
                <a:endParaRPr lang="zh-CN" altLang="en-US" dirty="0" smtClean="0"/>
              </a:p>
            </p:txBody>
          </p:sp>
        </mc:Choice>
        <mc:Fallback xmlns="">
          <p:sp>
            <p:nvSpPr>
              <p:cNvPr id="3" name="备注占位符 2"/>
              <p:cNvSpPr>
                <a:spLocks noGrp="1"/>
              </p:cNvSpPr>
              <p:nvPr>
                <p:ph type="body" idx="1"/>
              </p:nvPr>
            </p:nvSpPr>
            <p:spPr/>
            <p:txBody>
              <a:bodyPr/>
              <a:lstStyle/>
              <a:p>
                <a:r>
                  <a:rPr lang="en-US" altLang="zh-CN" sz="1200" kern="1200" dirty="0" smtClean="0">
                    <a:solidFill>
                      <a:schemeClr val="tx1"/>
                    </a:solidFill>
                    <a:effectLst/>
                    <a:latin typeface="+mn-lt"/>
                    <a:ea typeface="+mn-ea"/>
                    <a:cs typeface="+mn-cs"/>
                  </a:rPr>
                  <a:t>However, when we train an ensemble of </a:t>
                </a:r>
                <a:r>
                  <a:rPr lang="en-US" altLang="zh-CN" sz="1200" i="0" kern="1200">
                    <a:solidFill>
                      <a:schemeClr val="tx1"/>
                    </a:solidFill>
                    <a:effectLst/>
                    <a:latin typeface="+mn-lt"/>
                    <a:ea typeface="+mn-ea"/>
                    <a:cs typeface="+mn-cs"/>
                  </a:rPr>
                  <a:t>𝑁</a:t>
                </a:r>
                <a:r>
                  <a:rPr lang="en-US" altLang="zh-CN" sz="1200" kern="1200" dirty="0">
                    <a:solidFill>
                      <a:schemeClr val="tx1"/>
                    </a:solidFill>
                    <a:effectLst/>
                    <a:latin typeface="+mn-lt"/>
                    <a:ea typeface="+mn-ea"/>
                    <a:cs typeface="+mn-cs"/>
                  </a:rPr>
                  <a:t> neural networks, the time and saving cost are also N times as large. Since state of the art deep models are usually too large and hard to train, it is too hard to take use of the benefit of ensemble.</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This gives us the inspiration to study for a better way to learn neural network ensembles.</a:t>
                </a:r>
                <a:endParaRPr lang="zh-CN" altLang="zh-CN" sz="1200" kern="1200" dirty="0">
                  <a:solidFill>
                    <a:schemeClr val="tx1"/>
                  </a:solidFill>
                  <a:effectLst/>
                  <a:latin typeface="+mn-lt"/>
                  <a:ea typeface="+mn-ea"/>
                  <a:cs typeface="+mn-cs"/>
                </a:endParaRPr>
              </a:p>
              <a:p>
                <a:endParaRPr lang="zh-CN" altLang="en-US" dirty="0"/>
              </a:p>
            </p:txBody>
          </p:sp>
        </mc:Fallback>
      </mc:AlternateContent>
      <p:sp>
        <p:nvSpPr>
          <p:cNvPr id="4" name="灯片编号占位符 3"/>
          <p:cNvSpPr>
            <a:spLocks noGrp="1"/>
          </p:cNvSpPr>
          <p:nvPr>
            <p:ph type="sldNum" sz="quarter" idx="10"/>
          </p:nvPr>
        </p:nvSpPr>
        <p:spPr/>
        <p:txBody>
          <a:bodyPr/>
          <a:lstStyle/>
          <a:p>
            <a:fld id="{D84EF7DF-42E2-494E-8341-BFA4D56922B5}" type="slidenum">
              <a:rPr lang="zh-CN" altLang="en-US" smtClean="0"/>
              <a:t>6</a:t>
            </a:fld>
            <a:endParaRPr lang="zh-CN" altLang="en-US"/>
          </a:p>
        </p:txBody>
      </p:sp>
    </p:spTree>
    <p:extLst>
      <p:ext uri="{BB962C8B-B14F-4D97-AF65-F5344CB8AC3E}">
        <p14:creationId xmlns:p14="http://schemas.microsoft.com/office/powerpoint/2010/main" val="5452660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en-US" altLang="zh-CN" sz="1200" b="0" i="0" u="none" strike="noStrike" kern="1200" baseline="0" dirty="0" smtClean="0">
                    <a:solidFill>
                      <a:schemeClr val="tx1"/>
                    </a:solidFill>
                    <a:latin typeface="+mn-lt"/>
                    <a:ea typeface="+mn-ea"/>
                    <a:cs typeface="+mn-cs"/>
                  </a:rPr>
                  <a:t>In our work we also aim at learning an ensemble within a single training process, but from a different perspective, by leveraging the recent progress in Bayesian posterior sampling, namely the </a:t>
                </a:r>
                <a:r>
                  <a:rPr lang="en-US" altLang="zh-CN" sz="1200" b="0" i="1" u="none" strike="noStrike" kern="1200" baseline="0" dirty="0" smtClean="0">
                    <a:solidFill>
                      <a:schemeClr val="tx1"/>
                    </a:solidFill>
                    <a:latin typeface="+mn-lt"/>
                    <a:ea typeface="+mn-ea"/>
                    <a:cs typeface="+mn-cs"/>
                  </a:rPr>
                  <a:t>Stochastic Gradient MCMC </a:t>
                </a:r>
                <a:r>
                  <a:rPr lang="en-US" altLang="zh-CN" sz="1200" b="0" i="0" u="none" strike="noStrike" kern="1200" baseline="0" dirty="0" smtClean="0">
                    <a:solidFill>
                      <a:schemeClr val="tx1"/>
                    </a:solidFill>
                    <a:latin typeface="+mn-lt"/>
                    <a:ea typeface="+mn-ea"/>
                    <a:cs typeface="+mn-cs"/>
                  </a:rPr>
                  <a:t>(SG-MCMC) sampling. </a:t>
                </a:r>
              </a:p>
              <a:p>
                <a:r>
                  <a:rPr lang="en-US" altLang="zh-CN" sz="1200" b="0" i="0" u="none" strike="noStrike" kern="1200" baseline="0" dirty="0" smtClean="0">
                    <a:solidFill>
                      <a:schemeClr val="tx1"/>
                    </a:solidFill>
                    <a:latin typeface="+mn-lt"/>
                    <a:ea typeface="+mn-ea"/>
                    <a:cs typeface="+mn-cs"/>
                  </a:rPr>
                  <a:t>We consider </a:t>
                </a:r>
                <a:r>
                  <a:rPr lang="en-US" altLang="zh-CN" sz="1200" b="0" i="0" u="none" strike="noStrike" kern="1200" baseline="0" dirty="0" smtClean="0">
                    <a:solidFill>
                      <a:schemeClr val="tx1"/>
                    </a:solidFill>
                    <a:latin typeface="+mn-lt"/>
                    <a:ea typeface="+mn-ea"/>
                    <a:cs typeface="+mn-cs"/>
                  </a:rPr>
                  <a:t>this since </a:t>
                </a:r>
                <a:r>
                  <a:rPr lang="en-US" altLang="zh-CN" sz="1200" b="0" i="0" u="none" strike="noStrike" kern="1200" baseline="0" dirty="0" smtClean="0">
                    <a:solidFill>
                      <a:schemeClr val="tx1"/>
                    </a:solidFill>
                    <a:latin typeface="+mn-lt"/>
                    <a:ea typeface="+mn-ea"/>
                    <a:cs typeface="+mn-cs"/>
                  </a:rPr>
                  <a:t>firstly, it is theoretically interpretable under the framework of Bayesian model averaging, secondly they are proved to take good exploration of the model parameter </a:t>
                </a:r>
                <a:r>
                  <a:rPr lang="en-US" altLang="zh-CN" sz="1200" b="0" i="0" u="none" strike="noStrike" kern="1200" baseline="0" dirty="0" smtClean="0">
                    <a:solidFill>
                      <a:schemeClr val="tx1"/>
                    </a:solidFill>
                    <a:latin typeface="+mn-lt"/>
                    <a:ea typeface="+mn-ea"/>
                    <a:cs typeface="+mn-cs"/>
                  </a:rPr>
                  <a:t>space to collect large diversity models, </a:t>
                </a:r>
                <a:r>
                  <a:rPr lang="en-US" altLang="zh-CN" sz="1200" b="0" i="0" u="none" strike="noStrike" kern="1200" baseline="0" dirty="0" smtClean="0">
                    <a:solidFill>
                      <a:schemeClr val="tx1"/>
                    </a:solidFill>
                    <a:latin typeface="+mn-lt"/>
                    <a:ea typeface="+mn-ea"/>
                    <a:cs typeface="+mn-cs"/>
                  </a:rPr>
                  <a:t>and what’s more, this sampling algorithms are scalable and simple for applying to deep learning. Therefore we choose SG-MCMC as our basic method to do ensemble </a:t>
                </a:r>
                <a:r>
                  <a:rPr lang="en-US" altLang="zh-CN" sz="1200" b="0" i="0" u="none" strike="noStrike" kern="1200" baseline="0" dirty="0" smtClean="0">
                    <a:solidFill>
                      <a:schemeClr val="tx1"/>
                    </a:solidFill>
                    <a:latin typeface="+mn-lt"/>
                    <a:ea typeface="+mn-ea"/>
                    <a:cs typeface="+mn-cs"/>
                  </a:rPr>
                  <a:t>learning, and I’ll talk about the details later. </a:t>
                </a:r>
                <a:endParaRPr lang="zh-CN" altLang="en-US" dirty="0"/>
              </a:p>
            </p:txBody>
          </p:sp>
        </mc:Choice>
        <mc:Fallback xmlns="">
          <p:sp>
            <p:nvSpPr>
              <p:cNvPr id="3" name="备注占位符 2"/>
              <p:cNvSpPr>
                <a:spLocks noGrp="1"/>
              </p:cNvSpPr>
              <p:nvPr>
                <p:ph type="body" idx="1"/>
              </p:nvPr>
            </p:nvSpPr>
            <p:spPr/>
            <p:txBody>
              <a:bodyPr/>
              <a:lstStyle/>
              <a:p>
                <a:r>
                  <a:rPr lang="en-US" altLang="zh-CN" sz="1200" kern="1200" dirty="0" smtClean="0">
                    <a:solidFill>
                      <a:schemeClr val="tx1"/>
                    </a:solidFill>
                    <a:effectLst/>
                    <a:latin typeface="+mn-lt"/>
                    <a:ea typeface="+mn-ea"/>
                    <a:cs typeface="+mn-cs"/>
                  </a:rPr>
                  <a:t>However, when we train an ensemble of </a:t>
                </a:r>
                <a:r>
                  <a:rPr lang="en-US" altLang="zh-CN" sz="1200" i="0" kern="1200">
                    <a:solidFill>
                      <a:schemeClr val="tx1"/>
                    </a:solidFill>
                    <a:effectLst/>
                    <a:latin typeface="+mn-lt"/>
                    <a:ea typeface="+mn-ea"/>
                    <a:cs typeface="+mn-cs"/>
                  </a:rPr>
                  <a:t>𝑁</a:t>
                </a:r>
                <a:r>
                  <a:rPr lang="en-US" altLang="zh-CN" sz="1200" kern="1200" dirty="0">
                    <a:solidFill>
                      <a:schemeClr val="tx1"/>
                    </a:solidFill>
                    <a:effectLst/>
                    <a:latin typeface="+mn-lt"/>
                    <a:ea typeface="+mn-ea"/>
                    <a:cs typeface="+mn-cs"/>
                  </a:rPr>
                  <a:t> neural networks, the time and saving cost are also N times as large. Since state of the art deep models are usually too large and hard to train, it is too hard to take use of the benefit of ensemble.</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This gives us the inspiration to study for a better way to learn neural network ensembles.</a:t>
                </a:r>
                <a:endParaRPr lang="zh-CN" altLang="zh-CN" sz="1200" kern="1200" dirty="0">
                  <a:solidFill>
                    <a:schemeClr val="tx1"/>
                  </a:solidFill>
                  <a:effectLst/>
                  <a:latin typeface="+mn-lt"/>
                  <a:ea typeface="+mn-ea"/>
                  <a:cs typeface="+mn-cs"/>
                </a:endParaRPr>
              </a:p>
              <a:p>
                <a:endParaRPr lang="zh-CN" altLang="en-US" dirty="0"/>
              </a:p>
            </p:txBody>
          </p:sp>
        </mc:Fallback>
      </mc:AlternateContent>
      <p:sp>
        <p:nvSpPr>
          <p:cNvPr id="4" name="灯片编号占位符 3"/>
          <p:cNvSpPr>
            <a:spLocks noGrp="1"/>
          </p:cNvSpPr>
          <p:nvPr>
            <p:ph type="sldNum" sz="quarter" idx="10"/>
          </p:nvPr>
        </p:nvSpPr>
        <p:spPr/>
        <p:txBody>
          <a:bodyPr/>
          <a:lstStyle/>
          <a:p>
            <a:fld id="{D84EF7DF-42E2-494E-8341-BFA4D56922B5}" type="slidenum">
              <a:rPr lang="zh-CN" altLang="en-US" smtClean="0"/>
              <a:t>7</a:t>
            </a:fld>
            <a:endParaRPr lang="zh-CN" altLang="en-US"/>
          </a:p>
        </p:txBody>
      </p:sp>
    </p:spTree>
    <p:extLst>
      <p:ext uri="{BB962C8B-B14F-4D97-AF65-F5344CB8AC3E}">
        <p14:creationId xmlns:p14="http://schemas.microsoft.com/office/powerpoint/2010/main" val="13043938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en-US" altLang="zh-CN" dirty="0" smtClean="0"/>
                  <a:t>On the</a:t>
                </a:r>
                <a:r>
                  <a:rPr lang="en-US" altLang="zh-CN" baseline="0" dirty="0" smtClean="0"/>
                  <a:t> other hand, </a:t>
                </a:r>
                <a:r>
                  <a:rPr lang="en-US" altLang="zh-CN" baseline="0" dirty="0" smtClean="0"/>
                  <a:t>for the testing cost problem, we </a:t>
                </a:r>
                <a:r>
                  <a:rPr lang="en-US" altLang="zh-CN" baseline="0" dirty="0" smtClean="0"/>
                  <a:t>consider model compression and sparse structure </a:t>
                </a:r>
                <a:r>
                  <a:rPr lang="en-US" altLang="zh-CN" baseline="0" dirty="0" smtClean="0"/>
                  <a:t>learning. </a:t>
                </a:r>
                <a:r>
                  <a:rPr lang="en-US" altLang="zh-CN" baseline="0" dirty="0" smtClean="0"/>
                  <a:t>Song Han pointed out that the deep neural networks can be heavily pruned without losing </a:t>
                </a:r>
                <a:r>
                  <a:rPr lang="en-US" altLang="zh-CN" baseline="0" dirty="0" smtClean="0"/>
                  <a:t>prediction </a:t>
                </a:r>
                <a:r>
                  <a:rPr lang="en-US" altLang="zh-CN" baseline="0" dirty="0" smtClean="0"/>
                  <a:t>accuracy. While random pruned model with a non-structured </a:t>
                </a:r>
                <a:r>
                  <a:rPr lang="en-US" altLang="zh-CN" dirty="0" smtClean="0"/>
                  <a:t>pattern of non-zero weights are proved unfriendly</a:t>
                </a:r>
                <a:r>
                  <a:rPr lang="en-US" altLang="zh-CN" baseline="0" dirty="0" smtClean="0"/>
                  <a:t> to for speeding up </a:t>
                </a:r>
                <a:r>
                  <a:rPr lang="en-US" altLang="zh-CN" baseline="0" dirty="0" smtClean="0"/>
                  <a:t>computation as shown in this figure. </a:t>
                </a:r>
                <a:r>
                  <a:rPr lang="en-US" altLang="zh-CN" dirty="0" smtClean="0"/>
                  <a:t>So we want to learn </a:t>
                </a:r>
                <a:r>
                  <a:rPr lang="en-US" altLang="zh-CN" baseline="0" dirty="0" smtClean="0"/>
                  <a:t>sparse structured models by taking use of a specific group regularization, and together with the pruning technique, to obtain both memory and computation friendly models for the ensemble.</a:t>
                </a:r>
                <a:endParaRPr lang="zh-CN" altLang="en-US" dirty="0" smtClean="0"/>
              </a:p>
              <a:p>
                <a:endParaRPr lang="zh-CN" altLang="en-US" dirty="0"/>
              </a:p>
            </p:txBody>
          </p:sp>
        </mc:Choice>
        <mc:Fallback xmlns="">
          <p:sp>
            <p:nvSpPr>
              <p:cNvPr id="3" name="备注占位符 2"/>
              <p:cNvSpPr>
                <a:spLocks noGrp="1"/>
              </p:cNvSpPr>
              <p:nvPr>
                <p:ph type="body" idx="1"/>
              </p:nvPr>
            </p:nvSpPr>
            <p:spPr/>
            <p:txBody>
              <a:bodyPr/>
              <a:lstStyle/>
              <a:p>
                <a:r>
                  <a:rPr lang="en-US" altLang="zh-CN" sz="1200" kern="1200" dirty="0" smtClean="0">
                    <a:solidFill>
                      <a:schemeClr val="tx1"/>
                    </a:solidFill>
                    <a:effectLst/>
                    <a:latin typeface="+mn-lt"/>
                    <a:ea typeface="+mn-ea"/>
                    <a:cs typeface="+mn-cs"/>
                  </a:rPr>
                  <a:t>However, when we train an ensemble of </a:t>
                </a:r>
                <a:r>
                  <a:rPr lang="en-US" altLang="zh-CN" sz="1200" i="0" kern="1200">
                    <a:solidFill>
                      <a:schemeClr val="tx1"/>
                    </a:solidFill>
                    <a:effectLst/>
                    <a:latin typeface="+mn-lt"/>
                    <a:ea typeface="+mn-ea"/>
                    <a:cs typeface="+mn-cs"/>
                  </a:rPr>
                  <a:t>𝑁</a:t>
                </a:r>
                <a:r>
                  <a:rPr lang="en-US" altLang="zh-CN" sz="1200" kern="1200" dirty="0">
                    <a:solidFill>
                      <a:schemeClr val="tx1"/>
                    </a:solidFill>
                    <a:effectLst/>
                    <a:latin typeface="+mn-lt"/>
                    <a:ea typeface="+mn-ea"/>
                    <a:cs typeface="+mn-cs"/>
                  </a:rPr>
                  <a:t> neural networks, the time and saving cost are also N times as large. Since state of the art deep models are usually too large and hard to train, it is too hard to take use of the benefit of ensemble.</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This gives us the inspiration to study for a better way to learn neural network ensembles.</a:t>
                </a:r>
                <a:endParaRPr lang="zh-CN" altLang="zh-CN" sz="1200" kern="1200" dirty="0">
                  <a:solidFill>
                    <a:schemeClr val="tx1"/>
                  </a:solidFill>
                  <a:effectLst/>
                  <a:latin typeface="+mn-lt"/>
                  <a:ea typeface="+mn-ea"/>
                  <a:cs typeface="+mn-cs"/>
                </a:endParaRPr>
              </a:p>
              <a:p>
                <a:endParaRPr lang="zh-CN" altLang="en-US" dirty="0"/>
              </a:p>
            </p:txBody>
          </p:sp>
        </mc:Fallback>
      </mc:AlternateContent>
      <p:sp>
        <p:nvSpPr>
          <p:cNvPr id="4" name="灯片编号占位符 3"/>
          <p:cNvSpPr>
            <a:spLocks noGrp="1"/>
          </p:cNvSpPr>
          <p:nvPr>
            <p:ph type="sldNum" sz="quarter" idx="10"/>
          </p:nvPr>
        </p:nvSpPr>
        <p:spPr/>
        <p:txBody>
          <a:bodyPr/>
          <a:lstStyle/>
          <a:p>
            <a:fld id="{D84EF7DF-42E2-494E-8341-BFA4D56922B5}" type="slidenum">
              <a:rPr lang="zh-CN" altLang="en-US" smtClean="0"/>
              <a:t>8</a:t>
            </a:fld>
            <a:endParaRPr lang="zh-CN" altLang="en-US"/>
          </a:p>
        </p:txBody>
      </p:sp>
    </p:spTree>
    <p:extLst>
      <p:ext uri="{BB962C8B-B14F-4D97-AF65-F5344CB8AC3E}">
        <p14:creationId xmlns:p14="http://schemas.microsoft.com/office/powerpoint/2010/main" val="34840695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indent="0" algn="l" defTabSz="713232" rtl="0" eaLnBrk="1" fontAlgn="auto" latinLnBrk="0" hangingPunct="1">
              <a:lnSpc>
                <a:spcPct val="100000"/>
              </a:lnSpc>
              <a:spcBef>
                <a:spcPts val="0"/>
              </a:spcBef>
              <a:spcAft>
                <a:spcPts val="0"/>
              </a:spcAft>
              <a:buClrTx/>
              <a:buSzTx/>
              <a:buFontTx/>
              <a:buNone/>
              <a:tabLst/>
              <a:defRPr/>
            </a:pPr>
            <a:r>
              <a:rPr lang="en-US" altLang="zh-CN" sz="1200" kern="1200" dirty="0" smtClean="0">
                <a:solidFill>
                  <a:schemeClr val="tx1"/>
                </a:solidFill>
                <a:effectLst/>
                <a:latin typeface="+mn-lt"/>
                <a:ea typeface="+mn-ea"/>
                <a:cs typeface="+mn-cs"/>
              </a:rPr>
              <a:t>So our work</a:t>
            </a:r>
            <a:r>
              <a:rPr lang="en-US" altLang="zh-CN" sz="1200" kern="1200" baseline="0" dirty="0" smtClean="0">
                <a:solidFill>
                  <a:schemeClr val="tx1"/>
                </a:solidFill>
                <a:effectLst/>
                <a:latin typeface="+mn-lt"/>
                <a:ea typeface="+mn-ea"/>
                <a:cs typeface="+mn-cs"/>
              </a:rPr>
              <a:t> is to put this things work together. </a:t>
            </a:r>
            <a:r>
              <a:rPr lang="en-US" altLang="zh-CN" sz="1200" kern="1200" dirty="0" smtClean="0">
                <a:solidFill>
                  <a:schemeClr val="tx1"/>
                </a:solidFill>
                <a:effectLst/>
                <a:latin typeface="+mn-lt"/>
                <a:ea typeface="+mn-ea"/>
                <a:cs typeface="+mn-cs"/>
              </a:rPr>
              <a:t>This </a:t>
            </a:r>
            <a:r>
              <a:rPr lang="en-US" altLang="zh-CN" sz="1200" kern="1200" dirty="0" smtClean="0">
                <a:solidFill>
                  <a:schemeClr val="tx1"/>
                </a:solidFill>
                <a:effectLst/>
                <a:latin typeface="+mn-lt"/>
                <a:ea typeface="+mn-ea"/>
                <a:cs typeface="+mn-cs"/>
              </a:rPr>
              <a:t>figure is a high level overview of our two-stage</a:t>
            </a:r>
            <a:r>
              <a:rPr lang="en-US" altLang="zh-CN" sz="1200" kern="1200" baseline="0" dirty="0" smtClean="0">
                <a:solidFill>
                  <a:schemeClr val="tx1"/>
                </a:solidFill>
                <a:effectLst/>
                <a:latin typeface="+mn-lt"/>
                <a:ea typeface="+mn-ea"/>
                <a:cs typeface="+mn-cs"/>
              </a:rPr>
              <a:t> method</a:t>
            </a:r>
            <a:r>
              <a:rPr lang="en-US" altLang="zh-CN" sz="1200" kern="1200" dirty="0" smtClean="0">
                <a:solidFill>
                  <a:schemeClr val="tx1"/>
                </a:solidFill>
                <a:effectLst/>
                <a:latin typeface="+mn-lt"/>
                <a:ea typeface="+mn-ea"/>
                <a:cs typeface="+mn-cs"/>
              </a:rPr>
              <a:t>, at first we sample models by SG-MCMC with group sparse prior, to obtain potentially sparse structured models. Then we prune them to get the real sparsity</a:t>
            </a:r>
            <a:r>
              <a:rPr lang="en-US" altLang="zh-CN" sz="1200" kern="1200" baseline="0" dirty="0" smtClean="0">
                <a:solidFill>
                  <a:schemeClr val="tx1"/>
                </a:solidFill>
                <a:effectLst/>
                <a:latin typeface="+mn-lt"/>
                <a:ea typeface="+mn-ea"/>
                <a:cs typeface="+mn-cs"/>
              </a:rPr>
              <a:t> and retrain each model to maintain the accuracy. Finally for testing,</a:t>
            </a:r>
            <a:r>
              <a:rPr lang="en-US" altLang="zh-CN" sz="1200" kern="1200" dirty="0" smtClean="0">
                <a:solidFill>
                  <a:schemeClr val="tx1"/>
                </a:solidFill>
                <a:effectLst/>
                <a:latin typeface="+mn-lt"/>
                <a:ea typeface="+mn-ea"/>
                <a:cs typeface="+mn-cs"/>
              </a:rPr>
              <a:t> we can just do average of all</a:t>
            </a:r>
            <a:r>
              <a:rPr lang="en-US" altLang="zh-CN" sz="1200" kern="1200" baseline="0" dirty="0" smtClean="0">
                <a:solidFill>
                  <a:schemeClr val="tx1"/>
                </a:solidFill>
                <a:effectLst/>
                <a:latin typeface="+mn-lt"/>
                <a:ea typeface="+mn-ea"/>
                <a:cs typeface="+mn-cs"/>
              </a:rPr>
              <a:t> the</a:t>
            </a:r>
            <a:r>
              <a:rPr lang="en-US" altLang="zh-CN" sz="1200" kern="1200" dirty="0" smtClean="0">
                <a:solidFill>
                  <a:schemeClr val="tx1"/>
                </a:solidFill>
                <a:effectLst/>
                <a:latin typeface="+mn-lt"/>
                <a:ea typeface="+mn-ea"/>
                <a:cs typeface="+mn-cs"/>
              </a:rPr>
              <a:t> network predictions from the ensemble.</a:t>
            </a:r>
            <a:endParaRPr lang="zh-CN" altLang="zh-CN" sz="1200" kern="1200" dirty="0" smtClean="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D84EF7DF-42E2-494E-8341-BFA4D56922B5}" type="slidenum">
              <a:rPr lang="zh-CN" altLang="en-US" smtClean="0"/>
              <a:t>9</a:t>
            </a:fld>
            <a:endParaRPr lang="zh-CN" altLang="en-US"/>
          </a:p>
        </p:txBody>
      </p:sp>
    </p:spTree>
    <p:extLst>
      <p:ext uri="{BB962C8B-B14F-4D97-AF65-F5344CB8AC3E}">
        <p14:creationId xmlns:p14="http://schemas.microsoft.com/office/powerpoint/2010/main" val="15632478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smtClean="0">
                <a:solidFill>
                  <a:schemeClr val="tx1"/>
                </a:solidFill>
                <a:effectLst/>
                <a:latin typeface="+mn-lt"/>
                <a:ea typeface="+mn-ea"/>
                <a:cs typeface="+mn-cs"/>
              </a:rPr>
              <a:t>Ok and now we’ll go for some </a:t>
            </a:r>
            <a:r>
              <a:rPr lang="en-US" altLang="zh-CN" sz="1200" kern="1200" baseline="0" dirty="0" smtClean="0">
                <a:solidFill>
                  <a:schemeClr val="tx1"/>
                </a:solidFill>
                <a:effectLst/>
                <a:latin typeface="+mn-lt"/>
                <a:ea typeface="+mn-ea"/>
                <a:cs typeface="+mn-cs"/>
              </a:rPr>
              <a:t>details. The framework of Bayesian neural network is to</a:t>
            </a:r>
            <a:r>
              <a:rPr lang="en-US" altLang="zh-CN" sz="1200" kern="1200" dirty="0" smtClean="0">
                <a:solidFill>
                  <a:schemeClr val="tx1"/>
                </a:solidFill>
                <a:effectLst/>
                <a:latin typeface="+mn-lt"/>
                <a:ea typeface="+mn-ea"/>
                <a:cs typeface="+mn-cs"/>
              </a:rPr>
              <a:t> sample network weights from the posterior parameter space and do average of the</a:t>
            </a:r>
            <a:r>
              <a:rPr lang="en-US" altLang="zh-CN" sz="1200" kern="1200" baseline="0" dirty="0" smtClean="0">
                <a:solidFill>
                  <a:schemeClr val="tx1"/>
                </a:solidFill>
                <a:effectLst/>
                <a:latin typeface="+mn-lt"/>
                <a:ea typeface="+mn-ea"/>
                <a:cs typeface="+mn-cs"/>
              </a:rPr>
              <a:t> sampled networks. Since neural network has hundreds of millions parameters, we need SG-MCMC algorithms to do efficiently sampling in the high dimensional parameter space</a:t>
            </a:r>
            <a:r>
              <a:rPr lang="en-US" altLang="zh-CN" sz="1200" kern="1200" dirty="0" smtClean="0">
                <a:solidFill>
                  <a:schemeClr val="tx1"/>
                </a:solidFill>
                <a:effectLst/>
                <a:latin typeface="+mn-lt"/>
                <a:ea typeface="+mn-ea"/>
                <a:cs typeface="+mn-cs"/>
              </a:rPr>
              <a:t>. And they</a:t>
            </a:r>
            <a:r>
              <a:rPr lang="en-US" altLang="zh-CN" sz="1200" kern="1200" baseline="0" dirty="0" smtClean="0">
                <a:solidFill>
                  <a:schemeClr val="tx1"/>
                </a:solidFill>
                <a:effectLst/>
                <a:latin typeface="+mn-lt"/>
                <a:ea typeface="+mn-ea"/>
                <a:cs typeface="+mn-cs"/>
              </a:rPr>
              <a:t> are easy to use, we </a:t>
            </a:r>
            <a:r>
              <a:rPr lang="en-US" altLang="zh-CN" sz="1200" kern="1200" dirty="0" smtClean="0">
                <a:solidFill>
                  <a:schemeClr val="tx1"/>
                </a:solidFill>
                <a:effectLst/>
                <a:latin typeface="+mn-lt"/>
                <a:ea typeface="+mn-ea"/>
                <a:cs typeface="+mn-cs"/>
              </a:rPr>
              <a:t>can see that the simplest SG-MCMC algorithm is</a:t>
            </a:r>
            <a:r>
              <a:rPr lang="en-US" altLang="zh-CN" sz="1200" kern="1200" baseline="0" dirty="0" smtClean="0">
                <a:solidFill>
                  <a:schemeClr val="tx1"/>
                </a:solidFill>
                <a:effectLst/>
                <a:latin typeface="+mn-lt"/>
                <a:ea typeface="+mn-ea"/>
                <a:cs typeface="+mn-cs"/>
              </a:rPr>
              <a:t> as simple as running a noisy SGD with Gaussian n</a:t>
            </a:r>
            <a:r>
              <a:rPr lang="en-US" altLang="zh-CN" sz="1200" kern="1200" dirty="0" smtClean="0">
                <a:solidFill>
                  <a:schemeClr val="tx1"/>
                </a:solidFill>
                <a:effectLst/>
                <a:latin typeface="+mn-lt"/>
                <a:ea typeface="+mn-ea"/>
                <a:cs typeface="+mn-cs"/>
              </a:rPr>
              <a:t>oise. </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smtClean="0">
                <a:solidFill>
                  <a:schemeClr val="tx1"/>
                </a:solidFill>
                <a:effectLst/>
                <a:latin typeface="+mn-lt"/>
                <a:ea typeface="+mn-ea"/>
                <a:cs typeface="+mn-cs"/>
              </a:rPr>
              <a:t>And the principle</a:t>
            </a:r>
            <a:r>
              <a:rPr lang="en-US" altLang="zh-CN" sz="1200" kern="1200" baseline="0" dirty="0" smtClean="0">
                <a:solidFill>
                  <a:schemeClr val="tx1"/>
                </a:solidFill>
                <a:effectLst/>
                <a:latin typeface="+mn-lt"/>
                <a:ea typeface="+mn-ea"/>
                <a:cs typeface="+mn-cs"/>
              </a:rPr>
              <a:t> is, w</a:t>
            </a:r>
            <a:r>
              <a:rPr lang="en-US" altLang="zh-CN" sz="1200" kern="1200" dirty="0" smtClean="0">
                <a:solidFill>
                  <a:schemeClr val="tx1"/>
                </a:solidFill>
                <a:effectLst/>
                <a:latin typeface="+mn-lt"/>
                <a:ea typeface="+mn-ea"/>
                <a:cs typeface="+mn-cs"/>
              </a:rPr>
              <a:t>hile </a:t>
            </a:r>
            <a:r>
              <a:rPr lang="en-US" altLang="zh-CN" sz="1200" kern="1200" baseline="0" dirty="0" smtClean="0">
                <a:solidFill>
                  <a:schemeClr val="tx1"/>
                </a:solidFill>
                <a:effectLst/>
                <a:latin typeface="+mn-lt"/>
                <a:ea typeface="+mn-ea"/>
                <a:cs typeface="+mn-cs"/>
              </a:rPr>
              <a:t>the parameters are optimized follow the stochastic gradient, </a:t>
            </a:r>
            <a:r>
              <a:rPr lang="en-US" altLang="zh-CN" sz="1200" kern="1200" dirty="0" smtClean="0">
                <a:solidFill>
                  <a:schemeClr val="tx1"/>
                </a:solidFill>
                <a:effectLst/>
                <a:latin typeface="+mn-lt"/>
                <a:ea typeface="+mn-ea"/>
                <a:cs typeface="+mn-cs"/>
              </a:rPr>
              <a:t>the</a:t>
            </a:r>
            <a:r>
              <a:rPr lang="en-US" altLang="zh-CN" sz="1200" kern="1200" baseline="0" dirty="0" smtClean="0">
                <a:solidFill>
                  <a:schemeClr val="tx1"/>
                </a:solidFill>
                <a:effectLst/>
                <a:latin typeface="+mn-lt"/>
                <a:ea typeface="+mn-ea"/>
                <a:cs typeface="+mn-cs"/>
              </a:rPr>
              <a:t> extra </a:t>
            </a:r>
            <a:r>
              <a:rPr lang="en-US" altLang="zh-CN" sz="1200" kern="1200" dirty="0" smtClean="0">
                <a:solidFill>
                  <a:schemeClr val="tx1"/>
                </a:solidFill>
                <a:effectLst/>
                <a:latin typeface="+mn-lt"/>
                <a:ea typeface="+mn-ea"/>
                <a:cs typeface="+mn-cs"/>
              </a:rPr>
              <a:t>noise can take</a:t>
            </a:r>
            <a:r>
              <a:rPr lang="en-US" altLang="zh-CN" sz="1200" kern="1200" baseline="0" dirty="0" smtClean="0">
                <a:solidFill>
                  <a:schemeClr val="tx1"/>
                </a:solidFill>
                <a:effectLst/>
                <a:latin typeface="+mn-lt"/>
                <a:ea typeface="+mn-ea"/>
                <a:cs typeface="+mn-cs"/>
              </a:rPr>
              <a:t> the effect, to </a:t>
            </a:r>
            <a:r>
              <a:rPr lang="en-US" altLang="zh-CN" sz="1200" kern="1200" dirty="0" smtClean="0">
                <a:solidFill>
                  <a:schemeClr val="tx1"/>
                </a:solidFill>
                <a:effectLst/>
                <a:latin typeface="+mn-lt"/>
                <a:ea typeface="+mn-ea"/>
                <a:cs typeface="+mn-cs"/>
              </a:rPr>
              <a:t>force</a:t>
            </a:r>
            <a:r>
              <a:rPr lang="en-US" altLang="zh-CN" sz="1200" kern="1200" baseline="0" dirty="0" smtClean="0">
                <a:solidFill>
                  <a:schemeClr val="tx1"/>
                </a:solidFill>
                <a:effectLst/>
                <a:latin typeface="+mn-lt"/>
                <a:ea typeface="+mn-ea"/>
                <a:cs typeface="+mn-cs"/>
              </a:rPr>
              <a:t> the algorithm to do more efficiently </a:t>
            </a:r>
            <a:r>
              <a:rPr lang="en-US" altLang="zh-CN" sz="1200" kern="1200" dirty="0" smtClean="0">
                <a:solidFill>
                  <a:schemeClr val="tx1"/>
                </a:solidFill>
                <a:effectLst/>
                <a:latin typeface="+mn-lt"/>
                <a:ea typeface="+mn-ea"/>
                <a:cs typeface="+mn-cs"/>
              </a:rPr>
              <a:t>explorations</a:t>
            </a:r>
            <a:r>
              <a:rPr lang="en-US" altLang="zh-CN" sz="1200" kern="1200" baseline="0" dirty="0" smtClean="0">
                <a:solidFill>
                  <a:schemeClr val="tx1"/>
                </a:solidFill>
                <a:effectLst/>
                <a:latin typeface="+mn-lt"/>
                <a:ea typeface="+mn-ea"/>
                <a:cs typeface="+mn-cs"/>
              </a:rPr>
              <a:t> over</a:t>
            </a:r>
            <a:r>
              <a:rPr lang="en-US" altLang="zh-CN" sz="1200" kern="1200" dirty="0" smtClean="0">
                <a:solidFill>
                  <a:schemeClr val="tx1"/>
                </a:solidFill>
                <a:effectLst/>
                <a:latin typeface="+mn-lt"/>
                <a:ea typeface="+mn-ea"/>
                <a:cs typeface="+mn-cs"/>
              </a:rPr>
              <a:t> the model</a:t>
            </a:r>
            <a:r>
              <a:rPr lang="en-US" altLang="zh-CN" sz="1200" kern="1200" baseline="0" dirty="0" smtClean="0">
                <a:solidFill>
                  <a:schemeClr val="tx1"/>
                </a:solidFill>
                <a:effectLst/>
                <a:latin typeface="+mn-lt"/>
                <a:ea typeface="+mn-ea"/>
                <a:cs typeface="+mn-cs"/>
              </a:rPr>
              <a:t> </a:t>
            </a:r>
            <a:r>
              <a:rPr lang="en-US" altLang="zh-CN" sz="1200" kern="1200" dirty="0" smtClean="0">
                <a:solidFill>
                  <a:schemeClr val="tx1"/>
                </a:solidFill>
                <a:effectLst/>
                <a:latin typeface="+mn-lt"/>
                <a:ea typeface="+mn-ea"/>
                <a:cs typeface="+mn-cs"/>
              </a:rPr>
              <a:t>parameter space, it is easier to collect large diversity models. This is exactly </a:t>
            </a:r>
            <a:r>
              <a:rPr lang="en-US" altLang="zh-CN" sz="1200" kern="1200" baseline="0" dirty="0" smtClean="0">
                <a:solidFill>
                  <a:schemeClr val="tx1"/>
                </a:solidFill>
                <a:effectLst/>
                <a:latin typeface="+mn-lt"/>
                <a:ea typeface="+mn-ea"/>
                <a:cs typeface="+mn-cs"/>
              </a:rPr>
              <a:t>we need for a good ensemble</a:t>
            </a:r>
            <a:r>
              <a:rPr lang="en-US" altLang="zh-CN" sz="1200" kern="1200" dirty="0" smtClean="0">
                <a:solidFill>
                  <a:schemeClr val="tx1"/>
                </a:solidFill>
                <a:effectLst/>
                <a:latin typeface="+mn-lt"/>
                <a:ea typeface="+mn-ea"/>
                <a:cs typeface="+mn-cs"/>
              </a:rPr>
              <a:t>.</a:t>
            </a:r>
            <a:r>
              <a:rPr lang="en-US" altLang="zh-CN" sz="1200" kern="1200" baseline="0" dirty="0" smtClean="0">
                <a:solidFill>
                  <a:schemeClr val="tx1"/>
                </a:solidFill>
                <a:effectLst/>
                <a:latin typeface="+mn-lt"/>
                <a:ea typeface="+mn-ea"/>
                <a:cs typeface="+mn-cs"/>
              </a:rPr>
              <a:t> </a:t>
            </a:r>
            <a:endParaRPr lang="zh-CN" altLang="zh-CN" sz="1200" kern="1200" dirty="0" smtClean="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D84EF7DF-42E2-494E-8341-BFA4D56922B5}" type="slidenum">
              <a:rPr lang="zh-CN" altLang="en-US" smtClean="0"/>
              <a:t>10</a:t>
            </a:fld>
            <a:endParaRPr lang="zh-CN" altLang="en-US"/>
          </a:p>
        </p:txBody>
      </p:sp>
    </p:spTree>
    <p:extLst>
      <p:ext uri="{BB962C8B-B14F-4D97-AF65-F5344CB8AC3E}">
        <p14:creationId xmlns:p14="http://schemas.microsoft.com/office/powerpoint/2010/main" val="3564702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smtClean="0">
                <a:solidFill>
                  <a:schemeClr val="tx1"/>
                </a:solidFill>
                <a:effectLst/>
                <a:latin typeface="+mn-lt"/>
                <a:ea typeface="+mn-ea"/>
                <a:cs typeface="+mn-cs"/>
              </a:rPr>
              <a:t>And, as mentioned before,</a:t>
            </a:r>
            <a:r>
              <a:rPr lang="en-US" altLang="zh-CN" sz="1200" kern="1200" baseline="0" dirty="0" smtClean="0">
                <a:solidFill>
                  <a:schemeClr val="tx1"/>
                </a:solidFill>
                <a:effectLst/>
                <a:latin typeface="+mn-lt"/>
                <a:ea typeface="+mn-ea"/>
                <a:cs typeface="+mn-cs"/>
              </a:rPr>
              <a:t> we want our model to be structured </a:t>
            </a:r>
            <a:r>
              <a:rPr lang="en-US" altLang="zh-CN" sz="1200" kern="1200" baseline="0" dirty="0" smtClean="0">
                <a:solidFill>
                  <a:schemeClr val="tx1"/>
                </a:solidFill>
                <a:effectLst/>
                <a:latin typeface="+mn-lt"/>
                <a:ea typeface="+mn-ea"/>
                <a:cs typeface="+mn-cs"/>
              </a:rPr>
              <a:t>sparse. Look </a:t>
            </a:r>
            <a:r>
              <a:rPr lang="en-US" altLang="zh-CN" sz="1200" kern="1200" baseline="0" dirty="0" smtClean="0">
                <a:solidFill>
                  <a:schemeClr val="tx1"/>
                </a:solidFill>
                <a:effectLst/>
                <a:latin typeface="+mn-lt"/>
                <a:ea typeface="+mn-ea"/>
                <a:cs typeface="+mn-cs"/>
              </a:rPr>
              <a:t>at this </a:t>
            </a:r>
            <a:r>
              <a:rPr lang="en-US" altLang="zh-CN" sz="1200" kern="1200" dirty="0" smtClean="0">
                <a:solidFill>
                  <a:schemeClr val="tx1"/>
                </a:solidFill>
                <a:effectLst/>
                <a:latin typeface="+mn-lt"/>
                <a:ea typeface="+mn-ea"/>
                <a:cs typeface="+mn-cs"/>
              </a:rPr>
              <a:t>fully-connected </a:t>
            </a:r>
            <a:r>
              <a:rPr lang="en-US" altLang="zh-CN" sz="1200" kern="1200" dirty="0" smtClean="0">
                <a:solidFill>
                  <a:schemeClr val="tx1"/>
                </a:solidFill>
                <a:effectLst/>
                <a:latin typeface="+mn-lt"/>
                <a:ea typeface="+mn-ea"/>
                <a:cs typeface="+mn-cs"/>
              </a:rPr>
              <a:t>network. </a:t>
            </a:r>
            <a:r>
              <a:rPr lang="en-US" altLang="zh-CN" sz="1200" kern="1200" dirty="0" smtClean="0">
                <a:solidFill>
                  <a:schemeClr val="tx1"/>
                </a:solidFill>
                <a:effectLst/>
                <a:latin typeface="+mn-lt"/>
                <a:ea typeface="+mn-ea"/>
                <a:cs typeface="+mn-cs"/>
              </a:rPr>
              <a:t>When we prune the small weights,</a:t>
            </a:r>
            <a:r>
              <a:rPr lang="en-US" altLang="zh-CN" sz="1200" kern="1200" baseline="0" dirty="0" smtClean="0">
                <a:solidFill>
                  <a:schemeClr val="tx1"/>
                </a:solidFill>
                <a:effectLst/>
                <a:latin typeface="+mn-lt"/>
                <a:ea typeface="+mn-ea"/>
                <a:cs typeface="+mn-cs"/>
              </a:rPr>
              <a:t> the results of random sparsity is like the left figure</a:t>
            </a:r>
            <a:r>
              <a:rPr lang="en-US" altLang="zh-CN" sz="1200" kern="1200" baseline="0" dirty="0" smtClean="0">
                <a:solidFill>
                  <a:schemeClr val="tx1"/>
                </a:solidFill>
                <a:effectLst/>
                <a:latin typeface="+mn-lt"/>
                <a:ea typeface="+mn-ea"/>
                <a:cs typeface="+mn-cs"/>
              </a:rPr>
              <a:t>.. And the weight matrix is a messy.</a:t>
            </a:r>
            <a:endParaRPr lang="en-US" altLang="zh-CN" sz="1200" kern="1200" baseline="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200" baseline="0" dirty="0" smtClean="0">
                <a:solidFill>
                  <a:schemeClr val="tx1"/>
                </a:solidFill>
                <a:effectLst/>
                <a:latin typeface="+mn-lt"/>
                <a:ea typeface="+mn-ea"/>
                <a:cs typeface="+mn-cs"/>
              </a:rPr>
              <a:t>However, when we group the outgoing weights together for a neuron, </a:t>
            </a:r>
            <a:r>
              <a:rPr lang="en-US" altLang="zh-CN" sz="1200" kern="1200" baseline="0" dirty="0" smtClean="0">
                <a:solidFill>
                  <a:schemeClr val="tx1"/>
                </a:solidFill>
                <a:effectLst/>
                <a:latin typeface="+mn-lt"/>
                <a:ea typeface="+mn-ea"/>
                <a:cs typeface="+mn-cs"/>
              </a:rPr>
              <a:t>and remove all the weights </a:t>
            </a:r>
            <a:r>
              <a:rPr lang="en-US" altLang="zh-CN" sz="1200" kern="1200" baseline="0" dirty="0" smtClean="0">
                <a:solidFill>
                  <a:schemeClr val="tx1"/>
                </a:solidFill>
                <a:effectLst/>
                <a:latin typeface="+mn-lt"/>
                <a:ea typeface="+mn-ea"/>
                <a:cs typeface="+mn-cs"/>
              </a:rPr>
              <a:t>at the same </a:t>
            </a:r>
            <a:r>
              <a:rPr lang="en-US" altLang="zh-CN" sz="1200" kern="1200" baseline="0" dirty="0" smtClean="0">
                <a:solidFill>
                  <a:schemeClr val="tx1"/>
                </a:solidFill>
                <a:effectLst/>
                <a:latin typeface="+mn-lt"/>
                <a:ea typeface="+mn-ea"/>
                <a:cs typeface="+mn-cs"/>
              </a:rPr>
              <a:t>time, it is equivalent to remove a row in the weight matrix. It </a:t>
            </a:r>
            <a:r>
              <a:rPr lang="en-US" altLang="zh-CN" sz="1200" kern="1200" baseline="0" dirty="0" smtClean="0">
                <a:solidFill>
                  <a:schemeClr val="tx1"/>
                </a:solidFill>
                <a:effectLst/>
                <a:latin typeface="+mn-lt"/>
                <a:ea typeface="+mn-ea"/>
                <a:cs typeface="+mn-cs"/>
              </a:rPr>
              <a:t>is trivial that this kind of matrix size reduction </a:t>
            </a:r>
            <a:r>
              <a:rPr lang="en-US" altLang="zh-CN" sz="1200" kern="1200" dirty="0" smtClean="0">
                <a:solidFill>
                  <a:schemeClr val="tx1"/>
                </a:solidFill>
                <a:effectLst/>
                <a:latin typeface="+mn-lt"/>
                <a:ea typeface="+mn-ea"/>
                <a:cs typeface="+mn-cs"/>
              </a:rPr>
              <a:t>can enjoy more speed up when taking matrix </a:t>
            </a:r>
            <a:r>
              <a:rPr lang="en-US" altLang="zh-CN" sz="1200" dirty="0" smtClean="0"/>
              <a:t>multiplications.</a:t>
            </a:r>
            <a:endParaRPr lang="zh-CN" altLang="zh-CN" sz="1200" kern="1200" dirty="0" smtClean="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D84EF7DF-42E2-494E-8341-BFA4D56922B5}" type="slidenum">
              <a:rPr lang="zh-CN" altLang="en-US" smtClean="0"/>
              <a:t>11</a:t>
            </a:fld>
            <a:endParaRPr lang="zh-CN" altLang="en-US"/>
          </a:p>
        </p:txBody>
      </p:sp>
    </p:spTree>
    <p:extLst>
      <p:ext uri="{BB962C8B-B14F-4D97-AF65-F5344CB8AC3E}">
        <p14:creationId xmlns:p14="http://schemas.microsoft.com/office/powerpoint/2010/main" val="13449398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smtClean="0">
                <a:solidFill>
                  <a:schemeClr val="tx1"/>
                </a:solidFill>
                <a:effectLst/>
                <a:latin typeface="+mn-lt"/>
                <a:ea typeface="+mn-ea"/>
                <a:cs typeface="+mn-cs"/>
              </a:rPr>
              <a:t>We also try to prune the more complex recurrent neural network, the LSTM model. For LSTM, a neuron in the hidden state is connected in several different ways, </a:t>
            </a:r>
            <a:r>
              <a:rPr lang="en-US" altLang="zh-CN" sz="1200" kern="1200" dirty="0" smtClean="0">
                <a:solidFill>
                  <a:schemeClr val="tx1"/>
                </a:solidFill>
                <a:effectLst/>
                <a:latin typeface="+mn-lt"/>
                <a:ea typeface="+mn-ea"/>
                <a:cs typeface="+mn-cs"/>
              </a:rPr>
              <a:t>as shown</a:t>
            </a:r>
            <a:r>
              <a:rPr lang="en-US" altLang="zh-CN" sz="1200" kern="1200" baseline="0" dirty="0" smtClean="0">
                <a:solidFill>
                  <a:schemeClr val="tx1"/>
                </a:solidFill>
                <a:effectLst/>
                <a:latin typeface="+mn-lt"/>
                <a:ea typeface="+mn-ea"/>
                <a:cs typeface="+mn-cs"/>
              </a:rPr>
              <a:t> in the figure, all the write rows and columns are weights associated with a hidden unit, </a:t>
            </a:r>
            <a:r>
              <a:rPr lang="en-US" altLang="zh-CN" sz="1200" kern="1200" dirty="0" smtClean="0">
                <a:solidFill>
                  <a:schemeClr val="tx1"/>
                </a:solidFill>
                <a:effectLst/>
                <a:latin typeface="+mn-lt"/>
                <a:ea typeface="+mn-ea"/>
                <a:cs typeface="+mn-cs"/>
              </a:rPr>
              <a:t>group </a:t>
            </a:r>
            <a:r>
              <a:rPr lang="en-US" altLang="zh-CN" sz="1200" kern="1200" dirty="0" smtClean="0">
                <a:solidFill>
                  <a:schemeClr val="tx1"/>
                </a:solidFill>
                <a:effectLst/>
                <a:latin typeface="+mn-lt"/>
                <a:ea typeface="+mn-ea"/>
                <a:cs typeface="+mn-cs"/>
              </a:rPr>
              <a:t>them altogether and </a:t>
            </a:r>
            <a:r>
              <a:rPr lang="en-US" altLang="zh-CN" sz="1200" kern="1200" dirty="0" smtClean="0">
                <a:solidFill>
                  <a:schemeClr val="tx1"/>
                </a:solidFill>
                <a:effectLst/>
                <a:latin typeface="+mn-lt"/>
                <a:ea typeface="+mn-ea"/>
                <a:cs typeface="+mn-cs"/>
              </a:rPr>
              <a:t>prune</a:t>
            </a:r>
            <a:r>
              <a:rPr lang="en-US" altLang="zh-CN" sz="1200" kern="1200" baseline="0" dirty="0" smtClean="0">
                <a:solidFill>
                  <a:schemeClr val="tx1"/>
                </a:solidFill>
                <a:effectLst/>
                <a:latin typeface="+mn-lt"/>
                <a:ea typeface="+mn-ea"/>
                <a:cs typeface="+mn-cs"/>
              </a:rPr>
              <a:t> at the same time, the hidden unit can be removed thus we can reduce the dimension of hidden state.</a:t>
            </a:r>
            <a:endParaRPr lang="zh-CN" altLang="en-US" dirty="0"/>
          </a:p>
        </p:txBody>
      </p:sp>
      <p:sp>
        <p:nvSpPr>
          <p:cNvPr id="4" name="灯片编号占位符 3"/>
          <p:cNvSpPr>
            <a:spLocks noGrp="1"/>
          </p:cNvSpPr>
          <p:nvPr>
            <p:ph type="sldNum" sz="quarter" idx="10"/>
          </p:nvPr>
        </p:nvSpPr>
        <p:spPr/>
        <p:txBody>
          <a:bodyPr/>
          <a:lstStyle/>
          <a:p>
            <a:fld id="{D84EF7DF-42E2-494E-8341-BFA4D56922B5}" type="slidenum">
              <a:rPr lang="zh-CN" altLang="en-US" smtClean="0"/>
              <a:t>12</a:t>
            </a:fld>
            <a:endParaRPr lang="zh-CN" altLang="en-US"/>
          </a:p>
        </p:txBody>
      </p:sp>
    </p:spTree>
    <p:extLst>
      <p:ext uri="{BB962C8B-B14F-4D97-AF65-F5344CB8AC3E}">
        <p14:creationId xmlns:p14="http://schemas.microsoft.com/office/powerpoint/2010/main" val="25041869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000" kern="1200" dirty="0" smtClean="0">
                <a:solidFill>
                  <a:schemeClr val="tx1"/>
                </a:solidFill>
                <a:effectLst/>
                <a:latin typeface="+mn-lt"/>
                <a:ea typeface="+mn-ea"/>
                <a:cs typeface="+mn-cs"/>
              </a:rPr>
              <a:t>And this figure is a real weight matrix pattern we obtained, the yellow area are all zero weights, we can see that the weights grouped together are successfully </a:t>
            </a:r>
            <a:r>
              <a:rPr lang="en-US" altLang="zh-CN" sz="1000" kern="1200" dirty="0" smtClean="0">
                <a:solidFill>
                  <a:schemeClr val="tx1"/>
                </a:solidFill>
                <a:effectLst/>
                <a:latin typeface="+mn-lt"/>
                <a:ea typeface="+mn-ea"/>
                <a:cs typeface="+mn-cs"/>
              </a:rPr>
              <a:t>moved out</a:t>
            </a:r>
            <a:r>
              <a:rPr lang="en-US" altLang="zh-CN" sz="1000" kern="1200" baseline="0" dirty="0" smtClean="0">
                <a:solidFill>
                  <a:schemeClr val="tx1"/>
                </a:solidFill>
                <a:effectLst/>
                <a:latin typeface="+mn-lt"/>
                <a:ea typeface="+mn-ea"/>
                <a:cs typeface="+mn-cs"/>
              </a:rPr>
              <a:t> to be structured sparse. The pruned </a:t>
            </a:r>
            <a:r>
              <a:rPr lang="en-US" altLang="zh-CN" sz="1000" kern="1200" baseline="0" dirty="0" smtClean="0">
                <a:solidFill>
                  <a:schemeClr val="tx1"/>
                </a:solidFill>
                <a:effectLst/>
                <a:latin typeface="+mn-lt"/>
                <a:ea typeface="+mn-ea"/>
                <a:cs typeface="+mn-cs"/>
              </a:rPr>
              <a:t>models </a:t>
            </a:r>
            <a:r>
              <a:rPr lang="en-US" altLang="zh-CN" sz="1000" kern="1200" baseline="0" dirty="0" smtClean="0">
                <a:solidFill>
                  <a:schemeClr val="tx1"/>
                </a:solidFill>
                <a:effectLst/>
                <a:latin typeface="+mn-lt"/>
                <a:ea typeface="+mn-ea"/>
                <a:cs typeface="+mn-cs"/>
              </a:rPr>
              <a:t>we obtained </a:t>
            </a:r>
            <a:r>
              <a:rPr lang="en-US" altLang="zh-CN" sz="1000" kern="1200" baseline="0" dirty="0" smtClean="0">
                <a:solidFill>
                  <a:schemeClr val="tx1"/>
                </a:solidFill>
                <a:effectLst/>
                <a:latin typeface="+mn-lt"/>
                <a:ea typeface="+mn-ea"/>
                <a:cs typeface="+mn-cs"/>
              </a:rPr>
              <a:t>has only </a:t>
            </a:r>
            <a:r>
              <a:rPr lang="en-US" altLang="zh-CN" sz="1000" kern="1200" dirty="0" smtClean="0">
                <a:solidFill>
                  <a:schemeClr val="tx1"/>
                </a:solidFill>
                <a:effectLst/>
                <a:latin typeface="+mn-lt"/>
                <a:ea typeface="+mn-ea"/>
                <a:cs typeface="+mn-cs"/>
              </a:rPr>
              <a:t>18% parameters and </a:t>
            </a:r>
            <a:r>
              <a:rPr lang="en-US" altLang="zh-CN" sz="1000" kern="1200" dirty="0" smtClean="0">
                <a:solidFill>
                  <a:schemeClr val="tx1"/>
                </a:solidFill>
                <a:effectLst/>
                <a:latin typeface="+mn-lt"/>
                <a:ea typeface="+mn-ea"/>
                <a:cs typeface="+mn-cs"/>
              </a:rPr>
              <a:t>FLOPs.</a:t>
            </a:r>
            <a:r>
              <a:rPr lang="en-US" altLang="zh-CN" sz="1000" kern="1200" baseline="0" dirty="0" smtClean="0">
                <a:solidFill>
                  <a:schemeClr val="tx1"/>
                </a:solidFill>
                <a:effectLst/>
                <a:latin typeface="+mn-lt"/>
                <a:ea typeface="+mn-ea"/>
                <a:cs typeface="+mn-cs"/>
              </a:rPr>
              <a:t> While </a:t>
            </a:r>
            <a:r>
              <a:rPr lang="en-US" altLang="zh-CN" sz="800" kern="1200" baseline="0" dirty="0" smtClean="0">
                <a:solidFill>
                  <a:schemeClr val="tx1"/>
                </a:solidFill>
                <a:effectLst/>
                <a:latin typeface="+mn-lt"/>
                <a:ea typeface="+mn-ea"/>
                <a:cs typeface="+mn-cs"/>
              </a:rPr>
              <a:t>we consider the FLOPs as matrix-level instead of element-level, that’s to say only the all zero rows and columns take account for reducing FLOPs. </a:t>
            </a:r>
            <a:endParaRPr lang="en-US" altLang="zh-CN" sz="80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80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zh-CN" altLang="zh-CN" sz="1000" kern="1200" dirty="0" smtClean="0">
              <a:solidFill>
                <a:schemeClr val="tx1"/>
              </a:solidFill>
              <a:effectLst/>
              <a:latin typeface="+mn-lt"/>
              <a:ea typeface="+mn-ea"/>
              <a:cs typeface="+mn-cs"/>
            </a:endParaRPr>
          </a:p>
          <a:p>
            <a:endParaRPr lang="zh-CN" altLang="en-US" dirty="0" smtClean="0"/>
          </a:p>
          <a:p>
            <a:endParaRPr lang="zh-CN" altLang="en-US" dirty="0"/>
          </a:p>
        </p:txBody>
      </p:sp>
      <p:sp>
        <p:nvSpPr>
          <p:cNvPr id="4" name="灯片编号占位符 3"/>
          <p:cNvSpPr>
            <a:spLocks noGrp="1"/>
          </p:cNvSpPr>
          <p:nvPr>
            <p:ph type="sldNum" sz="quarter" idx="10"/>
          </p:nvPr>
        </p:nvSpPr>
        <p:spPr/>
        <p:txBody>
          <a:bodyPr/>
          <a:lstStyle/>
          <a:p>
            <a:fld id="{D84EF7DF-42E2-494E-8341-BFA4D56922B5}" type="slidenum">
              <a:rPr lang="zh-CN" altLang="en-US" smtClean="0"/>
              <a:t>13</a:t>
            </a:fld>
            <a:endParaRPr lang="zh-CN" altLang="en-US"/>
          </a:p>
        </p:txBody>
      </p:sp>
    </p:spTree>
    <p:extLst>
      <p:ext uri="{BB962C8B-B14F-4D97-AF65-F5344CB8AC3E}">
        <p14:creationId xmlns:p14="http://schemas.microsoft.com/office/powerpoint/2010/main" val="23881112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100" kern="1200" dirty="0" smtClean="0">
                <a:solidFill>
                  <a:schemeClr val="tx1"/>
                </a:solidFill>
                <a:effectLst/>
                <a:latin typeface="+mn-lt"/>
                <a:ea typeface="+mn-ea"/>
                <a:cs typeface="+mn-cs"/>
              </a:rPr>
              <a:t>And</a:t>
            </a:r>
            <a:r>
              <a:rPr lang="en-US" altLang="zh-CN" sz="1100" kern="1200" baseline="0" dirty="0" smtClean="0">
                <a:solidFill>
                  <a:schemeClr val="tx1"/>
                </a:solidFill>
                <a:effectLst/>
                <a:latin typeface="+mn-lt"/>
                <a:ea typeface="+mn-ea"/>
                <a:cs typeface="+mn-cs"/>
              </a:rPr>
              <a:t> for experimental results, we test our method on </a:t>
            </a:r>
            <a:r>
              <a:rPr lang="en-US" altLang="zh-CN" sz="1100" kern="1200" dirty="0" smtClean="0">
                <a:solidFill>
                  <a:schemeClr val="tx1"/>
                </a:solidFill>
                <a:effectLst/>
                <a:latin typeface="+mn-lt"/>
                <a:ea typeface="+mn-ea"/>
                <a:cs typeface="+mn-cs"/>
              </a:rPr>
              <a:t>language </a:t>
            </a:r>
            <a:r>
              <a:rPr lang="en-US" altLang="zh-CN" sz="1100" kern="1200" dirty="0" smtClean="0">
                <a:solidFill>
                  <a:schemeClr val="tx1"/>
                </a:solidFill>
                <a:effectLst/>
                <a:latin typeface="+mn-lt"/>
                <a:ea typeface="+mn-ea"/>
                <a:cs typeface="+mn-cs"/>
              </a:rPr>
              <a:t>modeling task</a:t>
            </a:r>
            <a:r>
              <a:rPr lang="en-US" altLang="zh-CN" sz="1100" kern="1200" baseline="0" dirty="0" smtClean="0">
                <a:solidFill>
                  <a:schemeClr val="tx1"/>
                </a:solidFill>
                <a:effectLst/>
                <a:latin typeface="+mn-lt"/>
                <a:ea typeface="+mn-ea"/>
                <a:cs typeface="+mn-cs"/>
              </a:rPr>
              <a:t>, </a:t>
            </a:r>
            <a:r>
              <a:rPr lang="en-US" altLang="zh-CN" sz="1100" kern="1200" baseline="0" dirty="0" smtClean="0">
                <a:solidFill>
                  <a:schemeClr val="tx1"/>
                </a:solidFill>
                <a:effectLst/>
                <a:latin typeface="+mn-lt"/>
                <a:ea typeface="+mn-ea"/>
                <a:cs typeface="+mn-cs"/>
              </a:rPr>
              <a:t>to predict the next word in a sentence. </a:t>
            </a:r>
            <a:r>
              <a:rPr lang="en-US" altLang="zh-CN" sz="900" kern="1200" dirty="0" smtClean="0">
                <a:solidFill>
                  <a:schemeClr val="tx1"/>
                </a:solidFill>
                <a:effectLst/>
                <a:latin typeface="+mn-lt"/>
                <a:ea typeface="+mn-ea"/>
                <a:cs typeface="+mn-cs"/>
              </a:rPr>
              <a:t>The </a:t>
            </a:r>
            <a:r>
              <a:rPr lang="en-US" altLang="zh-CN" sz="900" kern="1200" dirty="0" smtClean="0">
                <a:solidFill>
                  <a:schemeClr val="tx1"/>
                </a:solidFill>
                <a:effectLst/>
                <a:latin typeface="+mn-lt"/>
                <a:ea typeface="+mn-ea"/>
                <a:cs typeface="+mn-cs"/>
              </a:rPr>
              <a:t>performance of </a:t>
            </a:r>
            <a:r>
              <a:rPr lang="en-US" altLang="zh-CN" sz="900" kern="1200" dirty="0" smtClean="0">
                <a:solidFill>
                  <a:schemeClr val="tx1"/>
                </a:solidFill>
                <a:effectLst/>
                <a:latin typeface="+mn-lt"/>
                <a:ea typeface="+mn-ea"/>
                <a:cs typeface="+mn-cs"/>
              </a:rPr>
              <a:t>measured </a:t>
            </a:r>
            <a:r>
              <a:rPr lang="en-US" altLang="zh-CN" sz="900" kern="1200" dirty="0" smtClean="0">
                <a:solidFill>
                  <a:schemeClr val="tx1"/>
                </a:solidFill>
                <a:effectLst/>
                <a:latin typeface="+mn-lt"/>
                <a:ea typeface="+mn-ea"/>
                <a:cs typeface="+mn-cs"/>
              </a:rPr>
              <a:t>by perplexity</a:t>
            </a:r>
            <a:r>
              <a:rPr lang="en-US" altLang="zh-CN" sz="900" kern="1200" baseline="0" dirty="0" smtClean="0">
                <a:solidFill>
                  <a:schemeClr val="tx1"/>
                </a:solidFill>
                <a:effectLst/>
                <a:latin typeface="+mn-lt"/>
                <a:ea typeface="+mn-ea"/>
                <a:cs typeface="+mn-cs"/>
              </a:rPr>
              <a:t>, and </a:t>
            </a:r>
            <a:r>
              <a:rPr lang="en-US" altLang="zh-CN" sz="900" kern="1200" dirty="0" smtClean="0">
                <a:solidFill>
                  <a:schemeClr val="tx1"/>
                </a:solidFill>
                <a:effectLst/>
                <a:latin typeface="+mn-lt"/>
                <a:ea typeface="+mn-ea"/>
                <a:cs typeface="+mn-cs"/>
              </a:rPr>
              <a:t>the lower the better</a:t>
            </a:r>
            <a:r>
              <a:rPr lang="en-US" altLang="zh-CN" sz="900" kern="1200" dirty="0" smtClean="0">
                <a:solidFill>
                  <a:schemeClr val="tx1"/>
                </a:solidFill>
                <a:effectLst/>
                <a:latin typeface="+mn-lt"/>
                <a:ea typeface="+mn-ea"/>
                <a:cs typeface="+mn-cs"/>
              </a:rPr>
              <a:t>. The</a:t>
            </a:r>
            <a:r>
              <a:rPr lang="en-US" altLang="zh-CN" sz="900" kern="1200" baseline="0" dirty="0" smtClean="0">
                <a:solidFill>
                  <a:schemeClr val="tx1"/>
                </a:solidFill>
                <a:effectLst/>
                <a:latin typeface="+mn-lt"/>
                <a:ea typeface="+mn-ea"/>
                <a:cs typeface="+mn-cs"/>
              </a:rPr>
              <a:t> baseline model is a</a:t>
            </a:r>
            <a:r>
              <a:rPr lang="en-US" altLang="zh-CN" sz="900" kern="1200" dirty="0" smtClean="0">
                <a:solidFill>
                  <a:schemeClr val="tx1"/>
                </a:solidFill>
                <a:effectLst/>
                <a:latin typeface="+mn-lt"/>
                <a:ea typeface="+mn-ea"/>
                <a:cs typeface="+mn-cs"/>
              </a:rPr>
              <a:t> 2-layer LSTM model </a:t>
            </a:r>
            <a:r>
              <a:rPr lang="en-US" altLang="zh-CN" sz="800" kern="1200" baseline="0" dirty="0" smtClean="0">
                <a:solidFill>
                  <a:schemeClr val="tx1"/>
                </a:solidFill>
                <a:effectLst/>
                <a:latin typeface="+mn-lt"/>
                <a:ea typeface="+mn-ea"/>
                <a:cs typeface="+mn-cs"/>
              </a:rPr>
              <a:t>with 1500 hidden units follow </a:t>
            </a:r>
            <a:r>
              <a:rPr lang="en-US" altLang="zh-CN" sz="800" kern="1200" baseline="0" dirty="0" err="1" smtClean="0">
                <a:solidFill>
                  <a:schemeClr val="tx1"/>
                </a:solidFill>
                <a:effectLst/>
                <a:latin typeface="+mn-lt"/>
                <a:ea typeface="+mn-ea"/>
                <a:cs typeface="+mn-cs"/>
              </a:rPr>
              <a:t>Zaremba</a:t>
            </a:r>
            <a:r>
              <a:rPr lang="en-US" altLang="zh-CN" sz="800" kern="1200" baseline="0" dirty="0" smtClean="0">
                <a:solidFill>
                  <a:schemeClr val="tx1"/>
                </a:solidFill>
                <a:effectLst/>
                <a:latin typeface="+mn-lt"/>
                <a:ea typeface="+mn-ea"/>
                <a:cs typeface="+mn-cs"/>
              </a:rPr>
              <a:t>. </a:t>
            </a:r>
            <a:endParaRPr lang="en-US" altLang="zh-CN" sz="90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z="90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900" dirty="0"/>
          </a:p>
        </p:txBody>
      </p:sp>
      <p:sp>
        <p:nvSpPr>
          <p:cNvPr id="4" name="灯片编号占位符 3"/>
          <p:cNvSpPr>
            <a:spLocks noGrp="1"/>
          </p:cNvSpPr>
          <p:nvPr>
            <p:ph type="sldNum" sz="quarter" idx="10"/>
          </p:nvPr>
        </p:nvSpPr>
        <p:spPr/>
        <p:txBody>
          <a:bodyPr/>
          <a:lstStyle/>
          <a:p>
            <a:fld id="{D84EF7DF-42E2-494E-8341-BFA4D56922B5}" type="slidenum">
              <a:rPr lang="zh-CN" altLang="en-US" smtClean="0"/>
              <a:t>14</a:t>
            </a:fld>
            <a:endParaRPr lang="zh-CN" altLang="en-US"/>
          </a:p>
        </p:txBody>
      </p:sp>
    </p:spTree>
    <p:extLst>
      <p:ext uri="{BB962C8B-B14F-4D97-AF65-F5344CB8AC3E}">
        <p14:creationId xmlns:p14="http://schemas.microsoft.com/office/powerpoint/2010/main" val="16559214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100" kern="1200" dirty="0" smtClean="0">
                <a:solidFill>
                  <a:schemeClr val="tx1"/>
                </a:solidFill>
                <a:effectLst/>
                <a:latin typeface="+mn-lt"/>
                <a:ea typeface="+mn-ea"/>
                <a:cs typeface="+mn-cs"/>
              </a:rPr>
              <a:t>When </a:t>
            </a:r>
            <a:r>
              <a:rPr lang="en-US" altLang="zh-CN" sz="1100" kern="1200" dirty="0" smtClean="0">
                <a:solidFill>
                  <a:schemeClr val="tx1"/>
                </a:solidFill>
                <a:effectLst/>
                <a:latin typeface="+mn-lt"/>
                <a:ea typeface="+mn-ea"/>
                <a:cs typeface="+mn-cs"/>
              </a:rPr>
              <a:t>compared to traditional ensemble method</a:t>
            </a:r>
            <a:r>
              <a:rPr lang="en-US" altLang="zh-CN" sz="1100" kern="1200" baseline="0" dirty="0" smtClean="0">
                <a:solidFill>
                  <a:schemeClr val="tx1"/>
                </a:solidFill>
                <a:effectLst/>
                <a:latin typeface="+mn-lt"/>
                <a:ea typeface="+mn-ea"/>
                <a:cs typeface="+mn-cs"/>
              </a:rPr>
              <a:t>, that is, train with different initializations</a:t>
            </a:r>
            <a:r>
              <a:rPr lang="en-US" altLang="zh-CN" sz="1100" kern="1200" dirty="0" smtClean="0">
                <a:solidFill>
                  <a:schemeClr val="tx1"/>
                </a:solidFill>
                <a:effectLst/>
                <a:latin typeface="+mn-lt"/>
                <a:ea typeface="+mn-ea"/>
                <a:cs typeface="+mn-cs"/>
              </a:rPr>
              <a:t>, </a:t>
            </a:r>
            <a:r>
              <a:rPr lang="en-US" altLang="zh-CN" sz="1100" kern="1200" baseline="0" dirty="0" smtClean="0">
                <a:solidFill>
                  <a:schemeClr val="tx1"/>
                </a:solidFill>
                <a:effectLst/>
                <a:latin typeface="+mn-lt"/>
                <a:ea typeface="+mn-ea"/>
                <a:cs typeface="+mn-cs"/>
              </a:rPr>
              <a:t>they both gives the result of </a:t>
            </a:r>
            <a:r>
              <a:rPr lang="en-US" altLang="zh-CN" sz="1100" kern="1200" baseline="0" dirty="0" smtClean="0">
                <a:solidFill>
                  <a:schemeClr val="tx1"/>
                </a:solidFill>
                <a:effectLst/>
                <a:latin typeface="+mn-lt"/>
                <a:ea typeface="+mn-ea"/>
                <a:cs typeface="+mn-cs"/>
              </a:rPr>
              <a:t>68.7 </a:t>
            </a:r>
            <a:r>
              <a:rPr lang="en-US" altLang="zh-CN" sz="1100" kern="1200" baseline="0" dirty="0" smtClean="0">
                <a:solidFill>
                  <a:schemeClr val="tx1"/>
                </a:solidFill>
                <a:effectLst/>
                <a:latin typeface="+mn-lt"/>
                <a:ea typeface="+mn-ea"/>
                <a:cs typeface="+mn-cs"/>
              </a:rPr>
              <a:t>perplexity, but with high cost. While our method can obtain</a:t>
            </a:r>
            <a:r>
              <a:rPr lang="en-US" altLang="zh-CN" sz="1100" kern="1200" dirty="0" smtClean="0">
                <a:solidFill>
                  <a:schemeClr val="tx1"/>
                </a:solidFill>
                <a:effectLst/>
                <a:latin typeface="+mn-lt"/>
                <a:ea typeface="+mn-ea"/>
                <a:cs typeface="+mn-cs"/>
              </a:rPr>
              <a:t> a lower</a:t>
            </a:r>
            <a:r>
              <a:rPr lang="en-US" altLang="zh-CN" sz="1100" kern="1200" baseline="0" dirty="0" smtClean="0">
                <a:solidFill>
                  <a:schemeClr val="tx1"/>
                </a:solidFill>
                <a:effectLst/>
                <a:latin typeface="+mn-lt"/>
                <a:ea typeface="+mn-ea"/>
                <a:cs typeface="+mn-cs"/>
              </a:rPr>
              <a:t> perplexity with </a:t>
            </a:r>
            <a:r>
              <a:rPr lang="en-US" altLang="zh-CN" sz="1100" kern="1200" dirty="0" smtClean="0">
                <a:solidFill>
                  <a:schemeClr val="tx1"/>
                </a:solidFill>
                <a:effectLst/>
                <a:latin typeface="+mn-lt"/>
                <a:ea typeface="+mn-ea"/>
                <a:cs typeface="+mn-cs"/>
              </a:rPr>
              <a:t>20 models, </a:t>
            </a:r>
            <a:r>
              <a:rPr lang="en-US" altLang="zh-CN" sz="1100" kern="1200" dirty="0" smtClean="0">
                <a:solidFill>
                  <a:schemeClr val="tx1"/>
                </a:solidFill>
                <a:effectLst/>
                <a:latin typeface="+mn-lt"/>
                <a:ea typeface="+mn-ea"/>
                <a:cs typeface="+mn-cs"/>
              </a:rPr>
              <a:t>but</a:t>
            </a:r>
            <a:r>
              <a:rPr lang="en-US" altLang="zh-CN" sz="1100" kern="1200" baseline="0" dirty="0" smtClean="0">
                <a:solidFill>
                  <a:schemeClr val="tx1"/>
                </a:solidFill>
                <a:effectLst/>
                <a:latin typeface="+mn-lt"/>
                <a:ea typeface="+mn-ea"/>
                <a:cs typeface="+mn-cs"/>
              </a:rPr>
              <a:t> </a:t>
            </a:r>
            <a:r>
              <a:rPr lang="en-US" altLang="zh-CN" sz="1100" kern="1200" baseline="0" dirty="0" smtClean="0">
                <a:solidFill>
                  <a:schemeClr val="tx1"/>
                </a:solidFill>
                <a:effectLst/>
                <a:latin typeface="+mn-lt"/>
                <a:ea typeface="+mn-ea"/>
                <a:cs typeface="+mn-cs"/>
              </a:rPr>
              <a:t>far</a:t>
            </a:r>
            <a:r>
              <a:rPr lang="en-US" altLang="zh-CN" sz="1100" kern="1200" dirty="0" smtClean="0">
                <a:solidFill>
                  <a:schemeClr val="tx1"/>
                </a:solidFill>
                <a:effectLst/>
                <a:latin typeface="+mn-lt"/>
                <a:ea typeface="+mn-ea"/>
                <a:cs typeface="+mn-cs"/>
              </a:rPr>
              <a:t> lower cost in both memory and computation</a:t>
            </a:r>
            <a:r>
              <a:rPr lang="en-US" altLang="zh-CN" sz="1100" kern="1200" baseline="0" dirty="0" smtClean="0">
                <a:solidFill>
                  <a:schemeClr val="tx1"/>
                </a:solidFill>
                <a:effectLst/>
                <a:latin typeface="+mn-lt"/>
                <a:ea typeface="+mn-ea"/>
                <a:cs typeface="+mn-cs"/>
              </a:rPr>
              <a:t> </a:t>
            </a:r>
            <a:r>
              <a:rPr lang="en-US" altLang="zh-CN" sz="1100" kern="1200" dirty="0" smtClean="0">
                <a:solidFill>
                  <a:schemeClr val="tx1"/>
                </a:solidFill>
                <a:effectLst/>
                <a:latin typeface="+mn-lt"/>
                <a:ea typeface="+mn-ea"/>
                <a:cs typeface="+mn-cs"/>
              </a:rPr>
              <a:t>than them</a:t>
            </a:r>
            <a:r>
              <a:rPr lang="en-US" altLang="zh-CN" sz="1100" kern="1200" baseline="0" dirty="0" smtClean="0">
                <a:solidFill>
                  <a:schemeClr val="tx1"/>
                </a:solidFill>
                <a:effectLst/>
                <a:latin typeface="+mn-lt"/>
                <a:ea typeface="+mn-ea"/>
                <a:cs typeface="+mn-cs"/>
              </a:rPr>
              <a:t>.</a:t>
            </a:r>
            <a:r>
              <a:rPr lang="en-US" altLang="zh-CN" sz="1100" kern="1200" dirty="0" smtClean="0">
                <a:solidFill>
                  <a:schemeClr val="tx1"/>
                </a:solidFill>
                <a:effectLst/>
                <a:latin typeface="+mn-lt"/>
                <a:ea typeface="+mn-ea"/>
                <a:cs typeface="+mn-cs"/>
              </a:rPr>
              <a:t> </a:t>
            </a:r>
            <a:endParaRPr lang="zh-CN" altLang="en-US" sz="1050" dirty="0" smtClean="0"/>
          </a:p>
        </p:txBody>
      </p:sp>
      <p:sp>
        <p:nvSpPr>
          <p:cNvPr id="4" name="灯片编号占位符 3"/>
          <p:cNvSpPr>
            <a:spLocks noGrp="1"/>
          </p:cNvSpPr>
          <p:nvPr>
            <p:ph type="sldNum" sz="quarter" idx="10"/>
          </p:nvPr>
        </p:nvSpPr>
        <p:spPr/>
        <p:txBody>
          <a:bodyPr/>
          <a:lstStyle/>
          <a:p>
            <a:fld id="{D84EF7DF-42E2-494E-8341-BFA4D56922B5}" type="slidenum">
              <a:rPr lang="zh-CN" altLang="en-US" smtClean="0"/>
              <a:t>15</a:t>
            </a:fld>
            <a:endParaRPr lang="zh-CN" altLang="en-US"/>
          </a:p>
        </p:txBody>
      </p:sp>
    </p:spTree>
    <p:extLst>
      <p:ext uri="{BB962C8B-B14F-4D97-AF65-F5344CB8AC3E}">
        <p14:creationId xmlns:p14="http://schemas.microsoft.com/office/powerpoint/2010/main" val="10306253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100" kern="1200" dirty="0" smtClean="0">
                <a:solidFill>
                  <a:schemeClr val="tx1"/>
                </a:solidFill>
                <a:effectLst/>
                <a:latin typeface="+mn-lt"/>
                <a:ea typeface="+mn-ea"/>
                <a:cs typeface="+mn-cs"/>
              </a:rPr>
              <a:t>To go further on the </a:t>
            </a:r>
            <a:r>
              <a:rPr lang="en-US" altLang="zh-CN" sz="1100" kern="1200" baseline="0" dirty="0" smtClean="0">
                <a:solidFill>
                  <a:schemeClr val="tx1"/>
                </a:solidFill>
                <a:effectLst/>
                <a:latin typeface="+mn-lt"/>
                <a:ea typeface="+mn-ea"/>
                <a:cs typeface="+mn-cs"/>
              </a:rPr>
              <a:t>trade-off between the cost and performance, we also run an experiment using only 4 models. This 4 model ensemble has less than half memory and computation cost in total than a single model, but gives a fairly good perplexity results.</a:t>
            </a:r>
            <a:endParaRPr lang="zh-CN" altLang="en-US" sz="900" dirty="0"/>
          </a:p>
        </p:txBody>
      </p:sp>
      <p:sp>
        <p:nvSpPr>
          <p:cNvPr id="4" name="灯片编号占位符 3"/>
          <p:cNvSpPr>
            <a:spLocks noGrp="1"/>
          </p:cNvSpPr>
          <p:nvPr>
            <p:ph type="sldNum" sz="quarter" idx="10"/>
          </p:nvPr>
        </p:nvSpPr>
        <p:spPr/>
        <p:txBody>
          <a:bodyPr/>
          <a:lstStyle/>
          <a:p>
            <a:fld id="{D84EF7DF-42E2-494E-8341-BFA4D56922B5}" type="slidenum">
              <a:rPr lang="zh-CN" altLang="en-US" smtClean="0"/>
              <a:t>16</a:t>
            </a:fld>
            <a:endParaRPr lang="zh-CN" altLang="en-US"/>
          </a:p>
        </p:txBody>
      </p:sp>
    </p:spTree>
    <p:extLst>
      <p:ext uri="{BB962C8B-B14F-4D97-AF65-F5344CB8AC3E}">
        <p14:creationId xmlns:p14="http://schemas.microsoft.com/office/powerpoint/2010/main" val="12142456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100" kern="1200" baseline="0" dirty="0" smtClean="0">
                <a:solidFill>
                  <a:schemeClr val="tx1"/>
                </a:solidFill>
                <a:effectLst/>
                <a:latin typeface="+mn-lt"/>
                <a:ea typeface="+mn-ea"/>
                <a:cs typeface="+mn-cs"/>
              </a:rPr>
              <a:t>What’s more, our method has no requirement of the model used, which means it is easy to combine with some recent progress on more advanced models, such as the share embedding skill in </a:t>
            </a:r>
            <a:r>
              <a:rPr lang="en-US" altLang="zh-CN" sz="1100" kern="1200" baseline="0" dirty="0" err="1" smtClean="0">
                <a:solidFill>
                  <a:schemeClr val="tx1"/>
                </a:solidFill>
                <a:effectLst/>
                <a:latin typeface="+mn-lt"/>
                <a:ea typeface="+mn-ea"/>
                <a:cs typeface="+mn-cs"/>
              </a:rPr>
              <a:t>Inan’s</a:t>
            </a:r>
            <a:r>
              <a:rPr lang="en-US" altLang="zh-CN" sz="1100" kern="1200" baseline="0" dirty="0" smtClean="0">
                <a:solidFill>
                  <a:schemeClr val="tx1"/>
                </a:solidFill>
                <a:effectLst/>
                <a:latin typeface="+mn-lt"/>
                <a:ea typeface="+mn-ea"/>
                <a:cs typeface="+mn-cs"/>
              </a:rPr>
              <a:t> work, </a:t>
            </a:r>
            <a:r>
              <a:rPr lang="en-US" altLang="zh-CN" sz="1100" kern="1200" baseline="0" dirty="0" smtClean="0">
                <a:solidFill>
                  <a:schemeClr val="tx1"/>
                </a:solidFill>
                <a:effectLst/>
                <a:latin typeface="+mn-lt"/>
                <a:ea typeface="+mn-ea"/>
                <a:cs typeface="+mn-cs"/>
              </a:rPr>
              <a:t>we can easily marry them up to </a:t>
            </a:r>
            <a:r>
              <a:rPr lang="en-US" altLang="zh-CN" sz="1100" kern="1200" baseline="0" dirty="0" smtClean="0">
                <a:solidFill>
                  <a:schemeClr val="tx1"/>
                </a:solidFill>
                <a:effectLst/>
                <a:latin typeface="+mn-lt"/>
                <a:ea typeface="+mn-ea"/>
                <a:cs typeface="+mn-cs"/>
              </a:rPr>
              <a:t>further </a:t>
            </a:r>
            <a:r>
              <a:rPr lang="en-US" altLang="zh-CN" sz="1100" kern="1200" baseline="0" dirty="0" smtClean="0">
                <a:solidFill>
                  <a:schemeClr val="tx1"/>
                </a:solidFill>
                <a:effectLst/>
                <a:latin typeface="+mn-lt"/>
                <a:ea typeface="+mn-ea"/>
                <a:cs typeface="+mn-cs"/>
              </a:rPr>
              <a:t>reduce the perplexity to 62. </a:t>
            </a:r>
            <a:endParaRPr lang="zh-CN" altLang="en-US" sz="900" dirty="0"/>
          </a:p>
        </p:txBody>
      </p:sp>
      <p:sp>
        <p:nvSpPr>
          <p:cNvPr id="4" name="灯片编号占位符 3"/>
          <p:cNvSpPr>
            <a:spLocks noGrp="1"/>
          </p:cNvSpPr>
          <p:nvPr>
            <p:ph type="sldNum" sz="quarter" idx="10"/>
          </p:nvPr>
        </p:nvSpPr>
        <p:spPr/>
        <p:txBody>
          <a:bodyPr/>
          <a:lstStyle/>
          <a:p>
            <a:fld id="{D84EF7DF-42E2-494E-8341-BFA4D56922B5}" type="slidenum">
              <a:rPr lang="zh-CN" altLang="en-US" smtClean="0"/>
              <a:t>17</a:t>
            </a:fld>
            <a:endParaRPr lang="zh-CN" altLang="en-US"/>
          </a:p>
        </p:txBody>
      </p:sp>
    </p:spTree>
    <p:extLst>
      <p:ext uri="{BB962C8B-B14F-4D97-AF65-F5344CB8AC3E}">
        <p14:creationId xmlns:p14="http://schemas.microsoft.com/office/powerpoint/2010/main" val="42038403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baseline="0" dirty="0" smtClean="0"/>
              <a:t>And I’ll conclude now. In this work, we propose a efficiently ensemble learning approach to deal with the cost problems and learn better ensembles.  And to the best of our knowledge, we are the first to combine these things and verified their effectiveness via experiments. </a:t>
            </a:r>
            <a:endParaRPr lang="en-US" altLang="zh-CN" sz="120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z="120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dirty="0" smtClean="0"/>
              <a:t>Our future work may include</a:t>
            </a:r>
            <a:r>
              <a:rPr lang="en-US" altLang="zh-CN" sz="1200" baseline="0" dirty="0" smtClean="0"/>
              <a:t> i</a:t>
            </a:r>
            <a:r>
              <a:rPr lang="en-US" altLang="zh-CN" sz="1200" dirty="0" smtClean="0"/>
              <a:t>nterleaving model sampling and model pruning together</a:t>
            </a:r>
            <a:r>
              <a:rPr lang="en-US" altLang="zh-CN" sz="1200" baseline="0" dirty="0" smtClean="0"/>
              <a:t> in one process</a:t>
            </a:r>
            <a:r>
              <a:rPr lang="en-US" altLang="zh-CN" sz="1200" dirty="0" smtClean="0"/>
              <a:t>,</a:t>
            </a:r>
            <a:r>
              <a:rPr lang="en-US" altLang="zh-CN" sz="1200" baseline="0" dirty="0" smtClean="0"/>
              <a:t> and expand the proposed method to other tasks.</a:t>
            </a:r>
            <a:endParaRPr lang="en-US" altLang="zh-CN" sz="120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zh-CN" altLang="zh-CN" sz="1200" kern="1200" dirty="0" smtClean="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D84EF7DF-42E2-494E-8341-BFA4D56922B5}" type="slidenum">
              <a:rPr lang="zh-CN" altLang="en-US" smtClean="0"/>
              <a:t>18</a:t>
            </a:fld>
            <a:endParaRPr lang="zh-CN" altLang="en-US"/>
          </a:p>
        </p:txBody>
      </p:sp>
    </p:spTree>
    <p:extLst>
      <p:ext uri="{BB962C8B-B14F-4D97-AF65-F5344CB8AC3E}">
        <p14:creationId xmlns:p14="http://schemas.microsoft.com/office/powerpoint/2010/main" val="18288089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713232" rtl="0" eaLnBrk="1" fontAlgn="auto" latinLnBrk="0" hangingPunct="1">
              <a:lnSpc>
                <a:spcPct val="100000"/>
              </a:lnSpc>
              <a:spcBef>
                <a:spcPts val="0"/>
              </a:spcBef>
              <a:spcAft>
                <a:spcPts val="0"/>
              </a:spcAft>
              <a:buClrTx/>
              <a:buSzTx/>
              <a:buFontTx/>
              <a:buNone/>
              <a:tabLst/>
              <a:defRPr/>
            </a:pPr>
            <a:r>
              <a:rPr lang="en-US" altLang="zh-CN" sz="1200" kern="1200" baseline="0" dirty="0" smtClean="0">
                <a:solidFill>
                  <a:schemeClr val="tx1"/>
                </a:solidFill>
                <a:effectLst/>
                <a:latin typeface="+mn-lt"/>
                <a:ea typeface="+mn-ea"/>
                <a:cs typeface="+mn-cs"/>
              </a:rPr>
              <a:t>Thank you very much. </a:t>
            </a:r>
            <a:endParaRPr lang="zh-CN" altLang="zh-CN" sz="1200" kern="1200" dirty="0" smtClean="0">
              <a:solidFill>
                <a:schemeClr val="tx1"/>
              </a:solidFill>
              <a:effectLst/>
              <a:latin typeface="+mn-lt"/>
              <a:ea typeface="+mn-ea"/>
              <a:cs typeface="+mn-cs"/>
            </a:endParaRPr>
          </a:p>
          <a:p>
            <a:endParaRPr lang="zh-CN" altLang="en-US" dirty="0" smtClean="0"/>
          </a:p>
        </p:txBody>
      </p:sp>
      <p:sp>
        <p:nvSpPr>
          <p:cNvPr id="4" name="灯片编号占位符 3"/>
          <p:cNvSpPr>
            <a:spLocks noGrp="1"/>
          </p:cNvSpPr>
          <p:nvPr>
            <p:ph type="sldNum" sz="quarter" idx="10"/>
          </p:nvPr>
        </p:nvSpPr>
        <p:spPr/>
        <p:txBody>
          <a:bodyPr/>
          <a:lstStyle/>
          <a:p>
            <a:fld id="{418F03C3-53C1-4F10-8DAF-D1F318E96C6E}" type="slidenum">
              <a:rPr lang="zh-CN" altLang="en-US" smtClean="0"/>
              <a:t>19</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2854A03-91AF-448A-9954-517C0577E5F0}" type="datetimeFigureOut">
              <a:rPr lang="zh-CN" altLang="en-US" smtClean="0"/>
              <a:t>2018/10/18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EEFC946-6D13-4F8C-9740-992A906A613E}" type="slidenum">
              <a:rPr lang="zh-CN" altLang="en-US" smtClean="0"/>
              <a:t>‹#›</a:t>
            </a:fld>
            <a:endParaRPr lang="zh-CN" altLang="en-US"/>
          </a:p>
        </p:txBody>
      </p:sp>
      <p:sp>
        <p:nvSpPr>
          <p:cNvPr id="11" name="文本框 10"/>
          <p:cNvSpPr txBox="1"/>
          <p:nvPr userDrawn="1"/>
        </p:nvSpPr>
        <p:spPr>
          <a:xfrm>
            <a:off x="762060" y="319564"/>
            <a:ext cx="4468411" cy="489585"/>
          </a:xfrm>
          <a:prstGeom prst="rect">
            <a:avLst/>
          </a:prstGeom>
          <a:noFill/>
        </p:spPr>
        <p:txBody>
          <a:bodyPr wrap="square" lIns="121889" tIns="60944" rIns="121889" bIns="60944" rtlCol="0">
            <a:spAutoFit/>
          </a:bodyPr>
          <a:lstStyle>
            <a:defPPr>
              <a:defRPr lang="zh-CN"/>
            </a:defPPr>
            <a:lvl1pPr algn="ctr">
              <a:defRPr sz="8800" b="1">
                <a:gradFill>
                  <a:gsLst>
                    <a:gs pos="0">
                      <a:srgbClr val="00B0F0"/>
                    </a:gs>
                    <a:gs pos="100000">
                      <a:schemeClr val="tx2">
                        <a:lumMod val="50000"/>
                      </a:schemeClr>
                    </a:gs>
                  </a:gsLst>
                  <a:lin ang="2400000" scaled="0"/>
                </a:gradFill>
                <a:effectLst>
                  <a:outerShdw blurRad="317500" dist="165100" dir="2700000" algn="tl" rotWithShape="0">
                    <a:prstClr val="black">
                      <a:alpha val="60000"/>
                    </a:prstClr>
                  </a:outerShdw>
                </a:effectLst>
                <a:latin typeface="Yuanti SC" charset="-122"/>
                <a:ea typeface="Yuanti SC" charset="-122"/>
                <a:cs typeface="Yuanti SC" charset="-122"/>
              </a:defRPr>
            </a:lvl1pPr>
          </a:lstStyle>
          <a:p>
            <a:pPr algn="l"/>
            <a:r>
              <a:rPr lang="zh-CN" altLang="en-US" sz="2400" dirty="0">
                <a:solidFill>
                  <a:srgbClr val="001355"/>
                </a:solidFill>
                <a:effectLst/>
                <a:latin typeface="苹方 中等" panose="020B0400000000000000" charset="-122"/>
                <a:ea typeface="苹方 中等" panose="020B0400000000000000" charset="-122"/>
              </a:rPr>
              <a:t>点击此处添加副标题</a:t>
            </a:r>
          </a:p>
        </p:txBody>
      </p:sp>
      <p:pic>
        <p:nvPicPr>
          <p:cNvPr id="5" name="图片 4" descr="AUA-Logo-04"/>
          <p:cNvPicPr>
            <a:picLocks noChangeAspect="1"/>
          </p:cNvPicPr>
          <p:nvPr userDrawn="1"/>
        </p:nvPicPr>
        <p:blipFill>
          <a:blip r:embed="rId2"/>
          <a:stretch>
            <a:fillRect/>
          </a:stretch>
        </p:blipFill>
        <p:spPr>
          <a:xfrm>
            <a:off x="-244475" y="22860"/>
            <a:ext cx="1534160" cy="1085215"/>
          </a:xfrm>
          <a:prstGeom prst="rect">
            <a:avLst/>
          </a:prstGeom>
        </p:spPr>
      </p:pic>
      <p:sp>
        <p:nvSpPr>
          <p:cNvPr id="7" name="矩形 6"/>
          <p:cNvSpPr/>
          <p:nvPr userDrawn="1"/>
        </p:nvSpPr>
        <p:spPr>
          <a:xfrm>
            <a:off x="-36195" y="968693"/>
            <a:ext cx="4032250" cy="755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直接连接符 7"/>
          <p:cNvCxnSpPr/>
          <p:nvPr/>
        </p:nvCxnSpPr>
        <p:spPr>
          <a:xfrm>
            <a:off x="3887470" y="1006475"/>
            <a:ext cx="5783580" cy="0"/>
          </a:xfrm>
          <a:prstGeom prst="line">
            <a:avLst/>
          </a:prstGeom>
          <a:ln w="28575" cmpd="sng">
            <a:solidFill>
              <a:srgbClr val="034EA2"/>
            </a:solidFill>
            <a:prstDash val="solid"/>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p14:dur="250">
        <p:split orient="vert"/>
      </p:transition>
    </mc:Choice>
    <mc:Fallback xmlns="">
      <p:transition>
        <p:split orient="vert"/>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pic>
        <p:nvPicPr>
          <p:cNvPr id="3" name="图片 2" descr="AUA-Logo-01"/>
          <p:cNvPicPr>
            <a:picLocks noChangeAspect="1"/>
          </p:cNvPicPr>
          <p:nvPr userDrawn="1"/>
        </p:nvPicPr>
        <p:blipFill>
          <a:blip r:embed="rId2"/>
          <a:stretch>
            <a:fillRect/>
          </a:stretch>
        </p:blipFill>
        <p:spPr>
          <a:xfrm>
            <a:off x="86360" y="-48895"/>
            <a:ext cx="1499235" cy="106045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250">
        <p:split orient="vert"/>
      </p:transition>
    </mc:Choice>
    <mc:Fallback xmlns="">
      <p:transition>
        <p:split orient="vert"/>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7C25B2B0-692A-46A2-956F-D87A1A3CFB5B}" type="datetimeFigureOut">
              <a:rPr lang="zh-CN" altLang="en-US"/>
              <a:t>2018/10/18</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CCE584FB-8213-408C-973A-0BFE315A5B2C}" type="slidenum">
              <a:rPr lang="zh-CN" altLang="en-US"/>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250">
        <p:split orient="vert"/>
      </p:transition>
    </mc:Choice>
    <mc:Fallback xmlns="">
      <p:transition>
        <p:split orient="vert"/>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E488186-057B-4C07-9498-7E532EDAF008}" type="datetimeFigureOut">
              <a:rPr lang="zh-CN" altLang="en-US" smtClean="0"/>
              <a:t>2018/10/18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8EBAC42-A521-4D5E-92BE-1A16F8ACC2A7}" type="slidenum">
              <a:rPr lang="zh-CN" altLang="en-US" smtClean="0"/>
              <a:t>‹#›</a:t>
            </a:fld>
            <a:endParaRPr lang="zh-CN" altLang="en-US"/>
          </a:p>
        </p:txBody>
      </p:sp>
      <p:sp>
        <p:nvSpPr>
          <p:cNvPr id="5" name="矩形 4"/>
          <p:cNvSpPr/>
          <p:nvPr userDrawn="1"/>
        </p:nvSpPr>
        <p:spPr>
          <a:xfrm>
            <a:off x="0" y="1"/>
            <a:ext cx="9144000" cy="556262"/>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grpSp>
        <p:nvGrpSpPr>
          <p:cNvPr id="6" name="组合 9"/>
          <p:cNvGrpSpPr/>
          <p:nvPr userDrawn="1"/>
        </p:nvGrpSpPr>
        <p:grpSpPr bwMode="auto">
          <a:xfrm>
            <a:off x="7905749" y="-11906"/>
            <a:ext cx="1219200" cy="508067"/>
            <a:chOff x="5797942" y="-301201"/>
            <a:chExt cx="3396247" cy="1408387"/>
          </a:xfrm>
        </p:grpSpPr>
        <p:grpSp>
          <p:nvGrpSpPr>
            <p:cNvPr id="7" name="组合 6"/>
            <p:cNvGrpSpPr/>
            <p:nvPr/>
          </p:nvGrpSpPr>
          <p:grpSpPr>
            <a:xfrm flipH="1">
              <a:off x="5797942" y="-20872"/>
              <a:ext cx="3396247" cy="1128058"/>
              <a:chOff x="0" y="-2417"/>
              <a:chExt cx="3257548" cy="1081989"/>
            </a:xfrm>
            <a:solidFill>
              <a:sysClr val="window" lastClr="FFFFFF">
                <a:lumMod val="85000"/>
                <a:alpha val="75000"/>
              </a:sysClr>
            </a:solidFill>
          </p:grpSpPr>
          <p:grpSp>
            <p:nvGrpSpPr>
              <p:cNvPr id="20" name="组合 19"/>
              <p:cNvGrpSpPr/>
              <p:nvPr/>
            </p:nvGrpSpPr>
            <p:grpSpPr>
              <a:xfrm>
                <a:off x="0" y="-2417"/>
                <a:ext cx="3257548" cy="542240"/>
                <a:chOff x="0" y="-2417"/>
                <a:chExt cx="3257548" cy="542240"/>
              </a:xfrm>
              <a:grpFill/>
            </p:grpSpPr>
            <p:sp>
              <p:nvSpPr>
                <p:cNvPr id="26" name="等腰三角形 25"/>
                <p:cNvSpPr/>
                <p:nvPr/>
              </p:nvSpPr>
              <p:spPr>
                <a:xfrm rot="5400000">
                  <a:off x="-37229" y="37229"/>
                  <a:ext cx="539822" cy="465364"/>
                </a:xfrm>
                <a:prstGeom prst="triangle">
                  <a:avLst/>
                </a:prstGeom>
                <a:solidFill>
                  <a:sysClr val="window" lastClr="FFFFFF">
                    <a:lumMod val="85000"/>
                    <a:alpha val="50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sp>
              <p:nvSpPr>
                <p:cNvPr id="27" name="等腰三角形 26"/>
                <p:cNvSpPr/>
                <p:nvPr/>
              </p:nvSpPr>
              <p:spPr>
                <a:xfrm rot="5400000">
                  <a:off x="428135" y="37229"/>
                  <a:ext cx="539822" cy="465365"/>
                </a:xfrm>
                <a:prstGeom prst="triangle">
                  <a:avLst/>
                </a:prstGeom>
                <a:solidFill>
                  <a:sysClr val="window" lastClr="FFFFFF">
                    <a:lumMod val="85000"/>
                    <a:alpha val="40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sp>
              <p:nvSpPr>
                <p:cNvPr id="28" name="等腰三角形 27"/>
                <p:cNvSpPr/>
                <p:nvPr/>
              </p:nvSpPr>
              <p:spPr>
                <a:xfrm rot="5400000">
                  <a:off x="893498" y="37229"/>
                  <a:ext cx="539822" cy="465365"/>
                </a:xfrm>
                <a:prstGeom prst="triangle">
                  <a:avLst/>
                </a:prstGeom>
                <a:solidFill>
                  <a:sysClr val="window" lastClr="FFFFFF">
                    <a:lumMod val="85000"/>
                    <a:alpha val="50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sp>
              <p:nvSpPr>
                <p:cNvPr id="29" name="等腰三角形 28"/>
                <p:cNvSpPr/>
                <p:nvPr/>
              </p:nvSpPr>
              <p:spPr>
                <a:xfrm rot="5400000">
                  <a:off x="1358863" y="37229"/>
                  <a:ext cx="539822" cy="465364"/>
                </a:xfrm>
                <a:prstGeom prst="triangle">
                  <a:avLst/>
                </a:prstGeom>
                <a:solidFill>
                  <a:sysClr val="window" lastClr="FFFFFF">
                    <a:lumMod val="85000"/>
                    <a:alpha val="20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sp>
              <p:nvSpPr>
                <p:cNvPr id="30" name="等腰三角形 29"/>
                <p:cNvSpPr/>
                <p:nvPr/>
              </p:nvSpPr>
              <p:spPr>
                <a:xfrm rot="5400000">
                  <a:off x="2754955" y="37229"/>
                  <a:ext cx="539822" cy="465364"/>
                </a:xfrm>
                <a:prstGeom prst="triangle">
                  <a:avLst/>
                </a:prstGeom>
                <a:solidFill>
                  <a:sysClr val="window" lastClr="FFFFFF">
                    <a:lumMod val="85000"/>
                    <a:alpha val="20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sp>
              <p:nvSpPr>
                <p:cNvPr id="31" name="等腰三角形 30"/>
                <p:cNvSpPr/>
                <p:nvPr/>
              </p:nvSpPr>
              <p:spPr>
                <a:xfrm rot="5400000">
                  <a:off x="1824228" y="34811"/>
                  <a:ext cx="539822" cy="465365"/>
                </a:xfrm>
                <a:prstGeom prst="triangle">
                  <a:avLst/>
                </a:prstGeom>
                <a:solidFill>
                  <a:sysClr val="window" lastClr="FFFFFF">
                    <a:lumMod val="85000"/>
                    <a:alpha val="40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grpSp>
          <p:grpSp>
            <p:nvGrpSpPr>
              <p:cNvPr id="21" name="组合 20"/>
              <p:cNvGrpSpPr/>
              <p:nvPr/>
            </p:nvGrpSpPr>
            <p:grpSpPr>
              <a:xfrm>
                <a:off x="0" y="539750"/>
                <a:ext cx="2326820" cy="539822"/>
                <a:chOff x="0" y="0"/>
                <a:chExt cx="2326820" cy="539822"/>
              </a:xfrm>
              <a:grpFill/>
            </p:grpSpPr>
            <p:sp>
              <p:nvSpPr>
                <p:cNvPr id="22" name="等腰三角形 21"/>
                <p:cNvSpPr/>
                <p:nvPr/>
              </p:nvSpPr>
              <p:spPr>
                <a:xfrm rot="5400000">
                  <a:off x="-37229" y="37229"/>
                  <a:ext cx="539822" cy="465364"/>
                </a:xfrm>
                <a:prstGeom prst="triangle">
                  <a:avLst/>
                </a:prstGeom>
                <a:solidFill>
                  <a:sysClr val="window" lastClr="FFFFFF">
                    <a:lumMod val="85000"/>
                    <a:alpha val="40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sp>
              <p:nvSpPr>
                <p:cNvPr id="23" name="等腰三角形 22"/>
                <p:cNvSpPr/>
                <p:nvPr/>
              </p:nvSpPr>
              <p:spPr>
                <a:xfrm rot="5400000">
                  <a:off x="428135" y="37229"/>
                  <a:ext cx="539822" cy="465364"/>
                </a:xfrm>
                <a:prstGeom prst="triangle">
                  <a:avLst/>
                </a:prstGeom>
                <a:solidFill>
                  <a:sysClr val="window" lastClr="FFFFFF">
                    <a:lumMod val="85000"/>
                    <a:alpha val="40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sp>
              <p:nvSpPr>
                <p:cNvPr id="24" name="等腰三角形 23"/>
                <p:cNvSpPr/>
                <p:nvPr/>
              </p:nvSpPr>
              <p:spPr>
                <a:xfrm rot="5400000">
                  <a:off x="1358863" y="37229"/>
                  <a:ext cx="539822" cy="465364"/>
                </a:xfrm>
                <a:prstGeom prst="triangle">
                  <a:avLst/>
                </a:prstGeom>
                <a:solidFill>
                  <a:sysClr val="window" lastClr="FFFFFF">
                    <a:lumMod val="85000"/>
                    <a:alpha val="40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sp>
              <p:nvSpPr>
                <p:cNvPr id="25" name="等腰三角形 24"/>
                <p:cNvSpPr/>
                <p:nvPr/>
              </p:nvSpPr>
              <p:spPr>
                <a:xfrm rot="5400000">
                  <a:off x="1824227" y="37229"/>
                  <a:ext cx="539822" cy="465364"/>
                </a:xfrm>
                <a:prstGeom prst="triangle">
                  <a:avLst/>
                </a:prstGeom>
                <a:solidFill>
                  <a:sysClr val="window" lastClr="FFFFFF">
                    <a:lumMod val="85000"/>
                    <a:alpha val="40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grpSp>
        </p:grpSp>
        <p:sp>
          <p:nvSpPr>
            <p:cNvPr id="8" name="等腰三角形 7"/>
            <p:cNvSpPr/>
            <p:nvPr/>
          </p:nvSpPr>
          <p:spPr>
            <a:xfrm rot="5400000">
              <a:off x="6244415" y="-263141"/>
              <a:ext cx="562907" cy="486788"/>
            </a:xfrm>
            <a:prstGeom prst="triangle">
              <a:avLst/>
            </a:prstGeom>
            <a:solidFill>
              <a:sysClr val="window" lastClr="FFFFFF">
                <a:lumMod val="85000"/>
                <a:alpha val="30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sp>
          <p:nvSpPr>
            <p:cNvPr id="9" name="等腰三角形 8"/>
            <p:cNvSpPr/>
            <p:nvPr/>
          </p:nvSpPr>
          <p:spPr>
            <a:xfrm rot="5400000">
              <a:off x="6730078" y="-262015"/>
              <a:ext cx="562907" cy="484535"/>
            </a:xfrm>
            <a:prstGeom prst="triangle">
              <a:avLst/>
            </a:prstGeom>
            <a:solidFill>
              <a:sysClr val="window" lastClr="FFFFFF">
                <a:lumMod val="85000"/>
                <a:alpha val="20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sp>
          <p:nvSpPr>
            <p:cNvPr id="10" name="等腰三角形 9"/>
            <p:cNvSpPr/>
            <p:nvPr/>
          </p:nvSpPr>
          <p:spPr>
            <a:xfrm rot="5400000">
              <a:off x="7214611" y="-262014"/>
              <a:ext cx="562907" cy="484534"/>
            </a:xfrm>
            <a:prstGeom prst="triangle">
              <a:avLst/>
            </a:prstGeom>
            <a:solidFill>
              <a:sysClr val="window" lastClr="FFFFFF">
                <a:lumMod val="85000"/>
                <a:alpha val="40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sp>
          <p:nvSpPr>
            <p:cNvPr id="11" name="等腰三角形 10"/>
            <p:cNvSpPr/>
            <p:nvPr/>
          </p:nvSpPr>
          <p:spPr>
            <a:xfrm rot="5400000">
              <a:off x="8184807" y="-263141"/>
              <a:ext cx="562907" cy="486788"/>
            </a:xfrm>
            <a:prstGeom prst="triangle">
              <a:avLst/>
            </a:prstGeom>
            <a:solidFill>
              <a:sysClr val="window" lastClr="FFFFFF">
                <a:lumMod val="85000"/>
                <a:alpha val="20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sp>
          <p:nvSpPr>
            <p:cNvPr id="12" name="等腰三角形 11"/>
            <p:cNvSpPr/>
            <p:nvPr/>
          </p:nvSpPr>
          <p:spPr>
            <a:xfrm rot="5400000">
              <a:off x="6244417" y="299765"/>
              <a:ext cx="562906" cy="486788"/>
            </a:xfrm>
            <a:prstGeom prst="triangle">
              <a:avLst/>
            </a:prstGeom>
            <a:solidFill>
              <a:sysClr val="window" lastClr="FFFFFF">
                <a:lumMod val="85000"/>
                <a:alpha val="30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sp>
          <p:nvSpPr>
            <p:cNvPr id="13" name="等腰三角形 12"/>
            <p:cNvSpPr/>
            <p:nvPr/>
          </p:nvSpPr>
          <p:spPr>
            <a:xfrm rot="5400000">
              <a:off x="6730079" y="300891"/>
              <a:ext cx="562906" cy="484535"/>
            </a:xfrm>
            <a:prstGeom prst="triangle">
              <a:avLst/>
            </a:prstGeom>
            <a:solidFill>
              <a:sysClr val="window" lastClr="FFFFFF">
                <a:lumMod val="85000"/>
                <a:alpha val="20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sp>
          <p:nvSpPr>
            <p:cNvPr id="14" name="等腰三角形 13"/>
            <p:cNvSpPr/>
            <p:nvPr/>
          </p:nvSpPr>
          <p:spPr>
            <a:xfrm rot="5400000">
              <a:off x="7699148" y="300891"/>
              <a:ext cx="562906" cy="484535"/>
            </a:xfrm>
            <a:prstGeom prst="triangle">
              <a:avLst/>
            </a:prstGeom>
            <a:solidFill>
              <a:sysClr val="window" lastClr="FFFFFF">
                <a:lumMod val="85000"/>
                <a:alpha val="30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sp>
          <p:nvSpPr>
            <p:cNvPr id="15" name="等腰三角形 14"/>
            <p:cNvSpPr/>
            <p:nvPr/>
          </p:nvSpPr>
          <p:spPr>
            <a:xfrm rot="5400000">
              <a:off x="8670469" y="300892"/>
              <a:ext cx="562906" cy="484534"/>
            </a:xfrm>
            <a:prstGeom prst="triangle">
              <a:avLst/>
            </a:prstGeom>
            <a:solidFill>
              <a:sysClr val="window" lastClr="FFFFFF">
                <a:lumMod val="85000"/>
                <a:alpha val="22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sp>
          <p:nvSpPr>
            <p:cNvPr id="16" name="任意多边形 19"/>
            <p:cNvSpPr/>
            <p:nvPr/>
          </p:nvSpPr>
          <p:spPr>
            <a:xfrm rot="5400000">
              <a:off x="7835909" y="727035"/>
              <a:ext cx="273604" cy="468759"/>
            </a:xfrm>
            <a:custGeom>
              <a:avLst/>
              <a:gdLst>
                <a:gd name="connsiteX0" fmla="*/ 0 w 271879"/>
                <a:gd name="connsiteY0" fmla="*/ 468755 h 468755"/>
                <a:gd name="connsiteX1" fmla="*/ 271879 w 271879"/>
                <a:gd name="connsiteY1" fmla="*/ 0 h 468755"/>
                <a:gd name="connsiteX2" fmla="*/ 271879 w 271879"/>
                <a:gd name="connsiteY2" fmla="*/ 468755 h 468755"/>
              </a:gdLst>
              <a:ahLst/>
              <a:cxnLst>
                <a:cxn ang="0">
                  <a:pos x="connsiteX0" y="connsiteY0"/>
                </a:cxn>
                <a:cxn ang="0">
                  <a:pos x="connsiteX1" y="connsiteY1"/>
                </a:cxn>
                <a:cxn ang="0">
                  <a:pos x="connsiteX2" y="connsiteY2"/>
                </a:cxn>
              </a:cxnLst>
              <a:rect l="l" t="t" r="r" b="b"/>
              <a:pathLst>
                <a:path w="271879" h="468755">
                  <a:moveTo>
                    <a:pt x="0" y="468755"/>
                  </a:moveTo>
                  <a:lnTo>
                    <a:pt x="271879" y="0"/>
                  </a:lnTo>
                  <a:lnTo>
                    <a:pt x="271879" y="468755"/>
                  </a:lnTo>
                  <a:close/>
                </a:path>
              </a:pathLst>
            </a:custGeom>
            <a:solidFill>
              <a:sysClr val="window" lastClr="FFFFFF">
                <a:lumMod val="85000"/>
                <a:alpha val="30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sp>
          <p:nvSpPr>
            <p:cNvPr id="17" name="任意多边形 20"/>
            <p:cNvSpPr/>
            <p:nvPr/>
          </p:nvSpPr>
          <p:spPr>
            <a:xfrm rot="5400000" flipH="1" flipV="1">
              <a:off x="7852807" y="-390929"/>
              <a:ext cx="271362" cy="468759"/>
            </a:xfrm>
            <a:custGeom>
              <a:avLst/>
              <a:gdLst>
                <a:gd name="connsiteX0" fmla="*/ 0 w 271879"/>
                <a:gd name="connsiteY0" fmla="*/ 468755 h 468755"/>
                <a:gd name="connsiteX1" fmla="*/ 271879 w 271879"/>
                <a:gd name="connsiteY1" fmla="*/ 0 h 468755"/>
                <a:gd name="connsiteX2" fmla="*/ 271879 w 271879"/>
                <a:gd name="connsiteY2" fmla="*/ 468755 h 468755"/>
              </a:gdLst>
              <a:ahLst/>
              <a:cxnLst>
                <a:cxn ang="0">
                  <a:pos x="connsiteX0" y="connsiteY0"/>
                </a:cxn>
                <a:cxn ang="0">
                  <a:pos x="connsiteX1" y="connsiteY1"/>
                </a:cxn>
                <a:cxn ang="0">
                  <a:pos x="connsiteX2" y="connsiteY2"/>
                </a:cxn>
              </a:cxnLst>
              <a:rect l="l" t="t" r="r" b="b"/>
              <a:pathLst>
                <a:path w="271879" h="468755">
                  <a:moveTo>
                    <a:pt x="0" y="468755"/>
                  </a:moveTo>
                  <a:lnTo>
                    <a:pt x="271879" y="0"/>
                  </a:lnTo>
                  <a:lnTo>
                    <a:pt x="271879" y="468755"/>
                  </a:lnTo>
                  <a:close/>
                </a:path>
              </a:pathLst>
            </a:custGeom>
            <a:solidFill>
              <a:sysClr val="window" lastClr="FFFFFF">
                <a:lumMod val="85000"/>
                <a:alpha val="30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sp>
          <p:nvSpPr>
            <p:cNvPr id="18" name="任意多边形 21"/>
            <p:cNvSpPr/>
            <p:nvPr/>
          </p:nvSpPr>
          <p:spPr>
            <a:xfrm rot="5400000" flipH="1" flipV="1">
              <a:off x="7368272" y="-390929"/>
              <a:ext cx="271362" cy="468759"/>
            </a:xfrm>
            <a:custGeom>
              <a:avLst/>
              <a:gdLst>
                <a:gd name="connsiteX0" fmla="*/ 0 w 271879"/>
                <a:gd name="connsiteY0" fmla="*/ 468755 h 468755"/>
                <a:gd name="connsiteX1" fmla="*/ 271879 w 271879"/>
                <a:gd name="connsiteY1" fmla="*/ 0 h 468755"/>
                <a:gd name="connsiteX2" fmla="*/ 271879 w 271879"/>
                <a:gd name="connsiteY2" fmla="*/ 468755 h 468755"/>
              </a:gdLst>
              <a:ahLst/>
              <a:cxnLst>
                <a:cxn ang="0">
                  <a:pos x="connsiteX0" y="connsiteY0"/>
                </a:cxn>
                <a:cxn ang="0">
                  <a:pos x="connsiteX1" y="connsiteY1"/>
                </a:cxn>
                <a:cxn ang="0">
                  <a:pos x="connsiteX2" y="connsiteY2"/>
                </a:cxn>
              </a:cxnLst>
              <a:rect l="l" t="t" r="r" b="b"/>
              <a:pathLst>
                <a:path w="271879" h="468755">
                  <a:moveTo>
                    <a:pt x="0" y="468755"/>
                  </a:moveTo>
                  <a:lnTo>
                    <a:pt x="271879" y="0"/>
                  </a:lnTo>
                  <a:lnTo>
                    <a:pt x="271879" y="468755"/>
                  </a:lnTo>
                  <a:close/>
                </a:path>
              </a:pathLst>
            </a:custGeom>
            <a:solidFill>
              <a:sysClr val="window" lastClr="FFFFFF">
                <a:lumMod val="85000"/>
                <a:alpha val="40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sp>
          <p:nvSpPr>
            <p:cNvPr id="19" name="任意多边形 22"/>
            <p:cNvSpPr/>
            <p:nvPr/>
          </p:nvSpPr>
          <p:spPr>
            <a:xfrm rot="5400000" flipH="1" flipV="1">
              <a:off x="8339595" y="-390929"/>
              <a:ext cx="271362" cy="468759"/>
            </a:xfrm>
            <a:custGeom>
              <a:avLst/>
              <a:gdLst>
                <a:gd name="connsiteX0" fmla="*/ 0 w 271879"/>
                <a:gd name="connsiteY0" fmla="*/ 468755 h 468755"/>
                <a:gd name="connsiteX1" fmla="*/ 271879 w 271879"/>
                <a:gd name="connsiteY1" fmla="*/ 0 h 468755"/>
                <a:gd name="connsiteX2" fmla="*/ 271879 w 271879"/>
                <a:gd name="connsiteY2" fmla="*/ 468755 h 468755"/>
              </a:gdLst>
              <a:ahLst/>
              <a:cxnLst>
                <a:cxn ang="0">
                  <a:pos x="connsiteX0" y="connsiteY0"/>
                </a:cxn>
                <a:cxn ang="0">
                  <a:pos x="connsiteX1" y="connsiteY1"/>
                </a:cxn>
                <a:cxn ang="0">
                  <a:pos x="connsiteX2" y="connsiteY2"/>
                </a:cxn>
              </a:cxnLst>
              <a:rect l="l" t="t" r="r" b="b"/>
              <a:pathLst>
                <a:path w="271879" h="468755">
                  <a:moveTo>
                    <a:pt x="0" y="468755"/>
                  </a:moveTo>
                  <a:lnTo>
                    <a:pt x="271879" y="0"/>
                  </a:lnTo>
                  <a:lnTo>
                    <a:pt x="271879" y="468755"/>
                  </a:lnTo>
                  <a:close/>
                </a:path>
              </a:pathLst>
            </a:custGeom>
            <a:solidFill>
              <a:sysClr val="window" lastClr="FFFFFF">
                <a:lumMod val="85000"/>
                <a:alpha val="40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grpSp>
      <p:sp>
        <p:nvSpPr>
          <p:cNvPr id="32" name="文本占位符 6"/>
          <p:cNvSpPr>
            <a:spLocks noGrp="1"/>
          </p:cNvSpPr>
          <p:nvPr>
            <p:ph type="body" sz="quarter" idx="13" hasCustomPrompt="1"/>
          </p:nvPr>
        </p:nvSpPr>
        <p:spPr>
          <a:xfrm>
            <a:off x="529319" y="192177"/>
            <a:ext cx="5581650" cy="228600"/>
          </a:xfrm>
        </p:spPr>
        <p:txBody>
          <a:bodyPr>
            <a:normAutofit/>
          </a:bodyPr>
          <a:lstStyle>
            <a:lvl1pPr marL="0" indent="0">
              <a:buNone/>
              <a:defRPr sz="1200" b="1">
                <a:solidFill>
                  <a:schemeClr val="tx1">
                    <a:lumMod val="65000"/>
                    <a:lumOff val="35000"/>
                  </a:schemeClr>
                </a:solidFill>
                <a:latin typeface="华文细黑" panose="02010600040101010101" pitchFamily="2" charset="-122"/>
                <a:ea typeface="华文细黑" panose="02010600040101010101" pitchFamily="2" charset="-122"/>
              </a:defRPr>
            </a:lvl1pPr>
          </a:lstStyle>
          <a:p>
            <a:pPr lvl="0"/>
            <a:r>
              <a:rPr lang="zh-CN" altLang="en-US" dirty="0"/>
              <a:t>编辑母版文本样式</a:t>
            </a:r>
          </a:p>
        </p:txBody>
      </p:sp>
      <p:sp>
        <p:nvSpPr>
          <p:cNvPr id="33" name="文本框 32"/>
          <p:cNvSpPr txBox="1"/>
          <p:nvPr userDrawn="1"/>
        </p:nvSpPr>
        <p:spPr>
          <a:xfrm>
            <a:off x="8179801" y="181291"/>
            <a:ext cx="716863" cy="300082"/>
          </a:xfrm>
          <a:prstGeom prst="rect">
            <a:avLst/>
          </a:prstGeom>
          <a:noFill/>
        </p:spPr>
        <p:txBody>
          <a:bodyPr wrap="none" rtlCol="0">
            <a:spAutoFit/>
          </a:bodyPr>
          <a:lstStyle/>
          <a:p>
            <a:r>
              <a:rPr lang="en-US" altLang="zh-CN" sz="1350" b="1" dirty="0">
                <a:solidFill>
                  <a:schemeClr val="tx1">
                    <a:lumMod val="65000"/>
                    <a:lumOff val="35000"/>
                  </a:schemeClr>
                </a:solidFill>
                <a:latin typeface="华文细黑" panose="02010600040101010101" pitchFamily="2" charset="-122"/>
                <a:ea typeface="华文细黑" panose="02010600040101010101" pitchFamily="2" charset="-122"/>
              </a:rPr>
              <a:t>LOGO</a:t>
            </a:r>
            <a:endParaRPr lang="zh-CN" altLang="en-US" sz="1350" b="1" dirty="0">
              <a:solidFill>
                <a:schemeClr val="tx1">
                  <a:lumMod val="65000"/>
                  <a:lumOff val="35000"/>
                </a:schemeClr>
              </a:solidFill>
              <a:latin typeface="华文细黑" panose="02010600040101010101" pitchFamily="2" charset="-122"/>
              <a:ea typeface="华文细黑" panose="02010600040101010101" pitchFamily="2" charset="-122"/>
            </a:endParaRPr>
          </a:p>
        </p:txBody>
      </p:sp>
      <p:sp>
        <p:nvSpPr>
          <p:cNvPr id="34" name="任意多边形 3"/>
          <p:cNvSpPr/>
          <p:nvPr userDrawn="1"/>
        </p:nvSpPr>
        <p:spPr bwMode="auto">
          <a:xfrm>
            <a:off x="226814" y="175041"/>
            <a:ext cx="241102" cy="241101"/>
          </a:xfrm>
          <a:custGeom>
            <a:avLst/>
            <a:gdLst>
              <a:gd name="connsiteX0" fmla="*/ 157734 w 406400"/>
              <a:gd name="connsiteY0" fmla="*/ 125523 h 406400"/>
              <a:gd name="connsiteX1" fmla="*/ 157734 w 406400"/>
              <a:gd name="connsiteY1" fmla="*/ 285067 h 406400"/>
              <a:gd name="connsiteX2" fmla="*/ 295272 w 406400"/>
              <a:gd name="connsiteY2" fmla="*/ 205295 h 406400"/>
              <a:gd name="connsiteX3" fmla="*/ 203200 w 406400"/>
              <a:gd name="connsiteY3" fmla="*/ 0 h 406400"/>
              <a:gd name="connsiteX4" fmla="*/ 406400 w 406400"/>
              <a:gd name="connsiteY4" fmla="*/ 203200 h 406400"/>
              <a:gd name="connsiteX5" fmla="*/ 203200 w 406400"/>
              <a:gd name="connsiteY5" fmla="*/ 406400 h 406400"/>
              <a:gd name="connsiteX6" fmla="*/ 0 w 406400"/>
              <a:gd name="connsiteY6" fmla="*/ 203200 h 406400"/>
              <a:gd name="connsiteX7" fmla="*/ 203200 w 406400"/>
              <a:gd name="connsiteY7" fmla="*/ 0 h 40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6400" h="406400">
                <a:moveTo>
                  <a:pt x="157734" y="125523"/>
                </a:moveTo>
                <a:lnTo>
                  <a:pt x="157734" y="285067"/>
                </a:lnTo>
                <a:lnTo>
                  <a:pt x="295272" y="205295"/>
                </a:lnTo>
                <a:close/>
                <a:moveTo>
                  <a:pt x="203200" y="0"/>
                </a:moveTo>
                <a:cubicBezTo>
                  <a:pt x="315424" y="0"/>
                  <a:pt x="406400" y="90976"/>
                  <a:pt x="406400" y="203200"/>
                </a:cubicBezTo>
                <a:cubicBezTo>
                  <a:pt x="406400" y="315424"/>
                  <a:pt x="315424" y="406400"/>
                  <a:pt x="203200" y="406400"/>
                </a:cubicBezTo>
                <a:cubicBezTo>
                  <a:pt x="90976" y="406400"/>
                  <a:pt x="0" y="315424"/>
                  <a:pt x="0" y="203200"/>
                </a:cubicBezTo>
                <a:cubicBezTo>
                  <a:pt x="0" y="90976"/>
                  <a:pt x="90976" y="0"/>
                  <a:pt x="2032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Tree>
  </p:cSld>
  <p:clrMapOvr>
    <a:masterClrMapping/>
  </p:clrMapOvr>
  <mc:AlternateContent xmlns:mc="http://schemas.openxmlformats.org/markup-compatibility/2006" xmlns:p14="http://schemas.microsoft.com/office/powerpoint/2010/main">
    <mc:Choice Requires="p14">
      <p:transition p14:dur="250">
        <p:split orient="vert"/>
      </p:transition>
    </mc:Choice>
    <mc:Fallback xmlns="">
      <p:transition>
        <p:split orient="vert"/>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2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E488186-057B-4C07-9498-7E532EDAF008}" type="datetimeFigureOut">
              <a:rPr lang="zh-CN" altLang="en-US" smtClean="0"/>
              <a:t>2018/10/18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8EBAC42-A521-4D5E-92BE-1A16F8ACC2A7}" type="slidenum">
              <a:rPr lang="zh-CN" altLang="en-US" smtClean="0"/>
              <a:t>‹#›</a:t>
            </a:fld>
            <a:endParaRPr lang="zh-CN" altLang="en-US"/>
          </a:p>
        </p:txBody>
      </p:sp>
      <p:sp>
        <p:nvSpPr>
          <p:cNvPr id="5" name="矩形 4"/>
          <p:cNvSpPr/>
          <p:nvPr userDrawn="1"/>
        </p:nvSpPr>
        <p:spPr>
          <a:xfrm>
            <a:off x="0" y="1"/>
            <a:ext cx="9144000" cy="556262"/>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grpSp>
        <p:nvGrpSpPr>
          <p:cNvPr id="6" name="组合 9"/>
          <p:cNvGrpSpPr/>
          <p:nvPr userDrawn="1"/>
        </p:nvGrpSpPr>
        <p:grpSpPr bwMode="auto">
          <a:xfrm>
            <a:off x="7905749" y="-11906"/>
            <a:ext cx="1219200" cy="508067"/>
            <a:chOff x="5797942" y="-301201"/>
            <a:chExt cx="3396247" cy="1408387"/>
          </a:xfrm>
        </p:grpSpPr>
        <p:grpSp>
          <p:nvGrpSpPr>
            <p:cNvPr id="7" name="组合 6"/>
            <p:cNvGrpSpPr/>
            <p:nvPr/>
          </p:nvGrpSpPr>
          <p:grpSpPr>
            <a:xfrm flipH="1">
              <a:off x="5797942" y="-20872"/>
              <a:ext cx="3396247" cy="1128058"/>
              <a:chOff x="0" y="-2417"/>
              <a:chExt cx="3257548" cy="1081989"/>
            </a:xfrm>
            <a:solidFill>
              <a:sysClr val="window" lastClr="FFFFFF">
                <a:lumMod val="85000"/>
                <a:alpha val="75000"/>
              </a:sysClr>
            </a:solidFill>
          </p:grpSpPr>
          <p:grpSp>
            <p:nvGrpSpPr>
              <p:cNvPr id="20" name="组合 19"/>
              <p:cNvGrpSpPr/>
              <p:nvPr/>
            </p:nvGrpSpPr>
            <p:grpSpPr>
              <a:xfrm>
                <a:off x="0" y="-2417"/>
                <a:ext cx="3257548" cy="542240"/>
                <a:chOff x="0" y="-2417"/>
                <a:chExt cx="3257548" cy="542240"/>
              </a:xfrm>
              <a:grpFill/>
            </p:grpSpPr>
            <p:sp>
              <p:nvSpPr>
                <p:cNvPr id="26" name="等腰三角形 25"/>
                <p:cNvSpPr/>
                <p:nvPr/>
              </p:nvSpPr>
              <p:spPr>
                <a:xfrm rot="5400000">
                  <a:off x="-37229" y="37229"/>
                  <a:ext cx="539822" cy="465364"/>
                </a:xfrm>
                <a:prstGeom prst="triangle">
                  <a:avLst/>
                </a:prstGeom>
                <a:solidFill>
                  <a:sysClr val="window" lastClr="FFFFFF">
                    <a:lumMod val="85000"/>
                    <a:alpha val="50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sp>
              <p:nvSpPr>
                <p:cNvPr id="27" name="等腰三角形 26"/>
                <p:cNvSpPr/>
                <p:nvPr/>
              </p:nvSpPr>
              <p:spPr>
                <a:xfrm rot="5400000">
                  <a:off x="428135" y="37229"/>
                  <a:ext cx="539822" cy="465365"/>
                </a:xfrm>
                <a:prstGeom prst="triangle">
                  <a:avLst/>
                </a:prstGeom>
                <a:solidFill>
                  <a:sysClr val="window" lastClr="FFFFFF">
                    <a:lumMod val="85000"/>
                    <a:alpha val="40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sp>
              <p:nvSpPr>
                <p:cNvPr id="28" name="等腰三角形 27"/>
                <p:cNvSpPr/>
                <p:nvPr/>
              </p:nvSpPr>
              <p:spPr>
                <a:xfrm rot="5400000">
                  <a:off x="893498" y="37229"/>
                  <a:ext cx="539822" cy="465365"/>
                </a:xfrm>
                <a:prstGeom prst="triangle">
                  <a:avLst/>
                </a:prstGeom>
                <a:solidFill>
                  <a:sysClr val="window" lastClr="FFFFFF">
                    <a:lumMod val="85000"/>
                    <a:alpha val="50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sp>
              <p:nvSpPr>
                <p:cNvPr id="29" name="等腰三角形 28"/>
                <p:cNvSpPr/>
                <p:nvPr/>
              </p:nvSpPr>
              <p:spPr>
                <a:xfrm rot="5400000">
                  <a:off x="1358863" y="37229"/>
                  <a:ext cx="539822" cy="465364"/>
                </a:xfrm>
                <a:prstGeom prst="triangle">
                  <a:avLst/>
                </a:prstGeom>
                <a:solidFill>
                  <a:sysClr val="window" lastClr="FFFFFF">
                    <a:lumMod val="85000"/>
                    <a:alpha val="20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sp>
              <p:nvSpPr>
                <p:cNvPr id="30" name="等腰三角形 29"/>
                <p:cNvSpPr/>
                <p:nvPr/>
              </p:nvSpPr>
              <p:spPr>
                <a:xfrm rot="5400000">
                  <a:off x="2754955" y="37229"/>
                  <a:ext cx="539822" cy="465364"/>
                </a:xfrm>
                <a:prstGeom prst="triangle">
                  <a:avLst/>
                </a:prstGeom>
                <a:solidFill>
                  <a:sysClr val="window" lastClr="FFFFFF">
                    <a:lumMod val="85000"/>
                    <a:alpha val="20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sp>
              <p:nvSpPr>
                <p:cNvPr id="31" name="等腰三角形 30"/>
                <p:cNvSpPr/>
                <p:nvPr/>
              </p:nvSpPr>
              <p:spPr>
                <a:xfrm rot="5400000">
                  <a:off x="1824228" y="34811"/>
                  <a:ext cx="539822" cy="465365"/>
                </a:xfrm>
                <a:prstGeom prst="triangle">
                  <a:avLst/>
                </a:prstGeom>
                <a:solidFill>
                  <a:sysClr val="window" lastClr="FFFFFF">
                    <a:lumMod val="85000"/>
                    <a:alpha val="40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grpSp>
          <p:grpSp>
            <p:nvGrpSpPr>
              <p:cNvPr id="21" name="组合 20"/>
              <p:cNvGrpSpPr/>
              <p:nvPr/>
            </p:nvGrpSpPr>
            <p:grpSpPr>
              <a:xfrm>
                <a:off x="0" y="539750"/>
                <a:ext cx="2326820" cy="539822"/>
                <a:chOff x="0" y="0"/>
                <a:chExt cx="2326820" cy="539822"/>
              </a:xfrm>
              <a:grpFill/>
            </p:grpSpPr>
            <p:sp>
              <p:nvSpPr>
                <p:cNvPr id="22" name="等腰三角形 21"/>
                <p:cNvSpPr/>
                <p:nvPr/>
              </p:nvSpPr>
              <p:spPr>
                <a:xfrm rot="5400000">
                  <a:off x="-37229" y="37229"/>
                  <a:ext cx="539822" cy="465364"/>
                </a:xfrm>
                <a:prstGeom prst="triangle">
                  <a:avLst/>
                </a:prstGeom>
                <a:solidFill>
                  <a:sysClr val="window" lastClr="FFFFFF">
                    <a:lumMod val="85000"/>
                    <a:alpha val="40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sp>
              <p:nvSpPr>
                <p:cNvPr id="23" name="等腰三角形 22"/>
                <p:cNvSpPr/>
                <p:nvPr/>
              </p:nvSpPr>
              <p:spPr>
                <a:xfrm rot="5400000">
                  <a:off x="428135" y="37229"/>
                  <a:ext cx="539822" cy="465364"/>
                </a:xfrm>
                <a:prstGeom prst="triangle">
                  <a:avLst/>
                </a:prstGeom>
                <a:solidFill>
                  <a:sysClr val="window" lastClr="FFFFFF">
                    <a:lumMod val="85000"/>
                    <a:alpha val="40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sp>
              <p:nvSpPr>
                <p:cNvPr id="24" name="等腰三角形 23"/>
                <p:cNvSpPr/>
                <p:nvPr/>
              </p:nvSpPr>
              <p:spPr>
                <a:xfrm rot="5400000">
                  <a:off x="1358863" y="37229"/>
                  <a:ext cx="539822" cy="465364"/>
                </a:xfrm>
                <a:prstGeom prst="triangle">
                  <a:avLst/>
                </a:prstGeom>
                <a:solidFill>
                  <a:sysClr val="window" lastClr="FFFFFF">
                    <a:lumMod val="85000"/>
                    <a:alpha val="40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sp>
              <p:nvSpPr>
                <p:cNvPr id="25" name="等腰三角形 24"/>
                <p:cNvSpPr/>
                <p:nvPr/>
              </p:nvSpPr>
              <p:spPr>
                <a:xfrm rot="5400000">
                  <a:off x="1824227" y="37229"/>
                  <a:ext cx="539822" cy="465364"/>
                </a:xfrm>
                <a:prstGeom prst="triangle">
                  <a:avLst/>
                </a:prstGeom>
                <a:solidFill>
                  <a:sysClr val="window" lastClr="FFFFFF">
                    <a:lumMod val="85000"/>
                    <a:alpha val="40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grpSp>
        </p:grpSp>
        <p:sp>
          <p:nvSpPr>
            <p:cNvPr id="8" name="等腰三角形 7"/>
            <p:cNvSpPr/>
            <p:nvPr/>
          </p:nvSpPr>
          <p:spPr>
            <a:xfrm rot="5400000">
              <a:off x="6244415" y="-263141"/>
              <a:ext cx="562907" cy="486788"/>
            </a:xfrm>
            <a:prstGeom prst="triangle">
              <a:avLst/>
            </a:prstGeom>
            <a:solidFill>
              <a:sysClr val="window" lastClr="FFFFFF">
                <a:lumMod val="85000"/>
                <a:alpha val="30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sp>
          <p:nvSpPr>
            <p:cNvPr id="9" name="等腰三角形 8"/>
            <p:cNvSpPr/>
            <p:nvPr/>
          </p:nvSpPr>
          <p:spPr>
            <a:xfrm rot="5400000">
              <a:off x="6730078" y="-262015"/>
              <a:ext cx="562907" cy="484535"/>
            </a:xfrm>
            <a:prstGeom prst="triangle">
              <a:avLst/>
            </a:prstGeom>
            <a:solidFill>
              <a:sysClr val="window" lastClr="FFFFFF">
                <a:lumMod val="85000"/>
                <a:alpha val="20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sp>
          <p:nvSpPr>
            <p:cNvPr id="10" name="等腰三角形 9"/>
            <p:cNvSpPr/>
            <p:nvPr/>
          </p:nvSpPr>
          <p:spPr>
            <a:xfrm rot="5400000">
              <a:off x="7214611" y="-262014"/>
              <a:ext cx="562907" cy="484534"/>
            </a:xfrm>
            <a:prstGeom prst="triangle">
              <a:avLst/>
            </a:prstGeom>
            <a:solidFill>
              <a:sysClr val="window" lastClr="FFFFFF">
                <a:lumMod val="85000"/>
                <a:alpha val="40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sp>
          <p:nvSpPr>
            <p:cNvPr id="11" name="等腰三角形 10"/>
            <p:cNvSpPr/>
            <p:nvPr/>
          </p:nvSpPr>
          <p:spPr>
            <a:xfrm rot="5400000">
              <a:off x="8184807" y="-263141"/>
              <a:ext cx="562907" cy="486788"/>
            </a:xfrm>
            <a:prstGeom prst="triangle">
              <a:avLst/>
            </a:prstGeom>
            <a:solidFill>
              <a:sysClr val="window" lastClr="FFFFFF">
                <a:lumMod val="85000"/>
                <a:alpha val="20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sp>
          <p:nvSpPr>
            <p:cNvPr id="12" name="等腰三角形 11"/>
            <p:cNvSpPr/>
            <p:nvPr/>
          </p:nvSpPr>
          <p:spPr>
            <a:xfrm rot="5400000">
              <a:off x="6244417" y="299765"/>
              <a:ext cx="562906" cy="486788"/>
            </a:xfrm>
            <a:prstGeom prst="triangle">
              <a:avLst/>
            </a:prstGeom>
            <a:solidFill>
              <a:sysClr val="window" lastClr="FFFFFF">
                <a:lumMod val="85000"/>
                <a:alpha val="30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sp>
          <p:nvSpPr>
            <p:cNvPr id="13" name="等腰三角形 12"/>
            <p:cNvSpPr/>
            <p:nvPr/>
          </p:nvSpPr>
          <p:spPr>
            <a:xfrm rot="5400000">
              <a:off x="6730079" y="300891"/>
              <a:ext cx="562906" cy="484535"/>
            </a:xfrm>
            <a:prstGeom prst="triangle">
              <a:avLst/>
            </a:prstGeom>
            <a:solidFill>
              <a:sysClr val="window" lastClr="FFFFFF">
                <a:lumMod val="85000"/>
                <a:alpha val="20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sp>
          <p:nvSpPr>
            <p:cNvPr id="14" name="等腰三角形 13"/>
            <p:cNvSpPr/>
            <p:nvPr/>
          </p:nvSpPr>
          <p:spPr>
            <a:xfrm rot="5400000">
              <a:off x="7699148" y="300891"/>
              <a:ext cx="562906" cy="484535"/>
            </a:xfrm>
            <a:prstGeom prst="triangle">
              <a:avLst/>
            </a:prstGeom>
            <a:solidFill>
              <a:sysClr val="window" lastClr="FFFFFF">
                <a:lumMod val="85000"/>
                <a:alpha val="30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sp>
          <p:nvSpPr>
            <p:cNvPr id="15" name="等腰三角形 14"/>
            <p:cNvSpPr/>
            <p:nvPr/>
          </p:nvSpPr>
          <p:spPr>
            <a:xfrm rot="5400000">
              <a:off x="8670469" y="300892"/>
              <a:ext cx="562906" cy="484534"/>
            </a:xfrm>
            <a:prstGeom prst="triangle">
              <a:avLst/>
            </a:prstGeom>
            <a:solidFill>
              <a:sysClr val="window" lastClr="FFFFFF">
                <a:lumMod val="85000"/>
                <a:alpha val="22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sp>
          <p:nvSpPr>
            <p:cNvPr id="16" name="任意多边形 19"/>
            <p:cNvSpPr/>
            <p:nvPr/>
          </p:nvSpPr>
          <p:spPr>
            <a:xfrm rot="5400000">
              <a:off x="7835909" y="727035"/>
              <a:ext cx="273604" cy="468759"/>
            </a:xfrm>
            <a:custGeom>
              <a:avLst/>
              <a:gdLst>
                <a:gd name="connsiteX0" fmla="*/ 0 w 271879"/>
                <a:gd name="connsiteY0" fmla="*/ 468755 h 468755"/>
                <a:gd name="connsiteX1" fmla="*/ 271879 w 271879"/>
                <a:gd name="connsiteY1" fmla="*/ 0 h 468755"/>
                <a:gd name="connsiteX2" fmla="*/ 271879 w 271879"/>
                <a:gd name="connsiteY2" fmla="*/ 468755 h 468755"/>
              </a:gdLst>
              <a:ahLst/>
              <a:cxnLst>
                <a:cxn ang="0">
                  <a:pos x="connsiteX0" y="connsiteY0"/>
                </a:cxn>
                <a:cxn ang="0">
                  <a:pos x="connsiteX1" y="connsiteY1"/>
                </a:cxn>
                <a:cxn ang="0">
                  <a:pos x="connsiteX2" y="connsiteY2"/>
                </a:cxn>
              </a:cxnLst>
              <a:rect l="l" t="t" r="r" b="b"/>
              <a:pathLst>
                <a:path w="271879" h="468755">
                  <a:moveTo>
                    <a:pt x="0" y="468755"/>
                  </a:moveTo>
                  <a:lnTo>
                    <a:pt x="271879" y="0"/>
                  </a:lnTo>
                  <a:lnTo>
                    <a:pt x="271879" y="468755"/>
                  </a:lnTo>
                  <a:close/>
                </a:path>
              </a:pathLst>
            </a:custGeom>
            <a:solidFill>
              <a:sysClr val="window" lastClr="FFFFFF">
                <a:lumMod val="85000"/>
                <a:alpha val="30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sp>
          <p:nvSpPr>
            <p:cNvPr id="17" name="任意多边形 20"/>
            <p:cNvSpPr/>
            <p:nvPr/>
          </p:nvSpPr>
          <p:spPr>
            <a:xfrm rot="5400000" flipH="1" flipV="1">
              <a:off x="7852807" y="-390929"/>
              <a:ext cx="271362" cy="468759"/>
            </a:xfrm>
            <a:custGeom>
              <a:avLst/>
              <a:gdLst>
                <a:gd name="connsiteX0" fmla="*/ 0 w 271879"/>
                <a:gd name="connsiteY0" fmla="*/ 468755 h 468755"/>
                <a:gd name="connsiteX1" fmla="*/ 271879 w 271879"/>
                <a:gd name="connsiteY1" fmla="*/ 0 h 468755"/>
                <a:gd name="connsiteX2" fmla="*/ 271879 w 271879"/>
                <a:gd name="connsiteY2" fmla="*/ 468755 h 468755"/>
              </a:gdLst>
              <a:ahLst/>
              <a:cxnLst>
                <a:cxn ang="0">
                  <a:pos x="connsiteX0" y="connsiteY0"/>
                </a:cxn>
                <a:cxn ang="0">
                  <a:pos x="connsiteX1" y="connsiteY1"/>
                </a:cxn>
                <a:cxn ang="0">
                  <a:pos x="connsiteX2" y="connsiteY2"/>
                </a:cxn>
              </a:cxnLst>
              <a:rect l="l" t="t" r="r" b="b"/>
              <a:pathLst>
                <a:path w="271879" h="468755">
                  <a:moveTo>
                    <a:pt x="0" y="468755"/>
                  </a:moveTo>
                  <a:lnTo>
                    <a:pt x="271879" y="0"/>
                  </a:lnTo>
                  <a:lnTo>
                    <a:pt x="271879" y="468755"/>
                  </a:lnTo>
                  <a:close/>
                </a:path>
              </a:pathLst>
            </a:custGeom>
            <a:solidFill>
              <a:sysClr val="window" lastClr="FFFFFF">
                <a:lumMod val="85000"/>
                <a:alpha val="30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sp>
          <p:nvSpPr>
            <p:cNvPr id="18" name="任意多边形 21"/>
            <p:cNvSpPr/>
            <p:nvPr/>
          </p:nvSpPr>
          <p:spPr>
            <a:xfrm rot="5400000" flipH="1" flipV="1">
              <a:off x="7368272" y="-390929"/>
              <a:ext cx="271362" cy="468759"/>
            </a:xfrm>
            <a:custGeom>
              <a:avLst/>
              <a:gdLst>
                <a:gd name="connsiteX0" fmla="*/ 0 w 271879"/>
                <a:gd name="connsiteY0" fmla="*/ 468755 h 468755"/>
                <a:gd name="connsiteX1" fmla="*/ 271879 w 271879"/>
                <a:gd name="connsiteY1" fmla="*/ 0 h 468755"/>
                <a:gd name="connsiteX2" fmla="*/ 271879 w 271879"/>
                <a:gd name="connsiteY2" fmla="*/ 468755 h 468755"/>
              </a:gdLst>
              <a:ahLst/>
              <a:cxnLst>
                <a:cxn ang="0">
                  <a:pos x="connsiteX0" y="connsiteY0"/>
                </a:cxn>
                <a:cxn ang="0">
                  <a:pos x="connsiteX1" y="connsiteY1"/>
                </a:cxn>
                <a:cxn ang="0">
                  <a:pos x="connsiteX2" y="connsiteY2"/>
                </a:cxn>
              </a:cxnLst>
              <a:rect l="l" t="t" r="r" b="b"/>
              <a:pathLst>
                <a:path w="271879" h="468755">
                  <a:moveTo>
                    <a:pt x="0" y="468755"/>
                  </a:moveTo>
                  <a:lnTo>
                    <a:pt x="271879" y="0"/>
                  </a:lnTo>
                  <a:lnTo>
                    <a:pt x="271879" y="468755"/>
                  </a:lnTo>
                  <a:close/>
                </a:path>
              </a:pathLst>
            </a:custGeom>
            <a:solidFill>
              <a:sysClr val="window" lastClr="FFFFFF">
                <a:lumMod val="85000"/>
                <a:alpha val="40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sp>
          <p:nvSpPr>
            <p:cNvPr id="19" name="任意多边形 22"/>
            <p:cNvSpPr/>
            <p:nvPr/>
          </p:nvSpPr>
          <p:spPr>
            <a:xfrm rot="5400000" flipH="1" flipV="1">
              <a:off x="8339595" y="-390929"/>
              <a:ext cx="271362" cy="468759"/>
            </a:xfrm>
            <a:custGeom>
              <a:avLst/>
              <a:gdLst>
                <a:gd name="connsiteX0" fmla="*/ 0 w 271879"/>
                <a:gd name="connsiteY0" fmla="*/ 468755 h 468755"/>
                <a:gd name="connsiteX1" fmla="*/ 271879 w 271879"/>
                <a:gd name="connsiteY1" fmla="*/ 0 h 468755"/>
                <a:gd name="connsiteX2" fmla="*/ 271879 w 271879"/>
                <a:gd name="connsiteY2" fmla="*/ 468755 h 468755"/>
              </a:gdLst>
              <a:ahLst/>
              <a:cxnLst>
                <a:cxn ang="0">
                  <a:pos x="connsiteX0" y="connsiteY0"/>
                </a:cxn>
                <a:cxn ang="0">
                  <a:pos x="connsiteX1" y="connsiteY1"/>
                </a:cxn>
                <a:cxn ang="0">
                  <a:pos x="connsiteX2" y="connsiteY2"/>
                </a:cxn>
              </a:cxnLst>
              <a:rect l="l" t="t" r="r" b="b"/>
              <a:pathLst>
                <a:path w="271879" h="468755">
                  <a:moveTo>
                    <a:pt x="0" y="468755"/>
                  </a:moveTo>
                  <a:lnTo>
                    <a:pt x="271879" y="0"/>
                  </a:lnTo>
                  <a:lnTo>
                    <a:pt x="271879" y="468755"/>
                  </a:lnTo>
                  <a:close/>
                </a:path>
              </a:pathLst>
            </a:custGeom>
            <a:solidFill>
              <a:sysClr val="window" lastClr="FFFFFF">
                <a:lumMod val="85000"/>
                <a:alpha val="40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grpSp>
      <p:sp>
        <p:nvSpPr>
          <p:cNvPr id="32" name="文本占位符 6"/>
          <p:cNvSpPr>
            <a:spLocks noGrp="1"/>
          </p:cNvSpPr>
          <p:nvPr>
            <p:ph type="body" sz="quarter" idx="13" hasCustomPrompt="1"/>
          </p:nvPr>
        </p:nvSpPr>
        <p:spPr>
          <a:xfrm>
            <a:off x="529319" y="192177"/>
            <a:ext cx="5581650" cy="228600"/>
          </a:xfrm>
        </p:spPr>
        <p:txBody>
          <a:bodyPr>
            <a:normAutofit/>
          </a:bodyPr>
          <a:lstStyle>
            <a:lvl1pPr marL="0" indent="0">
              <a:buNone/>
              <a:defRPr sz="1200" b="1">
                <a:solidFill>
                  <a:schemeClr val="tx1">
                    <a:lumMod val="65000"/>
                    <a:lumOff val="35000"/>
                  </a:schemeClr>
                </a:solidFill>
                <a:latin typeface="华文细黑" panose="02010600040101010101" pitchFamily="2" charset="-122"/>
                <a:ea typeface="华文细黑" panose="02010600040101010101" pitchFamily="2" charset="-122"/>
              </a:defRPr>
            </a:lvl1pPr>
          </a:lstStyle>
          <a:p>
            <a:pPr lvl="0"/>
            <a:r>
              <a:rPr lang="zh-CN" altLang="en-US" dirty="0"/>
              <a:t>编辑母版文本样式</a:t>
            </a:r>
          </a:p>
        </p:txBody>
      </p:sp>
      <p:sp>
        <p:nvSpPr>
          <p:cNvPr id="33" name="文本框 32"/>
          <p:cNvSpPr txBox="1"/>
          <p:nvPr userDrawn="1"/>
        </p:nvSpPr>
        <p:spPr>
          <a:xfrm>
            <a:off x="8179801" y="181291"/>
            <a:ext cx="716863" cy="300082"/>
          </a:xfrm>
          <a:prstGeom prst="rect">
            <a:avLst/>
          </a:prstGeom>
          <a:noFill/>
        </p:spPr>
        <p:txBody>
          <a:bodyPr wrap="none" rtlCol="0">
            <a:spAutoFit/>
          </a:bodyPr>
          <a:lstStyle/>
          <a:p>
            <a:r>
              <a:rPr lang="en-US" altLang="zh-CN" sz="1350" b="1" dirty="0">
                <a:solidFill>
                  <a:schemeClr val="tx1">
                    <a:lumMod val="65000"/>
                    <a:lumOff val="35000"/>
                  </a:schemeClr>
                </a:solidFill>
                <a:latin typeface="华文细黑" panose="02010600040101010101" pitchFamily="2" charset="-122"/>
                <a:ea typeface="华文细黑" panose="02010600040101010101" pitchFamily="2" charset="-122"/>
              </a:rPr>
              <a:t>LOGO</a:t>
            </a:r>
            <a:endParaRPr lang="zh-CN" altLang="en-US" sz="1350" b="1" dirty="0">
              <a:solidFill>
                <a:schemeClr val="tx1">
                  <a:lumMod val="65000"/>
                  <a:lumOff val="35000"/>
                </a:schemeClr>
              </a:solidFill>
              <a:latin typeface="华文细黑" panose="02010600040101010101" pitchFamily="2" charset="-122"/>
              <a:ea typeface="华文细黑" panose="02010600040101010101" pitchFamily="2" charset="-122"/>
            </a:endParaRPr>
          </a:p>
        </p:txBody>
      </p:sp>
      <p:sp>
        <p:nvSpPr>
          <p:cNvPr id="34" name="任意多边形 3"/>
          <p:cNvSpPr/>
          <p:nvPr userDrawn="1"/>
        </p:nvSpPr>
        <p:spPr bwMode="auto">
          <a:xfrm>
            <a:off x="226814" y="175041"/>
            <a:ext cx="241102" cy="241101"/>
          </a:xfrm>
          <a:custGeom>
            <a:avLst/>
            <a:gdLst>
              <a:gd name="connsiteX0" fmla="*/ 157734 w 406400"/>
              <a:gd name="connsiteY0" fmla="*/ 125523 h 406400"/>
              <a:gd name="connsiteX1" fmla="*/ 157734 w 406400"/>
              <a:gd name="connsiteY1" fmla="*/ 285067 h 406400"/>
              <a:gd name="connsiteX2" fmla="*/ 295272 w 406400"/>
              <a:gd name="connsiteY2" fmla="*/ 205295 h 406400"/>
              <a:gd name="connsiteX3" fmla="*/ 203200 w 406400"/>
              <a:gd name="connsiteY3" fmla="*/ 0 h 406400"/>
              <a:gd name="connsiteX4" fmla="*/ 406400 w 406400"/>
              <a:gd name="connsiteY4" fmla="*/ 203200 h 406400"/>
              <a:gd name="connsiteX5" fmla="*/ 203200 w 406400"/>
              <a:gd name="connsiteY5" fmla="*/ 406400 h 406400"/>
              <a:gd name="connsiteX6" fmla="*/ 0 w 406400"/>
              <a:gd name="connsiteY6" fmla="*/ 203200 h 406400"/>
              <a:gd name="connsiteX7" fmla="*/ 203200 w 406400"/>
              <a:gd name="connsiteY7" fmla="*/ 0 h 40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6400" h="406400">
                <a:moveTo>
                  <a:pt x="157734" y="125523"/>
                </a:moveTo>
                <a:lnTo>
                  <a:pt x="157734" y="285067"/>
                </a:lnTo>
                <a:lnTo>
                  <a:pt x="295272" y="205295"/>
                </a:lnTo>
                <a:close/>
                <a:moveTo>
                  <a:pt x="203200" y="0"/>
                </a:moveTo>
                <a:cubicBezTo>
                  <a:pt x="315424" y="0"/>
                  <a:pt x="406400" y="90976"/>
                  <a:pt x="406400" y="203200"/>
                </a:cubicBezTo>
                <a:cubicBezTo>
                  <a:pt x="406400" y="315424"/>
                  <a:pt x="315424" y="406400"/>
                  <a:pt x="203200" y="406400"/>
                </a:cubicBezTo>
                <a:cubicBezTo>
                  <a:pt x="90976" y="406400"/>
                  <a:pt x="0" y="315424"/>
                  <a:pt x="0" y="203200"/>
                </a:cubicBezTo>
                <a:cubicBezTo>
                  <a:pt x="0" y="90976"/>
                  <a:pt x="90976" y="0"/>
                  <a:pt x="2032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Tree>
  </p:cSld>
  <p:clrMapOvr>
    <a:masterClrMapping/>
  </p:clrMapOvr>
  <mc:AlternateContent xmlns:mc="http://schemas.openxmlformats.org/markup-compatibility/2006" xmlns:p14="http://schemas.microsoft.com/office/powerpoint/2010/main">
    <mc:Choice Requires="p14">
      <p:transition p14:dur="250">
        <p:split orient="vert"/>
      </p:transition>
    </mc:Choice>
    <mc:Fallback xmlns="">
      <p:transition>
        <p:split orient="vert"/>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3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E488186-057B-4C07-9498-7E532EDAF008}" type="datetimeFigureOut">
              <a:rPr lang="zh-CN" altLang="en-US" smtClean="0"/>
              <a:t>2018/10/18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8EBAC42-A521-4D5E-92BE-1A16F8ACC2A7}" type="slidenum">
              <a:rPr lang="zh-CN" altLang="en-US" smtClean="0"/>
              <a:t>‹#›</a:t>
            </a:fld>
            <a:endParaRPr lang="zh-CN" altLang="en-US"/>
          </a:p>
        </p:txBody>
      </p:sp>
      <p:sp>
        <p:nvSpPr>
          <p:cNvPr id="5" name="矩形 4"/>
          <p:cNvSpPr/>
          <p:nvPr userDrawn="1"/>
        </p:nvSpPr>
        <p:spPr>
          <a:xfrm>
            <a:off x="0" y="1"/>
            <a:ext cx="9144000" cy="556262"/>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grpSp>
        <p:nvGrpSpPr>
          <p:cNvPr id="6" name="组合 9"/>
          <p:cNvGrpSpPr/>
          <p:nvPr userDrawn="1"/>
        </p:nvGrpSpPr>
        <p:grpSpPr bwMode="auto">
          <a:xfrm>
            <a:off x="7905749" y="-11906"/>
            <a:ext cx="1219200" cy="508067"/>
            <a:chOff x="5797942" y="-301201"/>
            <a:chExt cx="3396247" cy="1408387"/>
          </a:xfrm>
        </p:grpSpPr>
        <p:grpSp>
          <p:nvGrpSpPr>
            <p:cNvPr id="7" name="组合 6"/>
            <p:cNvGrpSpPr/>
            <p:nvPr/>
          </p:nvGrpSpPr>
          <p:grpSpPr>
            <a:xfrm flipH="1">
              <a:off x="5797942" y="-20872"/>
              <a:ext cx="3396247" cy="1128058"/>
              <a:chOff x="0" y="-2417"/>
              <a:chExt cx="3257548" cy="1081989"/>
            </a:xfrm>
            <a:solidFill>
              <a:sysClr val="window" lastClr="FFFFFF">
                <a:lumMod val="85000"/>
                <a:alpha val="75000"/>
              </a:sysClr>
            </a:solidFill>
          </p:grpSpPr>
          <p:grpSp>
            <p:nvGrpSpPr>
              <p:cNvPr id="20" name="组合 19"/>
              <p:cNvGrpSpPr/>
              <p:nvPr/>
            </p:nvGrpSpPr>
            <p:grpSpPr>
              <a:xfrm>
                <a:off x="0" y="-2417"/>
                <a:ext cx="3257548" cy="542240"/>
                <a:chOff x="0" y="-2417"/>
                <a:chExt cx="3257548" cy="542240"/>
              </a:xfrm>
              <a:grpFill/>
            </p:grpSpPr>
            <p:sp>
              <p:nvSpPr>
                <p:cNvPr id="26" name="等腰三角形 25"/>
                <p:cNvSpPr/>
                <p:nvPr/>
              </p:nvSpPr>
              <p:spPr>
                <a:xfrm rot="5400000">
                  <a:off x="-37229" y="37229"/>
                  <a:ext cx="539822" cy="465364"/>
                </a:xfrm>
                <a:prstGeom prst="triangle">
                  <a:avLst/>
                </a:prstGeom>
                <a:solidFill>
                  <a:sysClr val="window" lastClr="FFFFFF">
                    <a:lumMod val="85000"/>
                    <a:alpha val="50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sp>
              <p:nvSpPr>
                <p:cNvPr id="27" name="等腰三角形 26"/>
                <p:cNvSpPr/>
                <p:nvPr/>
              </p:nvSpPr>
              <p:spPr>
                <a:xfrm rot="5400000">
                  <a:off x="428135" y="37229"/>
                  <a:ext cx="539822" cy="465365"/>
                </a:xfrm>
                <a:prstGeom prst="triangle">
                  <a:avLst/>
                </a:prstGeom>
                <a:solidFill>
                  <a:sysClr val="window" lastClr="FFFFFF">
                    <a:lumMod val="85000"/>
                    <a:alpha val="40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sp>
              <p:nvSpPr>
                <p:cNvPr id="28" name="等腰三角形 27"/>
                <p:cNvSpPr/>
                <p:nvPr/>
              </p:nvSpPr>
              <p:spPr>
                <a:xfrm rot="5400000">
                  <a:off x="893498" y="37229"/>
                  <a:ext cx="539822" cy="465365"/>
                </a:xfrm>
                <a:prstGeom prst="triangle">
                  <a:avLst/>
                </a:prstGeom>
                <a:solidFill>
                  <a:sysClr val="window" lastClr="FFFFFF">
                    <a:lumMod val="85000"/>
                    <a:alpha val="50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sp>
              <p:nvSpPr>
                <p:cNvPr id="29" name="等腰三角形 28"/>
                <p:cNvSpPr/>
                <p:nvPr/>
              </p:nvSpPr>
              <p:spPr>
                <a:xfrm rot="5400000">
                  <a:off x="1358863" y="37229"/>
                  <a:ext cx="539822" cy="465364"/>
                </a:xfrm>
                <a:prstGeom prst="triangle">
                  <a:avLst/>
                </a:prstGeom>
                <a:solidFill>
                  <a:sysClr val="window" lastClr="FFFFFF">
                    <a:lumMod val="85000"/>
                    <a:alpha val="20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sp>
              <p:nvSpPr>
                <p:cNvPr id="30" name="等腰三角形 29"/>
                <p:cNvSpPr/>
                <p:nvPr/>
              </p:nvSpPr>
              <p:spPr>
                <a:xfrm rot="5400000">
                  <a:off x="2754955" y="37229"/>
                  <a:ext cx="539822" cy="465364"/>
                </a:xfrm>
                <a:prstGeom prst="triangle">
                  <a:avLst/>
                </a:prstGeom>
                <a:solidFill>
                  <a:sysClr val="window" lastClr="FFFFFF">
                    <a:lumMod val="85000"/>
                    <a:alpha val="20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sp>
              <p:nvSpPr>
                <p:cNvPr id="31" name="等腰三角形 30"/>
                <p:cNvSpPr/>
                <p:nvPr/>
              </p:nvSpPr>
              <p:spPr>
                <a:xfrm rot="5400000">
                  <a:off x="1824228" y="34811"/>
                  <a:ext cx="539822" cy="465365"/>
                </a:xfrm>
                <a:prstGeom prst="triangle">
                  <a:avLst/>
                </a:prstGeom>
                <a:solidFill>
                  <a:sysClr val="window" lastClr="FFFFFF">
                    <a:lumMod val="85000"/>
                    <a:alpha val="40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grpSp>
          <p:grpSp>
            <p:nvGrpSpPr>
              <p:cNvPr id="21" name="组合 20"/>
              <p:cNvGrpSpPr/>
              <p:nvPr/>
            </p:nvGrpSpPr>
            <p:grpSpPr>
              <a:xfrm>
                <a:off x="0" y="539750"/>
                <a:ext cx="2326820" cy="539822"/>
                <a:chOff x="0" y="0"/>
                <a:chExt cx="2326820" cy="539822"/>
              </a:xfrm>
              <a:grpFill/>
            </p:grpSpPr>
            <p:sp>
              <p:nvSpPr>
                <p:cNvPr id="22" name="等腰三角形 21"/>
                <p:cNvSpPr/>
                <p:nvPr/>
              </p:nvSpPr>
              <p:spPr>
                <a:xfrm rot="5400000">
                  <a:off x="-37229" y="37229"/>
                  <a:ext cx="539822" cy="465364"/>
                </a:xfrm>
                <a:prstGeom prst="triangle">
                  <a:avLst/>
                </a:prstGeom>
                <a:solidFill>
                  <a:sysClr val="window" lastClr="FFFFFF">
                    <a:lumMod val="85000"/>
                    <a:alpha val="40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sp>
              <p:nvSpPr>
                <p:cNvPr id="23" name="等腰三角形 22"/>
                <p:cNvSpPr/>
                <p:nvPr/>
              </p:nvSpPr>
              <p:spPr>
                <a:xfrm rot="5400000">
                  <a:off x="428135" y="37229"/>
                  <a:ext cx="539822" cy="465364"/>
                </a:xfrm>
                <a:prstGeom prst="triangle">
                  <a:avLst/>
                </a:prstGeom>
                <a:solidFill>
                  <a:sysClr val="window" lastClr="FFFFFF">
                    <a:lumMod val="85000"/>
                    <a:alpha val="40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sp>
              <p:nvSpPr>
                <p:cNvPr id="24" name="等腰三角形 23"/>
                <p:cNvSpPr/>
                <p:nvPr/>
              </p:nvSpPr>
              <p:spPr>
                <a:xfrm rot="5400000">
                  <a:off x="1358863" y="37229"/>
                  <a:ext cx="539822" cy="465364"/>
                </a:xfrm>
                <a:prstGeom prst="triangle">
                  <a:avLst/>
                </a:prstGeom>
                <a:solidFill>
                  <a:sysClr val="window" lastClr="FFFFFF">
                    <a:lumMod val="85000"/>
                    <a:alpha val="40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sp>
              <p:nvSpPr>
                <p:cNvPr id="25" name="等腰三角形 24"/>
                <p:cNvSpPr/>
                <p:nvPr/>
              </p:nvSpPr>
              <p:spPr>
                <a:xfrm rot="5400000">
                  <a:off x="1824227" y="37229"/>
                  <a:ext cx="539822" cy="465364"/>
                </a:xfrm>
                <a:prstGeom prst="triangle">
                  <a:avLst/>
                </a:prstGeom>
                <a:solidFill>
                  <a:sysClr val="window" lastClr="FFFFFF">
                    <a:lumMod val="85000"/>
                    <a:alpha val="40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grpSp>
        </p:grpSp>
        <p:sp>
          <p:nvSpPr>
            <p:cNvPr id="8" name="等腰三角形 7"/>
            <p:cNvSpPr/>
            <p:nvPr/>
          </p:nvSpPr>
          <p:spPr>
            <a:xfrm rot="5400000">
              <a:off x="6244415" y="-263141"/>
              <a:ext cx="562907" cy="486788"/>
            </a:xfrm>
            <a:prstGeom prst="triangle">
              <a:avLst/>
            </a:prstGeom>
            <a:solidFill>
              <a:sysClr val="window" lastClr="FFFFFF">
                <a:lumMod val="85000"/>
                <a:alpha val="30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sp>
          <p:nvSpPr>
            <p:cNvPr id="9" name="等腰三角形 8"/>
            <p:cNvSpPr/>
            <p:nvPr/>
          </p:nvSpPr>
          <p:spPr>
            <a:xfrm rot="5400000">
              <a:off x="6730078" y="-262015"/>
              <a:ext cx="562907" cy="484535"/>
            </a:xfrm>
            <a:prstGeom prst="triangle">
              <a:avLst/>
            </a:prstGeom>
            <a:solidFill>
              <a:sysClr val="window" lastClr="FFFFFF">
                <a:lumMod val="85000"/>
                <a:alpha val="20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sp>
          <p:nvSpPr>
            <p:cNvPr id="10" name="等腰三角形 9"/>
            <p:cNvSpPr/>
            <p:nvPr/>
          </p:nvSpPr>
          <p:spPr>
            <a:xfrm rot="5400000">
              <a:off x="7214611" y="-262014"/>
              <a:ext cx="562907" cy="484534"/>
            </a:xfrm>
            <a:prstGeom prst="triangle">
              <a:avLst/>
            </a:prstGeom>
            <a:solidFill>
              <a:sysClr val="window" lastClr="FFFFFF">
                <a:lumMod val="85000"/>
                <a:alpha val="40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sp>
          <p:nvSpPr>
            <p:cNvPr id="11" name="等腰三角形 10"/>
            <p:cNvSpPr/>
            <p:nvPr/>
          </p:nvSpPr>
          <p:spPr>
            <a:xfrm rot="5400000">
              <a:off x="8184807" y="-263141"/>
              <a:ext cx="562907" cy="486788"/>
            </a:xfrm>
            <a:prstGeom prst="triangle">
              <a:avLst/>
            </a:prstGeom>
            <a:solidFill>
              <a:sysClr val="window" lastClr="FFFFFF">
                <a:lumMod val="85000"/>
                <a:alpha val="20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sp>
          <p:nvSpPr>
            <p:cNvPr id="12" name="等腰三角形 11"/>
            <p:cNvSpPr/>
            <p:nvPr/>
          </p:nvSpPr>
          <p:spPr>
            <a:xfrm rot="5400000">
              <a:off x="6244417" y="299765"/>
              <a:ext cx="562906" cy="486788"/>
            </a:xfrm>
            <a:prstGeom prst="triangle">
              <a:avLst/>
            </a:prstGeom>
            <a:solidFill>
              <a:sysClr val="window" lastClr="FFFFFF">
                <a:lumMod val="85000"/>
                <a:alpha val="30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sp>
          <p:nvSpPr>
            <p:cNvPr id="13" name="等腰三角形 12"/>
            <p:cNvSpPr/>
            <p:nvPr/>
          </p:nvSpPr>
          <p:spPr>
            <a:xfrm rot="5400000">
              <a:off x="6730079" y="300891"/>
              <a:ext cx="562906" cy="484535"/>
            </a:xfrm>
            <a:prstGeom prst="triangle">
              <a:avLst/>
            </a:prstGeom>
            <a:solidFill>
              <a:sysClr val="window" lastClr="FFFFFF">
                <a:lumMod val="85000"/>
                <a:alpha val="20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sp>
          <p:nvSpPr>
            <p:cNvPr id="14" name="等腰三角形 13"/>
            <p:cNvSpPr/>
            <p:nvPr/>
          </p:nvSpPr>
          <p:spPr>
            <a:xfrm rot="5400000">
              <a:off x="7699148" y="300891"/>
              <a:ext cx="562906" cy="484535"/>
            </a:xfrm>
            <a:prstGeom prst="triangle">
              <a:avLst/>
            </a:prstGeom>
            <a:solidFill>
              <a:sysClr val="window" lastClr="FFFFFF">
                <a:lumMod val="85000"/>
                <a:alpha val="30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sp>
          <p:nvSpPr>
            <p:cNvPr id="15" name="等腰三角形 14"/>
            <p:cNvSpPr/>
            <p:nvPr/>
          </p:nvSpPr>
          <p:spPr>
            <a:xfrm rot="5400000">
              <a:off x="8670469" y="300892"/>
              <a:ext cx="562906" cy="484534"/>
            </a:xfrm>
            <a:prstGeom prst="triangle">
              <a:avLst/>
            </a:prstGeom>
            <a:solidFill>
              <a:sysClr val="window" lastClr="FFFFFF">
                <a:lumMod val="85000"/>
                <a:alpha val="22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sp>
          <p:nvSpPr>
            <p:cNvPr id="16" name="任意多边形 19"/>
            <p:cNvSpPr/>
            <p:nvPr/>
          </p:nvSpPr>
          <p:spPr>
            <a:xfrm rot="5400000">
              <a:off x="7835909" y="727035"/>
              <a:ext cx="273604" cy="468759"/>
            </a:xfrm>
            <a:custGeom>
              <a:avLst/>
              <a:gdLst>
                <a:gd name="connsiteX0" fmla="*/ 0 w 271879"/>
                <a:gd name="connsiteY0" fmla="*/ 468755 h 468755"/>
                <a:gd name="connsiteX1" fmla="*/ 271879 w 271879"/>
                <a:gd name="connsiteY1" fmla="*/ 0 h 468755"/>
                <a:gd name="connsiteX2" fmla="*/ 271879 w 271879"/>
                <a:gd name="connsiteY2" fmla="*/ 468755 h 468755"/>
              </a:gdLst>
              <a:ahLst/>
              <a:cxnLst>
                <a:cxn ang="0">
                  <a:pos x="connsiteX0" y="connsiteY0"/>
                </a:cxn>
                <a:cxn ang="0">
                  <a:pos x="connsiteX1" y="connsiteY1"/>
                </a:cxn>
                <a:cxn ang="0">
                  <a:pos x="connsiteX2" y="connsiteY2"/>
                </a:cxn>
              </a:cxnLst>
              <a:rect l="l" t="t" r="r" b="b"/>
              <a:pathLst>
                <a:path w="271879" h="468755">
                  <a:moveTo>
                    <a:pt x="0" y="468755"/>
                  </a:moveTo>
                  <a:lnTo>
                    <a:pt x="271879" y="0"/>
                  </a:lnTo>
                  <a:lnTo>
                    <a:pt x="271879" y="468755"/>
                  </a:lnTo>
                  <a:close/>
                </a:path>
              </a:pathLst>
            </a:custGeom>
            <a:solidFill>
              <a:sysClr val="window" lastClr="FFFFFF">
                <a:lumMod val="85000"/>
                <a:alpha val="30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sp>
          <p:nvSpPr>
            <p:cNvPr id="17" name="任意多边形 20"/>
            <p:cNvSpPr/>
            <p:nvPr/>
          </p:nvSpPr>
          <p:spPr>
            <a:xfrm rot="5400000" flipH="1" flipV="1">
              <a:off x="7852807" y="-390929"/>
              <a:ext cx="271362" cy="468759"/>
            </a:xfrm>
            <a:custGeom>
              <a:avLst/>
              <a:gdLst>
                <a:gd name="connsiteX0" fmla="*/ 0 w 271879"/>
                <a:gd name="connsiteY0" fmla="*/ 468755 h 468755"/>
                <a:gd name="connsiteX1" fmla="*/ 271879 w 271879"/>
                <a:gd name="connsiteY1" fmla="*/ 0 h 468755"/>
                <a:gd name="connsiteX2" fmla="*/ 271879 w 271879"/>
                <a:gd name="connsiteY2" fmla="*/ 468755 h 468755"/>
              </a:gdLst>
              <a:ahLst/>
              <a:cxnLst>
                <a:cxn ang="0">
                  <a:pos x="connsiteX0" y="connsiteY0"/>
                </a:cxn>
                <a:cxn ang="0">
                  <a:pos x="connsiteX1" y="connsiteY1"/>
                </a:cxn>
                <a:cxn ang="0">
                  <a:pos x="connsiteX2" y="connsiteY2"/>
                </a:cxn>
              </a:cxnLst>
              <a:rect l="l" t="t" r="r" b="b"/>
              <a:pathLst>
                <a:path w="271879" h="468755">
                  <a:moveTo>
                    <a:pt x="0" y="468755"/>
                  </a:moveTo>
                  <a:lnTo>
                    <a:pt x="271879" y="0"/>
                  </a:lnTo>
                  <a:lnTo>
                    <a:pt x="271879" y="468755"/>
                  </a:lnTo>
                  <a:close/>
                </a:path>
              </a:pathLst>
            </a:custGeom>
            <a:solidFill>
              <a:sysClr val="window" lastClr="FFFFFF">
                <a:lumMod val="85000"/>
                <a:alpha val="30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sp>
          <p:nvSpPr>
            <p:cNvPr id="18" name="任意多边形 21"/>
            <p:cNvSpPr/>
            <p:nvPr/>
          </p:nvSpPr>
          <p:spPr>
            <a:xfrm rot="5400000" flipH="1" flipV="1">
              <a:off x="7368272" y="-390929"/>
              <a:ext cx="271362" cy="468759"/>
            </a:xfrm>
            <a:custGeom>
              <a:avLst/>
              <a:gdLst>
                <a:gd name="connsiteX0" fmla="*/ 0 w 271879"/>
                <a:gd name="connsiteY0" fmla="*/ 468755 h 468755"/>
                <a:gd name="connsiteX1" fmla="*/ 271879 w 271879"/>
                <a:gd name="connsiteY1" fmla="*/ 0 h 468755"/>
                <a:gd name="connsiteX2" fmla="*/ 271879 w 271879"/>
                <a:gd name="connsiteY2" fmla="*/ 468755 h 468755"/>
              </a:gdLst>
              <a:ahLst/>
              <a:cxnLst>
                <a:cxn ang="0">
                  <a:pos x="connsiteX0" y="connsiteY0"/>
                </a:cxn>
                <a:cxn ang="0">
                  <a:pos x="connsiteX1" y="connsiteY1"/>
                </a:cxn>
                <a:cxn ang="0">
                  <a:pos x="connsiteX2" y="connsiteY2"/>
                </a:cxn>
              </a:cxnLst>
              <a:rect l="l" t="t" r="r" b="b"/>
              <a:pathLst>
                <a:path w="271879" h="468755">
                  <a:moveTo>
                    <a:pt x="0" y="468755"/>
                  </a:moveTo>
                  <a:lnTo>
                    <a:pt x="271879" y="0"/>
                  </a:lnTo>
                  <a:lnTo>
                    <a:pt x="271879" y="468755"/>
                  </a:lnTo>
                  <a:close/>
                </a:path>
              </a:pathLst>
            </a:custGeom>
            <a:solidFill>
              <a:sysClr val="window" lastClr="FFFFFF">
                <a:lumMod val="85000"/>
                <a:alpha val="40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sp>
          <p:nvSpPr>
            <p:cNvPr id="19" name="任意多边形 22"/>
            <p:cNvSpPr/>
            <p:nvPr/>
          </p:nvSpPr>
          <p:spPr>
            <a:xfrm rot="5400000" flipH="1" flipV="1">
              <a:off x="8339595" y="-390929"/>
              <a:ext cx="271362" cy="468759"/>
            </a:xfrm>
            <a:custGeom>
              <a:avLst/>
              <a:gdLst>
                <a:gd name="connsiteX0" fmla="*/ 0 w 271879"/>
                <a:gd name="connsiteY0" fmla="*/ 468755 h 468755"/>
                <a:gd name="connsiteX1" fmla="*/ 271879 w 271879"/>
                <a:gd name="connsiteY1" fmla="*/ 0 h 468755"/>
                <a:gd name="connsiteX2" fmla="*/ 271879 w 271879"/>
                <a:gd name="connsiteY2" fmla="*/ 468755 h 468755"/>
              </a:gdLst>
              <a:ahLst/>
              <a:cxnLst>
                <a:cxn ang="0">
                  <a:pos x="connsiteX0" y="connsiteY0"/>
                </a:cxn>
                <a:cxn ang="0">
                  <a:pos x="connsiteX1" y="connsiteY1"/>
                </a:cxn>
                <a:cxn ang="0">
                  <a:pos x="connsiteX2" y="connsiteY2"/>
                </a:cxn>
              </a:cxnLst>
              <a:rect l="l" t="t" r="r" b="b"/>
              <a:pathLst>
                <a:path w="271879" h="468755">
                  <a:moveTo>
                    <a:pt x="0" y="468755"/>
                  </a:moveTo>
                  <a:lnTo>
                    <a:pt x="271879" y="0"/>
                  </a:lnTo>
                  <a:lnTo>
                    <a:pt x="271879" y="468755"/>
                  </a:lnTo>
                  <a:close/>
                </a:path>
              </a:pathLst>
            </a:custGeom>
            <a:solidFill>
              <a:sysClr val="window" lastClr="FFFFFF">
                <a:lumMod val="85000"/>
                <a:alpha val="40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grpSp>
      <p:sp>
        <p:nvSpPr>
          <p:cNvPr id="32" name="文本占位符 6"/>
          <p:cNvSpPr>
            <a:spLocks noGrp="1"/>
          </p:cNvSpPr>
          <p:nvPr>
            <p:ph type="body" sz="quarter" idx="13" hasCustomPrompt="1"/>
          </p:nvPr>
        </p:nvSpPr>
        <p:spPr>
          <a:xfrm>
            <a:off x="529319" y="192177"/>
            <a:ext cx="5581650" cy="228600"/>
          </a:xfrm>
        </p:spPr>
        <p:txBody>
          <a:bodyPr>
            <a:normAutofit/>
          </a:bodyPr>
          <a:lstStyle>
            <a:lvl1pPr marL="0" indent="0">
              <a:buNone/>
              <a:defRPr sz="1200" b="1">
                <a:solidFill>
                  <a:schemeClr val="tx1">
                    <a:lumMod val="65000"/>
                    <a:lumOff val="35000"/>
                  </a:schemeClr>
                </a:solidFill>
                <a:latin typeface="华文细黑" panose="02010600040101010101" pitchFamily="2" charset="-122"/>
                <a:ea typeface="华文细黑" panose="02010600040101010101" pitchFamily="2" charset="-122"/>
              </a:defRPr>
            </a:lvl1pPr>
          </a:lstStyle>
          <a:p>
            <a:pPr lvl="0"/>
            <a:r>
              <a:rPr lang="zh-CN" altLang="en-US" dirty="0"/>
              <a:t>编辑母版文本样式</a:t>
            </a:r>
          </a:p>
        </p:txBody>
      </p:sp>
      <p:sp>
        <p:nvSpPr>
          <p:cNvPr id="33" name="文本框 32"/>
          <p:cNvSpPr txBox="1"/>
          <p:nvPr userDrawn="1"/>
        </p:nvSpPr>
        <p:spPr>
          <a:xfrm>
            <a:off x="8179801" y="181291"/>
            <a:ext cx="716863" cy="300082"/>
          </a:xfrm>
          <a:prstGeom prst="rect">
            <a:avLst/>
          </a:prstGeom>
          <a:noFill/>
        </p:spPr>
        <p:txBody>
          <a:bodyPr wrap="none" rtlCol="0">
            <a:spAutoFit/>
          </a:bodyPr>
          <a:lstStyle/>
          <a:p>
            <a:r>
              <a:rPr lang="en-US" altLang="zh-CN" sz="1350" b="1" dirty="0">
                <a:solidFill>
                  <a:schemeClr val="tx1">
                    <a:lumMod val="65000"/>
                    <a:lumOff val="35000"/>
                  </a:schemeClr>
                </a:solidFill>
                <a:latin typeface="华文细黑" panose="02010600040101010101" pitchFamily="2" charset="-122"/>
                <a:ea typeface="华文细黑" panose="02010600040101010101" pitchFamily="2" charset="-122"/>
              </a:rPr>
              <a:t>LOGO</a:t>
            </a:r>
            <a:endParaRPr lang="zh-CN" altLang="en-US" sz="1350" b="1" dirty="0">
              <a:solidFill>
                <a:schemeClr val="tx1">
                  <a:lumMod val="65000"/>
                  <a:lumOff val="35000"/>
                </a:schemeClr>
              </a:solidFill>
              <a:latin typeface="华文细黑" panose="02010600040101010101" pitchFamily="2" charset="-122"/>
              <a:ea typeface="华文细黑" panose="02010600040101010101" pitchFamily="2" charset="-122"/>
            </a:endParaRPr>
          </a:p>
        </p:txBody>
      </p:sp>
      <p:sp>
        <p:nvSpPr>
          <p:cNvPr id="34" name="任意多边形 3"/>
          <p:cNvSpPr/>
          <p:nvPr userDrawn="1"/>
        </p:nvSpPr>
        <p:spPr bwMode="auto">
          <a:xfrm>
            <a:off x="226814" y="175041"/>
            <a:ext cx="241102" cy="241101"/>
          </a:xfrm>
          <a:custGeom>
            <a:avLst/>
            <a:gdLst>
              <a:gd name="connsiteX0" fmla="*/ 157734 w 406400"/>
              <a:gd name="connsiteY0" fmla="*/ 125523 h 406400"/>
              <a:gd name="connsiteX1" fmla="*/ 157734 w 406400"/>
              <a:gd name="connsiteY1" fmla="*/ 285067 h 406400"/>
              <a:gd name="connsiteX2" fmla="*/ 295272 w 406400"/>
              <a:gd name="connsiteY2" fmla="*/ 205295 h 406400"/>
              <a:gd name="connsiteX3" fmla="*/ 203200 w 406400"/>
              <a:gd name="connsiteY3" fmla="*/ 0 h 406400"/>
              <a:gd name="connsiteX4" fmla="*/ 406400 w 406400"/>
              <a:gd name="connsiteY4" fmla="*/ 203200 h 406400"/>
              <a:gd name="connsiteX5" fmla="*/ 203200 w 406400"/>
              <a:gd name="connsiteY5" fmla="*/ 406400 h 406400"/>
              <a:gd name="connsiteX6" fmla="*/ 0 w 406400"/>
              <a:gd name="connsiteY6" fmla="*/ 203200 h 406400"/>
              <a:gd name="connsiteX7" fmla="*/ 203200 w 406400"/>
              <a:gd name="connsiteY7" fmla="*/ 0 h 40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6400" h="406400">
                <a:moveTo>
                  <a:pt x="157734" y="125523"/>
                </a:moveTo>
                <a:lnTo>
                  <a:pt x="157734" y="285067"/>
                </a:lnTo>
                <a:lnTo>
                  <a:pt x="295272" y="205295"/>
                </a:lnTo>
                <a:close/>
                <a:moveTo>
                  <a:pt x="203200" y="0"/>
                </a:moveTo>
                <a:cubicBezTo>
                  <a:pt x="315424" y="0"/>
                  <a:pt x="406400" y="90976"/>
                  <a:pt x="406400" y="203200"/>
                </a:cubicBezTo>
                <a:cubicBezTo>
                  <a:pt x="406400" y="315424"/>
                  <a:pt x="315424" y="406400"/>
                  <a:pt x="203200" y="406400"/>
                </a:cubicBezTo>
                <a:cubicBezTo>
                  <a:pt x="90976" y="406400"/>
                  <a:pt x="0" y="315424"/>
                  <a:pt x="0" y="203200"/>
                </a:cubicBezTo>
                <a:cubicBezTo>
                  <a:pt x="0" y="90976"/>
                  <a:pt x="90976" y="0"/>
                  <a:pt x="2032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Tree>
  </p:cSld>
  <p:clrMapOvr>
    <a:masterClrMapping/>
  </p:clrMapOvr>
  <mc:AlternateContent xmlns:mc="http://schemas.openxmlformats.org/markup-compatibility/2006" xmlns:p14="http://schemas.microsoft.com/office/powerpoint/2010/main">
    <mc:Choice Requires="p14">
      <p:transition p14:dur="250">
        <p:split orient="vert"/>
      </p:transition>
    </mc:Choice>
    <mc:Fallback xmlns="">
      <p:transition>
        <p:split orient="vert"/>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4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E488186-057B-4C07-9498-7E532EDAF008}" type="datetimeFigureOut">
              <a:rPr lang="zh-CN" altLang="en-US" smtClean="0"/>
              <a:t>2018/10/18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8EBAC42-A521-4D5E-92BE-1A16F8ACC2A7}" type="slidenum">
              <a:rPr lang="zh-CN" altLang="en-US" smtClean="0"/>
              <a:t>‹#›</a:t>
            </a:fld>
            <a:endParaRPr lang="zh-CN" altLang="en-US"/>
          </a:p>
        </p:txBody>
      </p:sp>
      <p:sp>
        <p:nvSpPr>
          <p:cNvPr id="5" name="矩形 4"/>
          <p:cNvSpPr/>
          <p:nvPr userDrawn="1"/>
        </p:nvSpPr>
        <p:spPr>
          <a:xfrm>
            <a:off x="0" y="1"/>
            <a:ext cx="9144000" cy="556262"/>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grpSp>
        <p:nvGrpSpPr>
          <p:cNvPr id="6" name="组合 9"/>
          <p:cNvGrpSpPr/>
          <p:nvPr userDrawn="1"/>
        </p:nvGrpSpPr>
        <p:grpSpPr bwMode="auto">
          <a:xfrm>
            <a:off x="7905749" y="-11906"/>
            <a:ext cx="1219200" cy="508067"/>
            <a:chOff x="5797942" y="-301201"/>
            <a:chExt cx="3396247" cy="1408387"/>
          </a:xfrm>
        </p:grpSpPr>
        <p:grpSp>
          <p:nvGrpSpPr>
            <p:cNvPr id="7" name="组合 6"/>
            <p:cNvGrpSpPr/>
            <p:nvPr/>
          </p:nvGrpSpPr>
          <p:grpSpPr>
            <a:xfrm flipH="1">
              <a:off x="5797942" y="-20872"/>
              <a:ext cx="3396247" cy="1128058"/>
              <a:chOff x="0" y="-2417"/>
              <a:chExt cx="3257548" cy="1081989"/>
            </a:xfrm>
            <a:solidFill>
              <a:sysClr val="window" lastClr="FFFFFF">
                <a:lumMod val="85000"/>
                <a:alpha val="75000"/>
              </a:sysClr>
            </a:solidFill>
          </p:grpSpPr>
          <p:grpSp>
            <p:nvGrpSpPr>
              <p:cNvPr id="20" name="组合 19"/>
              <p:cNvGrpSpPr/>
              <p:nvPr/>
            </p:nvGrpSpPr>
            <p:grpSpPr>
              <a:xfrm>
                <a:off x="0" y="-2417"/>
                <a:ext cx="3257548" cy="542240"/>
                <a:chOff x="0" y="-2417"/>
                <a:chExt cx="3257548" cy="542240"/>
              </a:xfrm>
              <a:grpFill/>
            </p:grpSpPr>
            <p:sp>
              <p:nvSpPr>
                <p:cNvPr id="26" name="等腰三角形 25"/>
                <p:cNvSpPr/>
                <p:nvPr/>
              </p:nvSpPr>
              <p:spPr>
                <a:xfrm rot="5400000">
                  <a:off x="-37229" y="37229"/>
                  <a:ext cx="539822" cy="465364"/>
                </a:xfrm>
                <a:prstGeom prst="triangle">
                  <a:avLst/>
                </a:prstGeom>
                <a:solidFill>
                  <a:sysClr val="window" lastClr="FFFFFF">
                    <a:lumMod val="85000"/>
                    <a:alpha val="50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sp>
              <p:nvSpPr>
                <p:cNvPr id="27" name="等腰三角形 26"/>
                <p:cNvSpPr/>
                <p:nvPr/>
              </p:nvSpPr>
              <p:spPr>
                <a:xfrm rot="5400000">
                  <a:off x="428135" y="37229"/>
                  <a:ext cx="539822" cy="465365"/>
                </a:xfrm>
                <a:prstGeom prst="triangle">
                  <a:avLst/>
                </a:prstGeom>
                <a:solidFill>
                  <a:sysClr val="window" lastClr="FFFFFF">
                    <a:lumMod val="85000"/>
                    <a:alpha val="40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sp>
              <p:nvSpPr>
                <p:cNvPr id="28" name="等腰三角形 27"/>
                <p:cNvSpPr/>
                <p:nvPr/>
              </p:nvSpPr>
              <p:spPr>
                <a:xfrm rot="5400000">
                  <a:off x="893498" y="37229"/>
                  <a:ext cx="539822" cy="465365"/>
                </a:xfrm>
                <a:prstGeom prst="triangle">
                  <a:avLst/>
                </a:prstGeom>
                <a:solidFill>
                  <a:sysClr val="window" lastClr="FFFFFF">
                    <a:lumMod val="85000"/>
                    <a:alpha val="50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sp>
              <p:nvSpPr>
                <p:cNvPr id="29" name="等腰三角形 28"/>
                <p:cNvSpPr/>
                <p:nvPr/>
              </p:nvSpPr>
              <p:spPr>
                <a:xfrm rot="5400000">
                  <a:off x="1358863" y="37229"/>
                  <a:ext cx="539822" cy="465364"/>
                </a:xfrm>
                <a:prstGeom prst="triangle">
                  <a:avLst/>
                </a:prstGeom>
                <a:solidFill>
                  <a:sysClr val="window" lastClr="FFFFFF">
                    <a:lumMod val="85000"/>
                    <a:alpha val="20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sp>
              <p:nvSpPr>
                <p:cNvPr id="30" name="等腰三角形 29"/>
                <p:cNvSpPr/>
                <p:nvPr/>
              </p:nvSpPr>
              <p:spPr>
                <a:xfrm rot="5400000">
                  <a:off x="2754955" y="37229"/>
                  <a:ext cx="539822" cy="465364"/>
                </a:xfrm>
                <a:prstGeom prst="triangle">
                  <a:avLst/>
                </a:prstGeom>
                <a:solidFill>
                  <a:sysClr val="window" lastClr="FFFFFF">
                    <a:lumMod val="85000"/>
                    <a:alpha val="20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sp>
              <p:nvSpPr>
                <p:cNvPr id="31" name="等腰三角形 30"/>
                <p:cNvSpPr/>
                <p:nvPr/>
              </p:nvSpPr>
              <p:spPr>
                <a:xfrm rot="5400000">
                  <a:off x="1824228" y="34811"/>
                  <a:ext cx="539822" cy="465365"/>
                </a:xfrm>
                <a:prstGeom prst="triangle">
                  <a:avLst/>
                </a:prstGeom>
                <a:solidFill>
                  <a:sysClr val="window" lastClr="FFFFFF">
                    <a:lumMod val="85000"/>
                    <a:alpha val="40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grpSp>
          <p:grpSp>
            <p:nvGrpSpPr>
              <p:cNvPr id="21" name="组合 20"/>
              <p:cNvGrpSpPr/>
              <p:nvPr/>
            </p:nvGrpSpPr>
            <p:grpSpPr>
              <a:xfrm>
                <a:off x="0" y="539750"/>
                <a:ext cx="2326820" cy="539822"/>
                <a:chOff x="0" y="0"/>
                <a:chExt cx="2326820" cy="539822"/>
              </a:xfrm>
              <a:grpFill/>
            </p:grpSpPr>
            <p:sp>
              <p:nvSpPr>
                <p:cNvPr id="22" name="等腰三角形 21"/>
                <p:cNvSpPr/>
                <p:nvPr/>
              </p:nvSpPr>
              <p:spPr>
                <a:xfrm rot="5400000">
                  <a:off x="-37229" y="37229"/>
                  <a:ext cx="539822" cy="465364"/>
                </a:xfrm>
                <a:prstGeom prst="triangle">
                  <a:avLst/>
                </a:prstGeom>
                <a:solidFill>
                  <a:sysClr val="window" lastClr="FFFFFF">
                    <a:lumMod val="85000"/>
                    <a:alpha val="40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sp>
              <p:nvSpPr>
                <p:cNvPr id="23" name="等腰三角形 22"/>
                <p:cNvSpPr/>
                <p:nvPr/>
              </p:nvSpPr>
              <p:spPr>
                <a:xfrm rot="5400000">
                  <a:off x="428135" y="37229"/>
                  <a:ext cx="539822" cy="465364"/>
                </a:xfrm>
                <a:prstGeom prst="triangle">
                  <a:avLst/>
                </a:prstGeom>
                <a:solidFill>
                  <a:sysClr val="window" lastClr="FFFFFF">
                    <a:lumMod val="85000"/>
                    <a:alpha val="40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sp>
              <p:nvSpPr>
                <p:cNvPr id="24" name="等腰三角形 23"/>
                <p:cNvSpPr/>
                <p:nvPr/>
              </p:nvSpPr>
              <p:spPr>
                <a:xfrm rot="5400000">
                  <a:off x="1358863" y="37229"/>
                  <a:ext cx="539822" cy="465364"/>
                </a:xfrm>
                <a:prstGeom prst="triangle">
                  <a:avLst/>
                </a:prstGeom>
                <a:solidFill>
                  <a:sysClr val="window" lastClr="FFFFFF">
                    <a:lumMod val="85000"/>
                    <a:alpha val="40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sp>
              <p:nvSpPr>
                <p:cNvPr id="25" name="等腰三角形 24"/>
                <p:cNvSpPr/>
                <p:nvPr/>
              </p:nvSpPr>
              <p:spPr>
                <a:xfrm rot="5400000">
                  <a:off x="1824227" y="37229"/>
                  <a:ext cx="539822" cy="465364"/>
                </a:xfrm>
                <a:prstGeom prst="triangle">
                  <a:avLst/>
                </a:prstGeom>
                <a:solidFill>
                  <a:sysClr val="window" lastClr="FFFFFF">
                    <a:lumMod val="85000"/>
                    <a:alpha val="40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grpSp>
        </p:grpSp>
        <p:sp>
          <p:nvSpPr>
            <p:cNvPr id="8" name="等腰三角形 7"/>
            <p:cNvSpPr/>
            <p:nvPr/>
          </p:nvSpPr>
          <p:spPr>
            <a:xfrm rot="5400000">
              <a:off x="6244415" y="-263141"/>
              <a:ext cx="562907" cy="486788"/>
            </a:xfrm>
            <a:prstGeom prst="triangle">
              <a:avLst/>
            </a:prstGeom>
            <a:solidFill>
              <a:sysClr val="window" lastClr="FFFFFF">
                <a:lumMod val="85000"/>
                <a:alpha val="30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sp>
          <p:nvSpPr>
            <p:cNvPr id="9" name="等腰三角形 8"/>
            <p:cNvSpPr/>
            <p:nvPr/>
          </p:nvSpPr>
          <p:spPr>
            <a:xfrm rot="5400000">
              <a:off x="6730078" y="-262015"/>
              <a:ext cx="562907" cy="484535"/>
            </a:xfrm>
            <a:prstGeom prst="triangle">
              <a:avLst/>
            </a:prstGeom>
            <a:solidFill>
              <a:sysClr val="window" lastClr="FFFFFF">
                <a:lumMod val="85000"/>
                <a:alpha val="20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sp>
          <p:nvSpPr>
            <p:cNvPr id="10" name="等腰三角形 9"/>
            <p:cNvSpPr/>
            <p:nvPr/>
          </p:nvSpPr>
          <p:spPr>
            <a:xfrm rot="5400000">
              <a:off x="7214611" y="-262014"/>
              <a:ext cx="562907" cy="484534"/>
            </a:xfrm>
            <a:prstGeom prst="triangle">
              <a:avLst/>
            </a:prstGeom>
            <a:solidFill>
              <a:sysClr val="window" lastClr="FFFFFF">
                <a:lumMod val="85000"/>
                <a:alpha val="40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sp>
          <p:nvSpPr>
            <p:cNvPr id="11" name="等腰三角形 10"/>
            <p:cNvSpPr/>
            <p:nvPr/>
          </p:nvSpPr>
          <p:spPr>
            <a:xfrm rot="5400000">
              <a:off x="8184807" y="-263141"/>
              <a:ext cx="562907" cy="486788"/>
            </a:xfrm>
            <a:prstGeom prst="triangle">
              <a:avLst/>
            </a:prstGeom>
            <a:solidFill>
              <a:sysClr val="window" lastClr="FFFFFF">
                <a:lumMod val="85000"/>
                <a:alpha val="20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sp>
          <p:nvSpPr>
            <p:cNvPr id="12" name="等腰三角形 11"/>
            <p:cNvSpPr/>
            <p:nvPr/>
          </p:nvSpPr>
          <p:spPr>
            <a:xfrm rot="5400000">
              <a:off x="6244417" y="299765"/>
              <a:ext cx="562906" cy="486788"/>
            </a:xfrm>
            <a:prstGeom prst="triangle">
              <a:avLst/>
            </a:prstGeom>
            <a:solidFill>
              <a:sysClr val="window" lastClr="FFFFFF">
                <a:lumMod val="85000"/>
                <a:alpha val="30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sp>
          <p:nvSpPr>
            <p:cNvPr id="13" name="等腰三角形 12"/>
            <p:cNvSpPr/>
            <p:nvPr/>
          </p:nvSpPr>
          <p:spPr>
            <a:xfrm rot="5400000">
              <a:off x="6730079" y="300891"/>
              <a:ext cx="562906" cy="484535"/>
            </a:xfrm>
            <a:prstGeom prst="triangle">
              <a:avLst/>
            </a:prstGeom>
            <a:solidFill>
              <a:sysClr val="window" lastClr="FFFFFF">
                <a:lumMod val="85000"/>
                <a:alpha val="20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sp>
          <p:nvSpPr>
            <p:cNvPr id="14" name="等腰三角形 13"/>
            <p:cNvSpPr/>
            <p:nvPr/>
          </p:nvSpPr>
          <p:spPr>
            <a:xfrm rot="5400000">
              <a:off x="7699148" y="300891"/>
              <a:ext cx="562906" cy="484535"/>
            </a:xfrm>
            <a:prstGeom prst="triangle">
              <a:avLst/>
            </a:prstGeom>
            <a:solidFill>
              <a:sysClr val="window" lastClr="FFFFFF">
                <a:lumMod val="85000"/>
                <a:alpha val="30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sp>
          <p:nvSpPr>
            <p:cNvPr id="15" name="等腰三角形 14"/>
            <p:cNvSpPr/>
            <p:nvPr/>
          </p:nvSpPr>
          <p:spPr>
            <a:xfrm rot="5400000">
              <a:off x="8670469" y="300892"/>
              <a:ext cx="562906" cy="484534"/>
            </a:xfrm>
            <a:prstGeom prst="triangle">
              <a:avLst/>
            </a:prstGeom>
            <a:solidFill>
              <a:sysClr val="window" lastClr="FFFFFF">
                <a:lumMod val="85000"/>
                <a:alpha val="22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sp>
          <p:nvSpPr>
            <p:cNvPr id="16" name="任意多边形 19"/>
            <p:cNvSpPr/>
            <p:nvPr/>
          </p:nvSpPr>
          <p:spPr>
            <a:xfrm rot="5400000">
              <a:off x="7835909" y="727035"/>
              <a:ext cx="273604" cy="468759"/>
            </a:xfrm>
            <a:custGeom>
              <a:avLst/>
              <a:gdLst>
                <a:gd name="connsiteX0" fmla="*/ 0 w 271879"/>
                <a:gd name="connsiteY0" fmla="*/ 468755 h 468755"/>
                <a:gd name="connsiteX1" fmla="*/ 271879 w 271879"/>
                <a:gd name="connsiteY1" fmla="*/ 0 h 468755"/>
                <a:gd name="connsiteX2" fmla="*/ 271879 w 271879"/>
                <a:gd name="connsiteY2" fmla="*/ 468755 h 468755"/>
              </a:gdLst>
              <a:ahLst/>
              <a:cxnLst>
                <a:cxn ang="0">
                  <a:pos x="connsiteX0" y="connsiteY0"/>
                </a:cxn>
                <a:cxn ang="0">
                  <a:pos x="connsiteX1" y="connsiteY1"/>
                </a:cxn>
                <a:cxn ang="0">
                  <a:pos x="connsiteX2" y="connsiteY2"/>
                </a:cxn>
              </a:cxnLst>
              <a:rect l="l" t="t" r="r" b="b"/>
              <a:pathLst>
                <a:path w="271879" h="468755">
                  <a:moveTo>
                    <a:pt x="0" y="468755"/>
                  </a:moveTo>
                  <a:lnTo>
                    <a:pt x="271879" y="0"/>
                  </a:lnTo>
                  <a:lnTo>
                    <a:pt x="271879" y="468755"/>
                  </a:lnTo>
                  <a:close/>
                </a:path>
              </a:pathLst>
            </a:custGeom>
            <a:solidFill>
              <a:sysClr val="window" lastClr="FFFFFF">
                <a:lumMod val="85000"/>
                <a:alpha val="30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sp>
          <p:nvSpPr>
            <p:cNvPr id="17" name="任意多边形 20"/>
            <p:cNvSpPr/>
            <p:nvPr/>
          </p:nvSpPr>
          <p:spPr>
            <a:xfrm rot="5400000" flipH="1" flipV="1">
              <a:off x="7852807" y="-390929"/>
              <a:ext cx="271362" cy="468759"/>
            </a:xfrm>
            <a:custGeom>
              <a:avLst/>
              <a:gdLst>
                <a:gd name="connsiteX0" fmla="*/ 0 w 271879"/>
                <a:gd name="connsiteY0" fmla="*/ 468755 h 468755"/>
                <a:gd name="connsiteX1" fmla="*/ 271879 w 271879"/>
                <a:gd name="connsiteY1" fmla="*/ 0 h 468755"/>
                <a:gd name="connsiteX2" fmla="*/ 271879 w 271879"/>
                <a:gd name="connsiteY2" fmla="*/ 468755 h 468755"/>
              </a:gdLst>
              <a:ahLst/>
              <a:cxnLst>
                <a:cxn ang="0">
                  <a:pos x="connsiteX0" y="connsiteY0"/>
                </a:cxn>
                <a:cxn ang="0">
                  <a:pos x="connsiteX1" y="connsiteY1"/>
                </a:cxn>
                <a:cxn ang="0">
                  <a:pos x="connsiteX2" y="connsiteY2"/>
                </a:cxn>
              </a:cxnLst>
              <a:rect l="l" t="t" r="r" b="b"/>
              <a:pathLst>
                <a:path w="271879" h="468755">
                  <a:moveTo>
                    <a:pt x="0" y="468755"/>
                  </a:moveTo>
                  <a:lnTo>
                    <a:pt x="271879" y="0"/>
                  </a:lnTo>
                  <a:lnTo>
                    <a:pt x="271879" y="468755"/>
                  </a:lnTo>
                  <a:close/>
                </a:path>
              </a:pathLst>
            </a:custGeom>
            <a:solidFill>
              <a:sysClr val="window" lastClr="FFFFFF">
                <a:lumMod val="85000"/>
                <a:alpha val="30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sp>
          <p:nvSpPr>
            <p:cNvPr id="18" name="任意多边形 21"/>
            <p:cNvSpPr/>
            <p:nvPr/>
          </p:nvSpPr>
          <p:spPr>
            <a:xfrm rot="5400000" flipH="1" flipV="1">
              <a:off x="7368272" y="-390929"/>
              <a:ext cx="271362" cy="468759"/>
            </a:xfrm>
            <a:custGeom>
              <a:avLst/>
              <a:gdLst>
                <a:gd name="connsiteX0" fmla="*/ 0 w 271879"/>
                <a:gd name="connsiteY0" fmla="*/ 468755 h 468755"/>
                <a:gd name="connsiteX1" fmla="*/ 271879 w 271879"/>
                <a:gd name="connsiteY1" fmla="*/ 0 h 468755"/>
                <a:gd name="connsiteX2" fmla="*/ 271879 w 271879"/>
                <a:gd name="connsiteY2" fmla="*/ 468755 h 468755"/>
              </a:gdLst>
              <a:ahLst/>
              <a:cxnLst>
                <a:cxn ang="0">
                  <a:pos x="connsiteX0" y="connsiteY0"/>
                </a:cxn>
                <a:cxn ang="0">
                  <a:pos x="connsiteX1" y="connsiteY1"/>
                </a:cxn>
                <a:cxn ang="0">
                  <a:pos x="connsiteX2" y="connsiteY2"/>
                </a:cxn>
              </a:cxnLst>
              <a:rect l="l" t="t" r="r" b="b"/>
              <a:pathLst>
                <a:path w="271879" h="468755">
                  <a:moveTo>
                    <a:pt x="0" y="468755"/>
                  </a:moveTo>
                  <a:lnTo>
                    <a:pt x="271879" y="0"/>
                  </a:lnTo>
                  <a:lnTo>
                    <a:pt x="271879" y="468755"/>
                  </a:lnTo>
                  <a:close/>
                </a:path>
              </a:pathLst>
            </a:custGeom>
            <a:solidFill>
              <a:sysClr val="window" lastClr="FFFFFF">
                <a:lumMod val="85000"/>
                <a:alpha val="40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sp>
          <p:nvSpPr>
            <p:cNvPr id="19" name="任意多边形 22"/>
            <p:cNvSpPr/>
            <p:nvPr/>
          </p:nvSpPr>
          <p:spPr>
            <a:xfrm rot="5400000" flipH="1" flipV="1">
              <a:off x="8339595" y="-390929"/>
              <a:ext cx="271362" cy="468759"/>
            </a:xfrm>
            <a:custGeom>
              <a:avLst/>
              <a:gdLst>
                <a:gd name="connsiteX0" fmla="*/ 0 w 271879"/>
                <a:gd name="connsiteY0" fmla="*/ 468755 h 468755"/>
                <a:gd name="connsiteX1" fmla="*/ 271879 w 271879"/>
                <a:gd name="connsiteY1" fmla="*/ 0 h 468755"/>
                <a:gd name="connsiteX2" fmla="*/ 271879 w 271879"/>
                <a:gd name="connsiteY2" fmla="*/ 468755 h 468755"/>
              </a:gdLst>
              <a:ahLst/>
              <a:cxnLst>
                <a:cxn ang="0">
                  <a:pos x="connsiteX0" y="connsiteY0"/>
                </a:cxn>
                <a:cxn ang="0">
                  <a:pos x="connsiteX1" y="connsiteY1"/>
                </a:cxn>
                <a:cxn ang="0">
                  <a:pos x="connsiteX2" y="connsiteY2"/>
                </a:cxn>
              </a:cxnLst>
              <a:rect l="l" t="t" r="r" b="b"/>
              <a:pathLst>
                <a:path w="271879" h="468755">
                  <a:moveTo>
                    <a:pt x="0" y="468755"/>
                  </a:moveTo>
                  <a:lnTo>
                    <a:pt x="271879" y="0"/>
                  </a:lnTo>
                  <a:lnTo>
                    <a:pt x="271879" y="468755"/>
                  </a:lnTo>
                  <a:close/>
                </a:path>
              </a:pathLst>
            </a:custGeom>
            <a:solidFill>
              <a:sysClr val="window" lastClr="FFFFFF">
                <a:lumMod val="85000"/>
                <a:alpha val="40000"/>
              </a:sys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prstClr val="white"/>
                </a:solidFill>
                <a:latin typeface="Calibri" panose="020F0502020204030204"/>
              </a:endParaRPr>
            </a:p>
          </p:txBody>
        </p:sp>
      </p:grpSp>
      <p:sp>
        <p:nvSpPr>
          <p:cNvPr id="32" name="文本占位符 6"/>
          <p:cNvSpPr>
            <a:spLocks noGrp="1"/>
          </p:cNvSpPr>
          <p:nvPr>
            <p:ph type="body" sz="quarter" idx="13" hasCustomPrompt="1"/>
          </p:nvPr>
        </p:nvSpPr>
        <p:spPr>
          <a:xfrm>
            <a:off x="529319" y="192177"/>
            <a:ext cx="5581650" cy="228600"/>
          </a:xfrm>
        </p:spPr>
        <p:txBody>
          <a:bodyPr>
            <a:normAutofit/>
          </a:bodyPr>
          <a:lstStyle>
            <a:lvl1pPr marL="0" indent="0">
              <a:buNone/>
              <a:defRPr sz="1200" b="1">
                <a:solidFill>
                  <a:schemeClr val="tx1">
                    <a:lumMod val="65000"/>
                    <a:lumOff val="35000"/>
                  </a:schemeClr>
                </a:solidFill>
                <a:latin typeface="华文细黑" panose="02010600040101010101" pitchFamily="2" charset="-122"/>
                <a:ea typeface="华文细黑" panose="02010600040101010101" pitchFamily="2" charset="-122"/>
              </a:defRPr>
            </a:lvl1pPr>
          </a:lstStyle>
          <a:p>
            <a:pPr lvl="0"/>
            <a:r>
              <a:rPr lang="zh-CN" altLang="en-US" dirty="0"/>
              <a:t>编辑母版文本样式</a:t>
            </a:r>
          </a:p>
        </p:txBody>
      </p:sp>
      <p:sp>
        <p:nvSpPr>
          <p:cNvPr id="33" name="文本框 32"/>
          <p:cNvSpPr txBox="1"/>
          <p:nvPr userDrawn="1"/>
        </p:nvSpPr>
        <p:spPr>
          <a:xfrm>
            <a:off x="8179801" y="181291"/>
            <a:ext cx="716863" cy="300082"/>
          </a:xfrm>
          <a:prstGeom prst="rect">
            <a:avLst/>
          </a:prstGeom>
          <a:noFill/>
        </p:spPr>
        <p:txBody>
          <a:bodyPr wrap="none" rtlCol="0">
            <a:spAutoFit/>
          </a:bodyPr>
          <a:lstStyle/>
          <a:p>
            <a:r>
              <a:rPr lang="en-US" altLang="zh-CN" sz="1350" b="1" dirty="0">
                <a:solidFill>
                  <a:schemeClr val="tx1">
                    <a:lumMod val="65000"/>
                    <a:lumOff val="35000"/>
                  </a:schemeClr>
                </a:solidFill>
                <a:latin typeface="华文细黑" panose="02010600040101010101" pitchFamily="2" charset="-122"/>
                <a:ea typeface="华文细黑" panose="02010600040101010101" pitchFamily="2" charset="-122"/>
              </a:rPr>
              <a:t>LOGO</a:t>
            </a:r>
            <a:endParaRPr lang="zh-CN" altLang="en-US" sz="1350" b="1" dirty="0">
              <a:solidFill>
                <a:schemeClr val="tx1">
                  <a:lumMod val="65000"/>
                  <a:lumOff val="35000"/>
                </a:schemeClr>
              </a:solidFill>
              <a:latin typeface="华文细黑" panose="02010600040101010101" pitchFamily="2" charset="-122"/>
              <a:ea typeface="华文细黑" panose="02010600040101010101" pitchFamily="2" charset="-122"/>
            </a:endParaRPr>
          </a:p>
        </p:txBody>
      </p:sp>
      <p:sp>
        <p:nvSpPr>
          <p:cNvPr id="34" name="任意多边形 3"/>
          <p:cNvSpPr/>
          <p:nvPr userDrawn="1"/>
        </p:nvSpPr>
        <p:spPr bwMode="auto">
          <a:xfrm>
            <a:off x="226814" y="175041"/>
            <a:ext cx="241102" cy="241101"/>
          </a:xfrm>
          <a:custGeom>
            <a:avLst/>
            <a:gdLst>
              <a:gd name="connsiteX0" fmla="*/ 157734 w 406400"/>
              <a:gd name="connsiteY0" fmla="*/ 125523 h 406400"/>
              <a:gd name="connsiteX1" fmla="*/ 157734 w 406400"/>
              <a:gd name="connsiteY1" fmla="*/ 285067 h 406400"/>
              <a:gd name="connsiteX2" fmla="*/ 295272 w 406400"/>
              <a:gd name="connsiteY2" fmla="*/ 205295 h 406400"/>
              <a:gd name="connsiteX3" fmla="*/ 203200 w 406400"/>
              <a:gd name="connsiteY3" fmla="*/ 0 h 406400"/>
              <a:gd name="connsiteX4" fmla="*/ 406400 w 406400"/>
              <a:gd name="connsiteY4" fmla="*/ 203200 h 406400"/>
              <a:gd name="connsiteX5" fmla="*/ 203200 w 406400"/>
              <a:gd name="connsiteY5" fmla="*/ 406400 h 406400"/>
              <a:gd name="connsiteX6" fmla="*/ 0 w 406400"/>
              <a:gd name="connsiteY6" fmla="*/ 203200 h 406400"/>
              <a:gd name="connsiteX7" fmla="*/ 203200 w 406400"/>
              <a:gd name="connsiteY7" fmla="*/ 0 h 40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6400" h="406400">
                <a:moveTo>
                  <a:pt x="157734" y="125523"/>
                </a:moveTo>
                <a:lnTo>
                  <a:pt x="157734" y="285067"/>
                </a:lnTo>
                <a:lnTo>
                  <a:pt x="295272" y="205295"/>
                </a:lnTo>
                <a:close/>
                <a:moveTo>
                  <a:pt x="203200" y="0"/>
                </a:moveTo>
                <a:cubicBezTo>
                  <a:pt x="315424" y="0"/>
                  <a:pt x="406400" y="90976"/>
                  <a:pt x="406400" y="203200"/>
                </a:cubicBezTo>
                <a:cubicBezTo>
                  <a:pt x="406400" y="315424"/>
                  <a:pt x="315424" y="406400"/>
                  <a:pt x="203200" y="406400"/>
                </a:cubicBezTo>
                <a:cubicBezTo>
                  <a:pt x="90976" y="406400"/>
                  <a:pt x="0" y="315424"/>
                  <a:pt x="0" y="203200"/>
                </a:cubicBezTo>
                <a:cubicBezTo>
                  <a:pt x="0" y="90976"/>
                  <a:pt x="90976" y="0"/>
                  <a:pt x="2032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Tree>
  </p:cSld>
  <p:clrMapOvr>
    <a:masterClrMapping/>
  </p:clrMapOvr>
  <mc:AlternateContent xmlns:mc="http://schemas.openxmlformats.org/markup-compatibility/2006" xmlns:p14="http://schemas.microsoft.com/office/powerpoint/2010/main">
    <mc:Choice Requires="p14">
      <p:transition p14:dur="250">
        <p:split orient="vert"/>
      </p:transition>
    </mc:Choice>
    <mc:Fallback xmlns="">
      <p:transition>
        <p:split orient="vert"/>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Portfolio #1">
    <p:spTree>
      <p:nvGrpSpPr>
        <p:cNvPr id="1" name=""/>
        <p:cNvGrpSpPr/>
        <p:nvPr/>
      </p:nvGrpSpPr>
      <p:grpSpPr>
        <a:xfrm>
          <a:off x="0" y="0"/>
          <a:ext cx="0" cy="0"/>
          <a:chOff x="0" y="0"/>
          <a:chExt cx="0" cy="0"/>
        </a:xfrm>
      </p:grpSpPr>
      <p:sp>
        <p:nvSpPr>
          <p:cNvPr id="6" name="Picture Placeholder 5"/>
          <p:cNvSpPr>
            <a:spLocks noGrp="1"/>
          </p:cNvSpPr>
          <p:nvPr>
            <p:ph type="pic" sz="quarter" idx="10" hasCustomPrompt="1"/>
          </p:nvPr>
        </p:nvSpPr>
        <p:spPr>
          <a:xfrm>
            <a:off x="89298" y="78582"/>
            <a:ext cx="5026819" cy="4985147"/>
          </a:xfrm>
          <a:prstGeom prst="rect">
            <a:avLst/>
          </a:prstGeom>
          <a:solidFill>
            <a:schemeClr val="bg1">
              <a:lumMod val="65000"/>
            </a:schemeClr>
          </a:solidFill>
        </p:spPr>
        <p:txBody>
          <a:bodyPr/>
          <a:lstStyle>
            <a:lvl1pPr marL="0" indent="0">
              <a:buNone/>
              <a:defRPr sz="750" b="1">
                <a:solidFill>
                  <a:schemeClr val="bg1"/>
                </a:solidFill>
              </a:defRPr>
            </a:lvl1pPr>
          </a:lstStyle>
          <a:p>
            <a:r>
              <a:rPr lang="zh-CN" altLang="en-US" dirty="0"/>
              <a:t>请替换文字内容</a:t>
            </a:r>
            <a:r>
              <a:rPr lang="en-US" dirty="0"/>
              <a:t>Image</a:t>
            </a:r>
          </a:p>
        </p:txBody>
      </p:sp>
      <p:sp>
        <p:nvSpPr>
          <p:cNvPr id="7" name="Picture Placeholder 5"/>
          <p:cNvSpPr>
            <a:spLocks noGrp="1"/>
          </p:cNvSpPr>
          <p:nvPr>
            <p:ph type="pic" sz="quarter" idx="11" hasCustomPrompt="1"/>
          </p:nvPr>
        </p:nvSpPr>
        <p:spPr>
          <a:xfrm>
            <a:off x="5163702" y="78581"/>
            <a:ext cx="1920241" cy="2469645"/>
          </a:xfrm>
          <a:prstGeom prst="rect">
            <a:avLst/>
          </a:prstGeom>
          <a:solidFill>
            <a:schemeClr val="bg1">
              <a:lumMod val="65000"/>
            </a:schemeClr>
          </a:solidFill>
        </p:spPr>
        <p:txBody>
          <a:bodyPr/>
          <a:lstStyle>
            <a:lvl1pPr marL="0" indent="0">
              <a:buNone/>
              <a:defRPr sz="750" b="1">
                <a:solidFill>
                  <a:schemeClr val="bg1"/>
                </a:solidFill>
              </a:defRPr>
            </a:lvl1pPr>
          </a:lstStyle>
          <a:p>
            <a:r>
              <a:rPr lang="zh-CN" altLang="en-US" dirty="0"/>
              <a:t>请替换文字内容</a:t>
            </a:r>
            <a:r>
              <a:rPr lang="en-US" dirty="0"/>
              <a:t>Image</a:t>
            </a:r>
          </a:p>
        </p:txBody>
      </p:sp>
      <p:sp>
        <p:nvSpPr>
          <p:cNvPr id="8" name="Picture Placeholder 5"/>
          <p:cNvSpPr>
            <a:spLocks noGrp="1"/>
          </p:cNvSpPr>
          <p:nvPr>
            <p:ph type="pic" sz="quarter" idx="12" hasCustomPrompt="1"/>
          </p:nvPr>
        </p:nvSpPr>
        <p:spPr>
          <a:xfrm>
            <a:off x="7131786" y="2595274"/>
            <a:ext cx="1920241" cy="2469645"/>
          </a:xfrm>
          <a:prstGeom prst="rect">
            <a:avLst/>
          </a:prstGeom>
          <a:solidFill>
            <a:schemeClr val="bg1">
              <a:lumMod val="65000"/>
            </a:schemeClr>
          </a:solidFill>
        </p:spPr>
        <p:txBody>
          <a:bodyPr/>
          <a:lstStyle>
            <a:lvl1pPr marL="0" indent="0">
              <a:buNone/>
              <a:defRPr sz="750" b="1">
                <a:solidFill>
                  <a:schemeClr val="bg1"/>
                </a:solidFill>
              </a:defRPr>
            </a:lvl1pPr>
          </a:lstStyle>
          <a:p>
            <a:r>
              <a:rPr lang="zh-CN" altLang="en-US" dirty="0"/>
              <a:t>请替换文字内容</a:t>
            </a:r>
            <a:r>
              <a:rPr lang="en-US" dirty="0"/>
              <a:t>Image</a:t>
            </a:r>
          </a:p>
        </p:txBody>
      </p:sp>
    </p:spTree>
  </p:cSld>
  <p:clrMapOvr>
    <a:masterClrMapping/>
  </p:clrMapOvr>
  <mc:AlternateContent xmlns:mc="http://schemas.openxmlformats.org/markup-compatibility/2006" xmlns:p14="http://schemas.microsoft.com/office/powerpoint/2010/main">
    <mc:Choice Requires="p14">
      <p:transition p14:dur="250">
        <p:split orient="vert"/>
      </p:transition>
    </mc:Choice>
    <mc:Fallback xmlns="">
      <p:transition>
        <p:split orient="vert"/>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7_Big Image Placeholder">
    <p:spTree>
      <p:nvGrpSpPr>
        <p:cNvPr id="1" name=""/>
        <p:cNvGrpSpPr/>
        <p:nvPr/>
      </p:nvGrpSpPr>
      <p:grpSpPr>
        <a:xfrm>
          <a:off x="0" y="0"/>
          <a:ext cx="0" cy="0"/>
          <a:chOff x="0" y="0"/>
          <a:chExt cx="0" cy="0"/>
        </a:xfrm>
      </p:grpSpPr>
      <p:sp>
        <p:nvSpPr>
          <p:cNvPr id="11" name="Picture Placeholder 2"/>
          <p:cNvSpPr>
            <a:spLocks noGrp="1"/>
          </p:cNvSpPr>
          <p:nvPr>
            <p:ph type="pic" sz="quarter" idx="13"/>
          </p:nvPr>
        </p:nvSpPr>
        <p:spPr>
          <a:xfrm>
            <a:off x="475545" y="881870"/>
            <a:ext cx="2650411" cy="2816467"/>
          </a:xfrm>
          <a:prstGeom prst="rect">
            <a:avLst/>
          </a:prstGeom>
        </p:spPr>
        <p:txBody>
          <a:bodyPr rtlCol="0">
            <a:normAutofit/>
          </a:bodyPr>
          <a:lstStyle>
            <a:lvl1pPr marL="0" indent="0">
              <a:buNone/>
              <a:defRPr sz="750">
                <a:latin typeface="Calibri Light" panose="020F0302020204030204"/>
                <a:cs typeface="Calibri Light" panose="020F0302020204030204"/>
              </a:defRPr>
            </a:lvl1pPr>
          </a:lstStyle>
          <a:p>
            <a:pPr lvl="0"/>
            <a:endParaRPr lang="en-US" noProof="0" dirty="0"/>
          </a:p>
        </p:txBody>
      </p:sp>
      <p:sp>
        <p:nvSpPr>
          <p:cNvPr id="12" name="Picture Placeholder 2"/>
          <p:cNvSpPr>
            <a:spLocks noGrp="1"/>
          </p:cNvSpPr>
          <p:nvPr>
            <p:ph type="pic" sz="quarter" idx="14"/>
          </p:nvPr>
        </p:nvSpPr>
        <p:spPr>
          <a:xfrm>
            <a:off x="3240652" y="881870"/>
            <a:ext cx="2650411" cy="2816467"/>
          </a:xfrm>
          <a:prstGeom prst="rect">
            <a:avLst/>
          </a:prstGeom>
        </p:spPr>
        <p:txBody>
          <a:bodyPr rtlCol="0">
            <a:normAutofit/>
          </a:bodyPr>
          <a:lstStyle>
            <a:lvl1pPr marL="0" indent="0">
              <a:buNone/>
              <a:defRPr sz="750">
                <a:latin typeface="Calibri Light" panose="020F0302020204030204"/>
                <a:cs typeface="Calibri Light" panose="020F0302020204030204"/>
              </a:defRPr>
            </a:lvl1pPr>
          </a:lstStyle>
          <a:p>
            <a:pPr lvl="0"/>
            <a:endParaRPr lang="en-US" noProof="0" dirty="0"/>
          </a:p>
        </p:txBody>
      </p:sp>
      <p:sp>
        <p:nvSpPr>
          <p:cNvPr id="13" name="Picture Placeholder 2"/>
          <p:cNvSpPr>
            <a:spLocks noGrp="1"/>
          </p:cNvSpPr>
          <p:nvPr>
            <p:ph type="pic" sz="quarter" idx="15"/>
          </p:nvPr>
        </p:nvSpPr>
        <p:spPr>
          <a:xfrm>
            <a:off x="6005760" y="881870"/>
            <a:ext cx="2650411" cy="2816467"/>
          </a:xfrm>
          <a:prstGeom prst="rect">
            <a:avLst/>
          </a:prstGeom>
        </p:spPr>
        <p:txBody>
          <a:bodyPr rtlCol="0">
            <a:normAutofit/>
          </a:bodyPr>
          <a:lstStyle>
            <a:lvl1pPr marL="0" indent="0">
              <a:buNone/>
              <a:defRPr sz="750">
                <a:latin typeface="Calibri Light" panose="020F0302020204030204"/>
                <a:cs typeface="Calibri Light" panose="020F0302020204030204"/>
              </a:defRPr>
            </a:lvl1pPr>
          </a:lstStyle>
          <a:p>
            <a:pPr lvl="0"/>
            <a:endParaRPr lang="en-US" noProof="0" dirty="0"/>
          </a:p>
        </p:txBody>
      </p:sp>
    </p:spTree>
  </p:cSld>
  <p:clrMapOvr>
    <a:masterClrMapping/>
  </p:clrMapOvr>
  <mc:AlternateContent xmlns:mc="http://schemas.openxmlformats.org/markup-compatibility/2006" xmlns:p14="http://schemas.microsoft.com/office/powerpoint/2010/main">
    <mc:Choice Requires="p14">
      <p:transition p14:dur="250">
        <p:split orient="vert"/>
      </p:transition>
    </mc:Choice>
    <mc:Fallback xmlns="">
      <p:transition>
        <p:split orient="vert"/>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250">
        <p:split orient="vert"/>
      </p:transition>
    </mc:Choice>
    <mc:Fallback xmlns="">
      <p:transition>
        <p:split orient="vert"/>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Vertical Title and Text">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1752601" y="361950"/>
            <a:ext cx="5638800" cy="353524"/>
          </a:xfrm>
          <a:prstGeom prst="rect">
            <a:avLst/>
          </a:prstGeom>
        </p:spPr>
        <p:txBody>
          <a:bodyPr wrap="none" lIns="0" tIns="0" rIns="0" bIns="0" anchor="ctr">
            <a:noAutofit/>
          </a:bodyPr>
          <a:lstStyle>
            <a:lvl1pPr algn="ctr">
              <a:defRPr sz="2400" b="1" baseline="0">
                <a:solidFill>
                  <a:schemeClr val="tx1">
                    <a:lumMod val="50000"/>
                    <a:lumOff val="50000"/>
                  </a:schemeClr>
                </a:solidFill>
              </a:defRPr>
            </a:lvl1pPr>
          </a:lstStyle>
          <a:p>
            <a:r>
              <a:rPr lang="en-US" dirty="0"/>
              <a:t>Click To Edit Master Title Style</a:t>
            </a:r>
          </a:p>
        </p:txBody>
      </p:sp>
      <p:sp>
        <p:nvSpPr>
          <p:cNvPr id="10" name="Text Placeholder 3"/>
          <p:cNvSpPr>
            <a:spLocks noGrp="1"/>
          </p:cNvSpPr>
          <p:nvPr>
            <p:ph type="body" sz="half" idx="2" hasCustomPrompt="1"/>
          </p:nvPr>
        </p:nvSpPr>
        <p:spPr>
          <a:xfrm>
            <a:off x="2514600" y="713941"/>
            <a:ext cx="4114800" cy="200746"/>
          </a:xfrm>
          <a:prstGeom prst="rect">
            <a:avLst/>
          </a:prstGeom>
        </p:spPr>
        <p:txBody>
          <a:bodyPr wrap="none" lIns="0" tIns="0" rIns="0" bIns="0" anchor="ctr">
            <a:noAutofit/>
          </a:bodyPr>
          <a:lstStyle>
            <a:lvl1pPr marL="0" indent="0" algn="ctr">
              <a:buNone/>
              <a:defRPr sz="1200" b="1" baseline="0">
                <a:solidFill>
                  <a:schemeClr val="bg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Subtext Goes Here</a:t>
            </a:r>
          </a:p>
        </p:txBody>
      </p:sp>
    </p:spTree>
  </p:cSld>
  <p:clrMapOvr>
    <a:masterClrMapping/>
  </p:clrMapOvr>
  <mc:AlternateContent xmlns:mc="http://schemas.openxmlformats.org/markup-compatibility/2006" xmlns:p14="http://schemas.microsoft.com/office/powerpoint/2010/main">
    <mc:Choice Requires="p14">
      <p:transition p14:dur="250">
        <p:split orient="vert"/>
      </p:transition>
    </mc:Choice>
    <mc:Fallback xmlns="">
      <p:transition>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0">
                                            <p:txEl>
                                              <p:pRg st="0" end="0"/>
                                            </p:txEl>
                                          </p:spTgt>
                                        </p:tgtEl>
                                        <p:attrNameLst>
                                          <p:attrName>style.visibility</p:attrName>
                                        </p:attrNameLst>
                                      </p:cBhvr>
                                      <p:to>
                                        <p:strVal val="visible"/>
                                      </p:to>
                                    </p:set>
                                    <p:animEffect transition="in" filter="fade">
                                      <p:cBhvr>
                                        <p:cTn id="11" dur="5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build="p">
        <p:tmplLst>
          <p:tmpl lvl="1">
            <p:tnLst>
              <p:par>
                <p:cTn presetID="10" presetClass="entr" presetSubtype="0"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fade">
                      <p:cBhvr>
                        <p:cTn dur="500"/>
                        <p:tgtEl>
                          <p:spTgt spid="10"/>
                        </p:tgtEl>
                      </p:cBhvr>
                    </p:animEffect>
                  </p:childTnLst>
                </p:cTn>
              </p:par>
            </p:tnLst>
          </p:tmpl>
        </p:tmplLst>
      </p:bldP>
    </p:bld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自定义版式">
    <p:bg>
      <p:bgPr>
        <a:solidFill>
          <a:srgbClr val="FCFBF9"/>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250">
        <p:split orient="vert"/>
      </p:transition>
    </mc:Choice>
    <mc:Fallback xmlns="">
      <p:transition>
        <p:split orient="vert"/>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250">
        <p:split orient="vert"/>
      </p:transition>
    </mc:Choice>
    <mc:Fallback xmlns="">
      <p:transition>
        <p:split orient="vert"/>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空白页">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51" y="0"/>
            <a:ext cx="9143499" cy="5143500"/>
          </a:xfrm>
          <a:prstGeom prst="rect">
            <a:avLst/>
          </a:prstGeom>
        </p:spPr>
      </p:pic>
      <p:grpSp>
        <p:nvGrpSpPr>
          <p:cNvPr id="2" name="组合 3"/>
          <p:cNvGrpSpPr/>
          <p:nvPr userDrawn="1"/>
        </p:nvGrpSpPr>
        <p:grpSpPr bwMode="auto">
          <a:xfrm flipH="1">
            <a:off x="-1" y="248018"/>
            <a:ext cx="1797166" cy="507206"/>
            <a:chOff x="2370576" y="533400"/>
            <a:chExt cx="2417494" cy="675969"/>
          </a:xfrm>
          <a:solidFill>
            <a:srgbClr val="EE1C39"/>
          </a:solidFill>
        </p:grpSpPr>
        <p:sp>
          <p:nvSpPr>
            <p:cNvPr id="3" name="矩形 2"/>
            <p:cNvSpPr/>
            <p:nvPr/>
          </p:nvSpPr>
          <p:spPr>
            <a:xfrm>
              <a:off x="2738030" y="533400"/>
              <a:ext cx="2050040" cy="67596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425">
                <a:cs typeface="+mn-ea"/>
                <a:sym typeface="+mn-lt"/>
              </a:endParaRPr>
            </a:p>
          </p:txBody>
        </p:sp>
        <p:sp>
          <p:nvSpPr>
            <p:cNvPr id="4" name="椭圆 3"/>
            <p:cNvSpPr/>
            <p:nvPr/>
          </p:nvSpPr>
          <p:spPr>
            <a:xfrm>
              <a:off x="2370576" y="533400"/>
              <a:ext cx="623734" cy="67596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425">
                <a:cs typeface="+mn-ea"/>
                <a:sym typeface="+mn-lt"/>
              </a:endParaRPr>
            </a:p>
          </p:txBody>
        </p:sp>
      </p:grpSp>
      <p:sp>
        <p:nvSpPr>
          <p:cNvPr id="6" name="文本框 12"/>
          <p:cNvSpPr txBox="1">
            <a:spLocks noChangeArrowheads="1"/>
          </p:cNvSpPr>
          <p:nvPr userDrawn="1"/>
        </p:nvSpPr>
        <p:spPr bwMode="auto">
          <a:xfrm>
            <a:off x="-1" y="370296"/>
            <a:ext cx="1796090" cy="486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Open Sans" panose="020B0606030504020204" pitchFamily="34" charset="0"/>
                <a:ea typeface="冬青黑体简体中文 W3" charset="-122"/>
              </a:defRPr>
            </a:lvl1pPr>
            <a:lvl2pPr marL="742950" indent="-285750">
              <a:defRPr>
                <a:solidFill>
                  <a:schemeClr val="tx1"/>
                </a:solidFill>
                <a:latin typeface="Open Sans" panose="020B0606030504020204" pitchFamily="34" charset="0"/>
                <a:ea typeface="冬青黑体简体中文 W3" charset="-122"/>
              </a:defRPr>
            </a:lvl2pPr>
            <a:lvl3pPr marL="1143000" indent="-228600">
              <a:defRPr>
                <a:solidFill>
                  <a:schemeClr val="tx1"/>
                </a:solidFill>
                <a:latin typeface="Open Sans" panose="020B0606030504020204" pitchFamily="34" charset="0"/>
                <a:ea typeface="冬青黑体简体中文 W3" charset="-122"/>
              </a:defRPr>
            </a:lvl3pPr>
            <a:lvl4pPr marL="1600200" indent="-228600">
              <a:defRPr>
                <a:solidFill>
                  <a:schemeClr val="tx1"/>
                </a:solidFill>
                <a:latin typeface="Open Sans" panose="020B0606030504020204" pitchFamily="34" charset="0"/>
                <a:ea typeface="冬青黑体简体中文 W3" charset="-122"/>
              </a:defRPr>
            </a:lvl4pPr>
            <a:lvl5pPr marL="2057400" indent="-228600">
              <a:defRPr>
                <a:solidFill>
                  <a:schemeClr val="tx1"/>
                </a:solidFill>
                <a:latin typeface="Open Sans" panose="020B0606030504020204" pitchFamily="34" charset="0"/>
                <a:ea typeface="冬青黑体简体中文 W3" charset="-122"/>
              </a:defRPr>
            </a:lvl5pPr>
            <a:lvl6pPr marL="2514600" indent="-228600" fontAlgn="base">
              <a:spcBef>
                <a:spcPct val="0"/>
              </a:spcBef>
              <a:spcAft>
                <a:spcPct val="0"/>
              </a:spcAft>
              <a:defRPr>
                <a:solidFill>
                  <a:schemeClr val="tx1"/>
                </a:solidFill>
                <a:latin typeface="Open Sans" panose="020B0606030504020204" pitchFamily="34" charset="0"/>
                <a:ea typeface="冬青黑体简体中文 W3" charset="-122"/>
              </a:defRPr>
            </a:lvl6pPr>
            <a:lvl7pPr marL="2971800" indent="-228600" fontAlgn="base">
              <a:spcBef>
                <a:spcPct val="0"/>
              </a:spcBef>
              <a:spcAft>
                <a:spcPct val="0"/>
              </a:spcAft>
              <a:defRPr>
                <a:solidFill>
                  <a:schemeClr val="tx1"/>
                </a:solidFill>
                <a:latin typeface="Open Sans" panose="020B0606030504020204" pitchFamily="34" charset="0"/>
                <a:ea typeface="冬青黑体简体中文 W3" charset="-122"/>
              </a:defRPr>
            </a:lvl7pPr>
            <a:lvl8pPr marL="3429000" indent="-228600" fontAlgn="base">
              <a:spcBef>
                <a:spcPct val="0"/>
              </a:spcBef>
              <a:spcAft>
                <a:spcPct val="0"/>
              </a:spcAft>
              <a:defRPr>
                <a:solidFill>
                  <a:schemeClr val="tx1"/>
                </a:solidFill>
                <a:latin typeface="Open Sans" panose="020B0606030504020204" pitchFamily="34" charset="0"/>
                <a:ea typeface="冬青黑体简体中文 W3" charset="-122"/>
              </a:defRPr>
            </a:lvl8pPr>
            <a:lvl9pPr marL="3886200" indent="-228600" fontAlgn="base">
              <a:spcBef>
                <a:spcPct val="0"/>
              </a:spcBef>
              <a:spcAft>
                <a:spcPct val="0"/>
              </a:spcAft>
              <a:defRPr>
                <a:solidFill>
                  <a:schemeClr val="tx1"/>
                </a:solidFill>
                <a:latin typeface="Open Sans" panose="020B0606030504020204" pitchFamily="34" charset="0"/>
                <a:ea typeface="冬青黑体简体中文 W3" charset="-122"/>
              </a:defRPr>
            </a:lvl9pPr>
          </a:lstStyle>
          <a:p>
            <a:r>
              <a:rPr lang="zh-CN" altLang="en-US" sz="1280" dirty="0">
                <a:solidFill>
                  <a:schemeClr val="bg1"/>
                </a:solidFill>
                <a:latin typeface="微软雅黑" panose="020B0503020204020204" pitchFamily="34" charset="-122"/>
                <a:ea typeface="微软雅黑" panose="020B0503020204020204" pitchFamily="34" charset="-122"/>
                <a:cs typeface="+mn-ea"/>
                <a:sym typeface="+mn-lt"/>
              </a:rPr>
              <a:t>点击添加相关标题文字</a:t>
            </a:r>
          </a:p>
        </p:txBody>
      </p:sp>
    </p:spTree>
  </p:cSld>
  <p:clrMapOvr>
    <a:masterClrMapping/>
  </p:clrMapOvr>
  <mc:AlternateContent xmlns:mc="http://schemas.openxmlformats.org/markup-compatibility/2006" xmlns:p14="http://schemas.microsoft.com/office/powerpoint/2010/main">
    <mc:Choice Requires="p14">
      <p:transition p14:dur="250">
        <p:split orient="vert"/>
      </p:transition>
    </mc:Choice>
    <mc:Fallback xmlns="">
      <p:transition>
        <p:split orient="vert"/>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2_节标题">
    <p:spTree>
      <p:nvGrpSpPr>
        <p:cNvPr id="1" name=""/>
        <p:cNvGrpSpPr/>
        <p:nvPr/>
      </p:nvGrpSpPr>
      <p:grpSpPr>
        <a:xfrm>
          <a:off x="0" y="0"/>
          <a:ext cx="0" cy="0"/>
          <a:chOff x="0" y="0"/>
          <a:chExt cx="0" cy="0"/>
        </a:xfrm>
      </p:grpSpPr>
      <p:sp>
        <p:nvSpPr>
          <p:cNvPr id="3" name="矩形 2"/>
          <p:cNvSpPr/>
          <p:nvPr userDrawn="1"/>
        </p:nvSpPr>
        <p:spPr>
          <a:xfrm>
            <a:off x="0" y="-9031"/>
            <a:ext cx="9144000" cy="5152531"/>
          </a:xfrm>
          <a:prstGeom prst="rect">
            <a:avLst/>
          </a:prstGeom>
          <a:solidFill>
            <a:srgbClr val="231F2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80"/>
          </a:p>
        </p:txBody>
      </p:sp>
    </p:spTree>
  </p:cSld>
  <p:clrMapOvr>
    <a:masterClrMapping/>
  </p:clrMapOvr>
  <mc:AlternateContent xmlns:mc="http://schemas.openxmlformats.org/markup-compatibility/2006" xmlns:p14="http://schemas.microsoft.com/office/powerpoint/2010/main">
    <mc:Choice Requires="p14">
      <p:transition p14:dur="250">
        <p:split orient="vert"/>
      </p:transition>
    </mc:Choice>
    <mc:Fallback xmlns="">
      <p:transition>
        <p:split orient="vert"/>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空白1">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250">
        <p:split orient="vert"/>
      </p:transition>
    </mc:Choice>
    <mc:Fallback xmlns="">
      <p:transition>
        <p:split orient="vert"/>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自定义版式">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250">
        <p:split orient="vert"/>
      </p:transition>
    </mc:Choice>
    <mc:Fallback xmlns="">
      <p:transition>
        <p:split orient="vert"/>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标题 3"/>
          <p:cNvSpPr>
            <a:spLocks noGrp="1"/>
          </p:cNvSpPr>
          <p:nvPr>
            <p:ph type="title"/>
          </p:nvPr>
        </p:nvSpPr>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834166900"/>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42A54C80-263E-416B-A8E0-580EDEADCBDC}" type="datetimeFigureOut">
              <a:rPr lang="en-US" smtClean="0"/>
              <a:t>10/18/2018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25910816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1" y="205979"/>
            <a:ext cx="8229600" cy="857250"/>
          </a:xfrm>
          <a:prstGeom prst="rect">
            <a:avLst/>
          </a:prstGeom>
        </p:spPr>
        <p:txBody>
          <a:bodyPr vert="horz" lIns="91428" tIns="45714" rIns="91428" bIns="45714"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1" y="1200151"/>
            <a:ext cx="8229600" cy="3394472"/>
          </a:xfrm>
          <a:prstGeom prst="rect">
            <a:avLst/>
          </a:prstGeom>
        </p:spPr>
        <p:txBody>
          <a:bodyPr vert="horz" lIns="91428" tIns="45714" rIns="91428" bIns="45714"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1" y="4767264"/>
            <a:ext cx="2133600" cy="273844"/>
          </a:xfrm>
          <a:prstGeom prst="rect">
            <a:avLst/>
          </a:prstGeom>
        </p:spPr>
        <p:txBody>
          <a:bodyPr vert="horz" lIns="91428" tIns="45714" rIns="91428" bIns="45714" rtlCol="0" anchor="ctr"/>
          <a:lstStyle>
            <a:lvl1pPr algn="l">
              <a:defRPr sz="1200">
                <a:solidFill>
                  <a:schemeClr val="tx1">
                    <a:tint val="75000"/>
                  </a:schemeClr>
                </a:solidFill>
              </a:defRPr>
            </a:lvl1pPr>
          </a:lstStyle>
          <a:p>
            <a:fld id="{02854A03-91AF-448A-9954-517C0577E5F0}" type="datetimeFigureOut">
              <a:rPr lang="zh-CN" altLang="en-US" smtClean="0"/>
              <a:t>2018/10/18</a:t>
            </a:fld>
            <a:endParaRPr lang="zh-CN" altLang="en-US"/>
          </a:p>
        </p:txBody>
      </p:sp>
      <p:sp>
        <p:nvSpPr>
          <p:cNvPr id="5" name="页脚占位符 4"/>
          <p:cNvSpPr>
            <a:spLocks noGrp="1"/>
          </p:cNvSpPr>
          <p:nvPr>
            <p:ph type="ftr" sz="quarter" idx="3"/>
          </p:nvPr>
        </p:nvSpPr>
        <p:spPr>
          <a:xfrm>
            <a:off x="3124201" y="4767264"/>
            <a:ext cx="2895600" cy="273844"/>
          </a:xfrm>
          <a:prstGeom prst="rect">
            <a:avLst/>
          </a:prstGeom>
        </p:spPr>
        <p:txBody>
          <a:bodyPr vert="horz" lIns="91428" tIns="45714" rIns="91428" bIns="45714"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1" y="4767264"/>
            <a:ext cx="2133600" cy="273844"/>
          </a:xfrm>
          <a:prstGeom prst="rect">
            <a:avLst/>
          </a:prstGeom>
        </p:spPr>
        <p:txBody>
          <a:bodyPr vert="horz" lIns="91428" tIns="45714" rIns="91428" bIns="45714" rtlCol="0" anchor="ctr"/>
          <a:lstStyle>
            <a:lvl1pPr algn="r">
              <a:defRPr sz="1200">
                <a:solidFill>
                  <a:schemeClr val="tx1">
                    <a:tint val="75000"/>
                  </a:schemeClr>
                </a:solidFill>
              </a:defRPr>
            </a:lvl1pPr>
          </a:lstStyle>
          <a:p>
            <a:fld id="{2EEFC946-6D13-4F8C-9740-992A906A613E}"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 id="2147483664" r:id="rId15"/>
    <p:sldLayoutId id="2147483665" r:id="rId16"/>
    <p:sldLayoutId id="2147483666" r:id="rId17"/>
    <p:sldLayoutId id="2147483667" r:id="rId18"/>
    <p:sldLayoutId id="2147483668" r:id="rId19"/>
  </p:sldLayoutIdLst>
  <mc:AlternateContent xmlns:mc="http://schemas.openxmlformats.org/markup-compatibility/2006" xmlns:p14="http://schemas.microsoft.com/office/powerpoint/2010/main">
    <mc:Choice Requires="p14">
      <p:transition p14:dur="250">
        <p:split orient="vert"/>
      </p:transition>
    </mc:Choice>
    <mc:Fallback xmlns="">
      <p:transition>
        <p:split orient="vert"/>
      </p:transition>
    </mc:Fallback>
  </mc:AlternateContent>
  <p:txStyles>
    <p:titleStyle>
      <a:lvl1pPr algn="ctr" defTabSz="913765"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37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3765"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3765"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39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3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5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2565" algn="l" defTabSz="913765" rtl="0" eaLnBrk="1" latinLnBrk="0" hangingPunct="1">
        <a:defRPr sz="1800" kern="1200">
          <a:solidFill>
            <a:schemeClr val="tx1"/>
          </a:solidFill>
          <a:latin typeface="+mn-lt"/>
          <a:ea typeface="+mn-ea"/>
          <a:cs typeface="+mn-cs"/>
        </a:defRPr>
      </a:lvl7pPr>
      <a:lvl8pPr marL="3199765" algn="l" defTabSz="913765" rtl="0" eaLnBrk="1" latinLnBrk="0" hangingPunct="1">
        <a:defRPr sz="1800" kern="1200">
          <a:solidFill>
            <a:schemeClr val="tx1"/>
          </a:solidFill>
          <a:latin typeface="+mn-lt"/>
          <a:ea typeface="+mn-ea"/>
          <a:cs typeface="+mn-cs"/>
        </a:defRPr>
      </a:lvl8pPr>
      <a:lvl9pPr marL="3656965" algn="l" defTabSz="913765"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6.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8.tmp"/><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1.tmp"/><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4.tmp"/><Relationship Id="rId4" Type="http://schemas.openxmlformats.org/officeDocument/2006/relationships/image" Target="../media/image13.tmp"/></Relationships>
</file>

<file path=ppt/slides/_rels/slide9.xml.rels><?xml version="1.0" encoding="UTF-8" standalone="yes"?>
<Relationships xmlns="http://schemas.openxmlformats.org/package/2006/relationships"><Relationship Id="rId3" Type="http://schemas.openxmlformats.org/officeDocument/2006/relationships/image" Target="../media/image15.tmp"/><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22.tmp"/><Relationship Id="rId4" Type="http://schemas.openxmlformats.org/officeDocument/2006/relationships/image" Target="../media/image21.tmp"/></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3.tmp"/></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rotWithShape="1">
          <a:blip r:embed="rId3">
            <a:extLst>
              <a:ext uri="{28A0092B-C50C-407E-A947-70E740481C1C}">
                <a14:useLocalDpi xmlns:a14="http://schemas.microsoft.com/office/drawing/2010/main" val="0"/>
              </a:ext>
            </a:extLst>
          </a:blip>
          <a:srcRect t="4708" b="11058"/>
          <a:stretch>
            <a:fillRect/>
          </a:stretch>
        </p:blipFill>
        <p:spPr>
          <a:xfrm>
            <a:off x="-5715" y="1270"/>
            <a:ext cx="9182100" cy="3008630"/>
          </a:xfrm>
          <a:prstGeom prst="rect">
            <a:avLst/>
          </a:prstGeom>
        </p:spPr>
      </p:pic>
      <p:sp>
        <p:nvSpPr>
          <p:cNvPr id="14" name="矩形 259"/>
          <p:cNvSpPr>
            <a:spLocks noChangeArrowheads="1"/>
          </p:cNvSpPr>
          <p:nvPr/>
        </p:nvSpPr>
        <p:spPr bwMode="auto">
          <a:xfrm>
            <a:off x="516485" y="3331340"/>
            <a:ext cx="8100392" cy="609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a:buNone/>
            </a:pPr>
            <a:r>
              <a:rPr lang="en-US" altLang="zh-CN" sz="1800" dirty="0"/>
              <a:t>LEARNING SPARSE STRUCTURED </a:t>
            </a:r>
            <a:r>
              <a:rPr lang="en-US" altLang="zh-CN" sz="1800" dirty="0" smtClean="0"/>
              <a:t>ENSEMBLES WITH STOCASTIC </a:t>
            </a:r>
          </a:p>
          <a:p>
            <a:pPr algn="ctr">
              <a:buNone/>
            </a:pPr>
            <a:r>
              <a:rPr lang="en-US" altLang="zh-CN" sz="1800" dirty="0" smtClean="0"/>
              <a:t>GTADIENT MCMC SAMPLING AND </a:t>
            </a:r>
            <a:r>
              <a:rPr lang="en-US" altLang="zh-CN" sz="1800" dirty="0"/>
              <a:t>NETWORK PRUNING</a:t>
            </a:r>
            <a:endParaRPr lang="zh-CN" altLang="en-US" sz="1800" b="1" cap="all" spc="300" dirty="0">
              <a:solidFill>
                <a:schemeClr val="tx1">
                  <a:lumMod val="95000"/>
                  <a:lumOff val="5000"/>
                </a:schemeClr>
              </a:solidFill>
              <a:latin typeface="造字工房悦黑演示版常规体" pitchFamily="50" charset="-122"/>
              <a:ea typeface="造字工房悦黑演示版常规体" pitchFamily="50" charset="-122"/>
              <a:cs typeface="Arial" panose="020B0604020202020204" pitchFamily="34" charset="0"/>
            </a:endParaRPr>
          </a:p>
        </p:txBody>
      </p:sp>
      <p:sp>
        <p:nvSpPr>
          <p:cNvPr id="17" name="矩形 16"/>
          <p:cNvSpPr/>
          <p:nvPr/>
        </p:nvSpPr>
        <p:spPr>
          <a:xfrm>
            <a:off x="179511" y="3113354"/>
            <a:ext cx="8784978" cy="1906668"/>
          </a:xfrm>
          <a:prstGeom prst="rect">
            <a:avLst/>
          </a:prstGeom>
          <a:noFill/>
          <a:ln w="190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80">
              <a:solidFill>
                <a:schemeClr val="tx1">
                  <a:lumMod val="95000"/>
                  <a:lumOff val="5000"/>
                </a:schemeClr>
              </a:solidFill>
            </a:endParaRPr>
          </a:p>
        </p:txBody>
      </p:sp>
      <p:sp>
        <p:nvSpPr>
          <p:cNvPr id="10" name="TextBox 71"/>
          <p:cNvSpPr txBox="1"/>
          <p:nvPr/>
        </p:nvSpPr>
        <p:spPr>
          <a:xfrm>
            <a:off x="1037387" y="4066688"/>
            <a:ext cx="7095895" cy="1384995"/>
          </a:xfrm>
          <a:prstGeom prst="rect">
            <a:avLst/>
          </a:prstGeom>
          <a:noFill/>
        </p:spPr>
        <p:txBody>
          <a:bodyPr wrap="square" rtlCol="0">
            <a:spAutoFit/>
          </a:bodyPr>
          <a:lstStyle/>
          <a:p>
            <a:pPr algn="ctr"/>
            <a:r>
              <a:rPr lang="en-US" altLang="zh-CN" sz="1200" dirty="0" err="1" smtClean="0">
                <a:solidFill>
                  <a:schemeClr val="tx1">
                    <a:lumMod val="95000"/>
                    <a:lumOff val="5000"/>
                  </a:schemeClr>
                </a:solidFill>
                <a:latin typeface="微软雅黑 Light" panose="020B0502040204020203" pitchFamily="34" charset="-122"/>
                <a:ea typeface="微软雅黑 Light" panose="020B0502040204020203" pitchFamily="34" charset="-122"/>
              </a:rPr>
              <a:t>Yichi</a:t>
            </a:r>
            <a:r>
              <a:rPr lang="en-US" altLang="zh-CN" sz="1200" dirty="0" smtClean="0">
                <a:solidFill>
                  <a:schemeClr val="tx1">
                    <a:lumMod val="95000"/>
                    <a:lumOff val="5000"/>
                  </a:schemeClr>
                </a:solidFill>
                <a:latin typeface="微软雅黑 Light" panose="020B0502040204020203" pitchFamily="34" charset="-122"/>
                <a:ea typeface="微软雅黑 Light" panose="020B0502040204020203" pitchFamily="34" charset="-122"/>
              </a:rPr>
              <a:t> Zhang, </a:t>
            </a:r>
            <a:r>
              <a:rPr lang="en-US" altLang="zh-CN" sz="1200" dirty="0" err="1" smtClean="0">
                <a:solidFill>
                  <a:schemeClr val="tx1">
                    <a:lumMod val="95000"/>
                    <a:lumOff val="5000"/>
                  </a:schemeClr>
                </a:solidFill>
                <a:latin typeface="微软雅黑 Light" panose="020B0502040204020203" pitchFamily="34" charset="-122"/>
                <a:ea typeface="微软雅黑 Light" panose="020B0502040204020203" pitchFamily="34" charset="-122"/>
              </a:rPr>
              <a:t>Zhijian</a:t>
            </a:r>
            <a:r>
              <a:rPr lang="en-US" altLang="zh-CN" sz="1200" dirty="0" smtClean="0">
                <a:solidFill>
                  <a:schemeClr val="tx1">
                    <a:lumMod val="95000"/>
                    <a:lumOff val="5000"/>
                  </a:schemeClr>
                </a:solidFill>
                <a:latin typeface="微软雅黑 Light" panose="020B0502040204020203" pitchFamily="34" charset="-122"/>
                <a:ea typeface="微软雅黑 Light" panose="020B0502040204020203" pitchFamily="34" charset="-122"/>
              </a:rPr>
              <a:t> </a:t>
            </a:r>
            <a:r>
              <a:rPr lang="en-US" altLang="zh-CN" sz="1200" dirty="0" err="1" smtClean="0">
                <a:solidFill>
                  <a:schemeClr val="tx1">
                    <a:lumMod val="95000"/>
                    <a:lumOff val="5000"/>
                  </a:schemeClr>
                </a:solidFill>
                <a:latin typeface="微软雅黑 Light" panose="020B0502040204020203" pitchFamily="34" charset="-122"/>
                <a:ea typeface="微软雅黑 Light" panose="020B0502040204020203" pitchFamily="34" charset="-122"/>
              </a:rPr>
              <a:t>Ou</a:t>
            </a:r>
            <a:endParaRPr lang="en-US" altLang="zh-CN" sz="1200" dirty="0" smtClean="0">
              <a:solidFill>
                <a:schemeClr val="tx1">
                  <a:lumMod val="95000"/>
                  <a:lumOff val="5000"/>
                </a:schemeClr>
              </a:solidFill>
              <a:latin typeface="微软雅黑 Light" panose="020B0502040204020203" pitchFamily="34" charset="-122"/>
              <a:ea typeface="微软雅黑 Light" panose="020B0502040204020203" pitchFamily="34" charset="-122"/>
            </a:endParaRPr>
          </a:p>
          <a:p>
            <a:pPr algn="ctr"/>
            <a:r>
              <a:rPr lang="en-US" altLang="zh-CN" sz="1200" dirty="0" smtClean="0">
                <a:solidFill>
                  <a:schemeClr val="tx1">
                    <a:lumMod val="95000"/>
                    <a:lumOff val="5000"/>
                  </a:schemeClr>
                </a:solidFill>
                <a:latin typeface="微软雅黑 Light" panose="020B0502040204020203" pitchFamily="34" charset="-122"/>
                <a:ea typeface="微软雅黑 Light" panose="020B0502040204020203" pitchFamily="34" charset="-122"/>
              </a:rPr>
              <a:t>Speech Processing and Machine Intelligence (SPMI) Lab</a:t>
            </a:r>
          </a:p>
          <a:p>
            <a:pPr algn="ctr"/>
            <a:r>
              <a:rPr lang="en-US" altLang="zh-CN" sz="1200" dirty="0" smtClean="0">
                <a:solidFill>
                  <a:schemeClr val="tx1">
                    <a:lumMod val="95000"/>
                    <a:lumOff val="5000"/>
                  </a:schemeClr>
                </a:solidFill>
                <a:latin typeface="微软雅黑 Light" panose="020B0502040204020203" pitchFamily="34" charset="-122"/>
                <a:ea typeface="微软雅黑 Light" panose="020B0502040204020203" pitchFamily="34" charset="-122"/>
              </a:rPr>
              <a:t>Department of Electronic Engineering, Tsinghua </a:t>
            </a:r>
            <a:r>
              <a:rPr lang="en-US" altLang="zh-CN" sz="1200" dirty="0" smtClean="0">
                <a:solidFill>
                  <a:schemeClr val="tx1">
                    <a:lumMod val="95000"/>
                    <a:lumOff val="5000"/>
                  </a:schemeClr>
                </a:solidFill>
                <a:latin typeface="微软雅黑 Light" panose="020B0502040204020203" pitchFamily="34" charset="-122"/>
                <a:ea typeface="微软雅黑 Light" panose="020B0502040204020203" pitchFamily="34" charset="-122"/>
              </a:rPr>
              <a:t>University</a:t>
            </a:r>
          </a:p>
          <a:p>
            <a:pPr algn="ctr"/>
            <a:endParaRPr lang="en-US" altLang="zh-CN" sz="1200" dirty="0">
              <a:solidFill>
                <a:schemeClr val="tx1">
                  <a:lumMod val="95000"/>
                  <a:lumOff val="5000"/>
                </a:schemeClr>
              </a:solidFill>
              <a:latin typeface="微软雅黑 Light" panose="020B0502040204020203" pitchFamily="34" charset="-122"/>
              <a:ea typeface="微软雅黑 Light" panose="020B0502040204020203" pitchFamily="34" charset="-122"/>
            </a:endParaRPr>
          </a:p>
          <a:p>
            <a:pPr algn="ctr"/>
            <a:r>
              <a:rPr lang="en-US" altLang="zh-CN" sz="1200" dirty="0" smtClean="0">
                <a:solidFill>
                  <a:schemeClr val="tx1">
                    <a:lumMod val="95000"/>
                    <a:lumOff val="5000"/>
                  </a:schemeClr>
                </a:solidFill>
                <a:latin typeface="微软雅黑 Light" panose="020B0502040204020203" pitchFamily="34" charset="-122"/>
                <a:ea typeface="微软雅黑 Light" panose="020B0502040204020203" pitchFamily="34" charset="-122"/>
              </a:rPr>
              <a:t>This </a:t>
            </a:r>
            <a:r>
              <a:rPr lang="en-US" altLang="zh-CN" sz="1200" dirty="0">
                <a:solidFill>
                  <a:schemeClr val="tx1">
                    <a:lumMod val="95000"/>
                    <a:lumOff val="5000"/>
                  </a:schemeClr>
                </a:solidFill>
                <a:latin typeface="微软雅黑 Light" panose="020B0502040204020203" pitchFamily="34" charset="-122"/>
                <a:ea typeface="微软雅黑 Light" panose="020B0502040204020203" pitchFamily="34" charset="-122"/>
              </a:rPr>
              <a:t>work is </a:t>
            </a:r>
            <a:r>
              <a:rPr lang="en-US" altLang="zh-CN" sz="1200" dirty="0" smtClean="0">
                <a:solidFill>
                  <a:schemeClr val="tx1">
                    <a:lumMod val="95000"/>
                    <a:lumOff val="5000"/>
                  </a:schemeClr>
                </a:solidFill>
                <a:latin typeface="微软雅黑 Light" panose="020B0502040204020203" pitchFamily="34" charset="-122"/>
                <a:ea typeface="微软雅黑 Light" panose="020B0502040204020203" pitchFamily="34" charset="-122"/>
              </a:rPr>
              <a:t>accepted by IEEE International Workshop on </a:t>
            </a:r>
            <a:r>
              <a:rPr lang="en-US" altLang="zh-CN" sz="1200" dirty="0">
                <a:solidFill>
                  <a:schemeClr val="tx1">
                    <a:lumMod val="95000"/>
                    <a:lumOff val="5000"/>
                  </a:schemeClr>
                </a:solidFill>
                <a:latin typeface="微软雅黑 Light" panose="020B0502040204020203" pitchFamily="34" charset="-122"/>
                <a:ea typeface="微软雅黑 Light" panose="020B0502040204020203" pitchFamily="34" charset="-122"/>
              </a:rPr>
              <a:t>Machine Learning and Signal </a:t>
            </a:r>
            <a:r>
              <a:rPr lang="en-US" altLang="zh-CN" sz="1200" dirty="0" smtClean="0">
                <a:solidFill>
                  <a:schemeClr val="tx1">
                    <a:lumMod val="95000"/>
                    <a:lumOff val="5000"/>
                  </a:schemeClr>
                </a:solidFill>
                <a:latin typeface="微软雅黑 Light" panose="020B0502040204020203" pitchFamily="34" charset="-122"/>
                <a:ea typeface="微软雅黑 Light" panose="020B0502040204020203" pitchFamily="34" charset="-122"/>
              </a:rPr>
              <a:t>Processing, 2018.</a:t>
            </a:r>
            <a:endParaRPr lang="en-US" altLang="zh-CN" sz="1200" dirty="0" smtClean="0">
              <a:solidFill>
                <a:schemeClr val="tx1">
                  <a:lumMod val="95000"/>
                  <a:lumOff val="5000"/>
                </a:schemeClr>
              </a:solidFill>
              <a:latin typeface="微软雅黑 Light" panose="020B0502040204020203" pitchFamily="34" charset="-122"/>
              <a:ea typeface="微软雅黑 Light" panose="020B0502040204020203" pitchFamily="34" charset="-122"/>
            </a:endParaRPr>
          </a:p>
          <a:p>
            <a:pPr algn="ctr"/>
            <a:endParaRPr lang="zh-CN" altLang="en-US" sz="1200" dirty="0">
              <a:solidFill>
                <a:schemeClr val="tx1">
                  <a:lumMod val="95000"/>
                  <a:lumOff val="5000"/>
                </a:schemeClr>
              </a:solidFill>
              <a:latin typeface="微软雅黑 Light" panose="020B0502040204020203" pitchFamily="34" charset="-122"/>
              <a:ea typeface="微软雅黑 Light" panose="020B0502040204020203" pitchFamily="34" charset="-122"/>
            </a:endParaRPr>
          </a:p>
          <a:p>
            <a:pPr algn="ctr"/>
            <a:endParaRPr lang="zh-CN" altLang="en-US" sz="1200" dirty="0">
              <a:solidFill>
                <a:schemeClr val="tx1">
                  <a:lumMod val="95000"/>
                  <a:lumOff val="5000"/>
                </a:schemeClr>
              </a:solidFill>
              <a:latin typeface="微软雅黑 Light" panose="020B0502040204020203" pitchFamily="34" charset="-122"/>
              <a:ea typeface="微软雅黑 Light" panose="020B0502040204020203" pitchFamily="34" charset="-122"/>
            </a:endParaRPr>
          </a:p>
        </p:txBody>
      </p:sp>
      <p:cxnSp>
        <p:nvCxnSpPr>
          <p:cNvPr id="11" name="直接连接符 10"/>
          <p:cNvCxnSpPr/>
          <p:nvPr/>
        </p:nvCxnSpPr>
        <p:spPr>
          <a:xfrm>
            <a:off x="1979711" y="4045348"/>
            <a:ext cx="5184578" cy="0"/>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pic>
        <p:nvPicPr>
          <p:cNvPr id="3" name="图片 2" descr="AUA-Logo-06"/>
          <p:cNvPicPr>
            <a:picLocks noChangeAspect="1"/>
          </p:cNvPicPr>
          <p:nvPr/>
        </p:nvPicPr>
        <p:blipFill>
          <a:blip r:embed="rId4"/>
          <a:stretch>
            <a:fillRect/>
          </a:stretch>
        </p:blipFill>
        <p:spPr>
          <a:xfrm>
            <a:off x="7164705" y="1708785"/>
            <a:ext cx="2099310" cy="148526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p:split orient="vert"/>
      </p:transition>
    </mc:Choice>
    <mc:Fallback xmlns="">
      <p:transition>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withEffect">
                                  <p:stCondLst>
                                    <p:cond delay="0"/>
                                  </p:stCondLst>
                                  <p:childTnLst>
                                    <p:set>
                                      <p:cBhvr>
                                        <p:cTn id="6" dur="500" fill="hold">
                                          <p:stCondLst>
                                            <p:cond delay="0"/>
                                          </p:stCondLst>
                                        </p:cTn>
                                        <p:tgtEl>
                                          <p:spTgt spid="17"/>
                                        </p:tgtEl>
                                        <p:attrNameLst>
                                          <p:attrName>style.visibility</p:attrName>
                                        </p:attrNameLst>
                                      </p:cBhvr>
                                      <p:to>
                                        <p:strVal val="visible"/>
                                      </p:to>
                                    </p:set>
                                    <p:animEffect transition="in" filter="wheel(1)">
                                      <p:cBhvr>
                                        <p:cTn id="7" dur="500"/>
                                        <p:tgtEl>
                                          <p:spTgt spid="17"/>
                                        </p:tgtEl>
                                      </p:cBhvr>
                                    </p:animEffect>
                                  </p:childTnLst>
                                </p:cTn>
                              </p:par>
                            </p:childTnLst>
                          </p:cTn>
                        </p:par>
                        <p:par>
                          <p:cTn id="8" fill="hold">
                            <p:stCondLst>
                              <p:cond delay="500"/>
                            </p:stCondLst>
                            <p:childTnLst>
                              <p:par>
                                <p:cTn id="9" presetID="41" presetClass="entr" presetSubtype="0" fill="hold" grpId="0" nodeType="afterEffect">
                                  <p:stCondLst>
                                    <p:cond delay="0"/>
                                  </p:stCondLst>
                                  <p:iterate type="lt">
                                    <p:tmPct val="10000"/>
                                  </p:iterate>
                                  <p:childTnLst>
                                    <p:set>
                                      <p:cBhvr>
                                        <p:cTn id="10" dur="1" fill="hold">
                                          <p:stCondLst>
                                            <p:cond delay="0"/>
                                          </p:stCondLst>
                                        </p:cTn>
                                        <p:tgtEl>
                                          <p:spTgt spid="14"/>
                                        </p:tgtEl>
                                        <p:attrNameLst>
                                          <p:attrName>style.visibility</p:attrName>
                                        </p:attrNameLst>
                                      </p:cBhvr>
                                      <p:to>
                                        <p:strVal val="visible"/>
                                      </p:to>
                                    </p:set>
                                    <p:anim calcmode="lin" valueType="num">
                                      <p:cBhvr>
                                        <p:cTn id="11" dur="500" fill="hold"/>
                                        <p:tgtEl>
                                          <p:spTgt spid="14"/>
                                        </p:tgtEl>
                                        <p:attrNameLst>
                                          <p:attrName>ppt_x</p:attrName>
                                        </p:attrNameLst>
                                      </p:cBhvr>
                                      <p:tavLst>
                                        <p:tav tm="0">
                                          <p:val>
                                            <p:strVal val="#ppt_x"/>
                                          </p:val>
                                        </p:tav>
                                        <p:tav tm="50000">
                                          <p:val>
                                            <p:strVal val="#ppt_x+.1"/>
                                          </p:val>
                                        </p:tav>
                                        <p:tav tm="100000">
                                          <p:val>
                                            <p:strVal val="#ppt_x"/>
                                          </p:val>
                                        </p:tav>
                                      </p:tavLst>
                                    </p:anim>
                                    <p:anim calcmode="lin" valueType="num">
                                      <p:cBhvr>
                                        <p:cTn id="12" dur="500" fill="hold"/>
                                        <p:tgtEl>
                                          <p:spTgt spid="14"/>
                                        </p:tgtEl>
                                        <p:attrNameLst>
                                          <p:attrName>ppt_y</p:attrName>
                                        </p:attrNameLst>
                                      </p:cBhvr>
                                      <p:tavLst>
                                        <p:tav tm="0">
                                          <p:val>
                                            <p:strVal val="#ppt_y"/>
                                          </p:val>
                                        </p:tav>
                                        <p:tav tm="100000">
                                          <p:val>
                                            <p:strVal val="#ppt_y"/>
                                          </p:val>
                                        </p:tav>
                                      </p:tavLst>
                                    </p:anim>
                                    <p:anim calcmode="lin" valueType="num">
                                      <p:cBhvr>
                                        <p:cTn id="13" dur="500" fill="hold"/>
                                        <p:tgtEl>
                                          <p:spTgt spid="14"/>
                                        </p:tgtEl>
                                        <p:attrNameLst>
                                          <p:attrName>ppt_h</p:attrName>
                                        </p:attrNameLst>
                                      </p:cBhvr>
                                      <p:tavLst>
                                        <p:tav tm="0">
                                          <p:val>
                                            <p:strVal val="#ppt_h/10"/>
                                          </p:val>
                                        </p:tav>
                                        <p:tav tm="50000">
                                          <p:val>
                                            <p:strVal val="#ppt_h+.01"/>
                                          </p:val>
                                        </p:tav>
                                        <p:tav tm="100000">
                                          <p:val>
                                            <p:strVal val="#ppt_h"/>
                                          </p:val>
                                        </p:tav>
                                      </p:tavLst>
                                    </p:anim>
                                    <p:anim calcmode="lin" valueType="num">
                                      <p:cBhvr>
                                        <p:cTn id="14" dur="500" fill="hold"/>
                                        <p:tgtEl>
                                          <p:spTgt spid="14"/>
                                        </p:tgtEl>
                                        <p:attrNameLst>
                                          <p:attrName>ppt_w</p:attrName>
                                        </p:attrNameLst>
                                      </p:cBhvr>
                                      <p:tavLst>
                                        <p:tav tm="0">
                                          <p:val>
                                            <p:strVal val="#ppt_w/10"/>
                                          </p:val>
                                        </p:tav>
                                        <p:tav tm="50000">
                                          <p:val>
                                            <p:strVal val="#ppt_w+.01"/>
                                          </p:val>
                                        </p:tav>
                                        <p:tav tm="100000">
                                          <p:val>
                                            <p:strVal val="#ppt_w"/>
                                          </p:val>
                                        </p:tav>
                                      </p:tavLst>
                                    </p:anim>
                                    <p:animEffect transition="in" filter="fade">
                                      <p:cBhvr>
                                        <p:cTn id="15" dur="500" tmFilter="0,0; .5, 1; 1, 1"/>
                                        <p:tgtEl>
                                          <p:spTgt spid="14"/>
                                        </p:tgtEl>
                                      </p:cBhvr>
                                    </p:animEffect>
                                  </p:childTnLst>
                                </p:cTn>
                              </p:par>
                            </p:childTnLst>
                          </p:cTn>
                        </p:par>
                        <p:par>
                          <p:cTn id="16" fill="hold">
                            <p:stCondLst>
                              <p:cond delay="5100"/>
                            </p:stCondLst>
                            <p:childTnLst>
                              <p:par>
                                <p:cTn id="17" presetID="26" presetClass="emph" presetSubtype="0" fill="hold" grpId="1" nodeType="afterEffect">
                                  <p:stCondLst>
                                    <p:cond delay="0"/>
                                  </p:stCondLst>
                                  <p:iterate type="lt">
                                    <p:tmPct val="0"/>
                                  </p:iterate>
                                  <p:childTnLst>
                                    <p:animEffect transition="out" filter="fade">
                                      <p:cBhvr>
                                        <p:cTn id="18" dur="500" tmFilter="0, 0; .2, .5; .8, .5; 1, 0"/>
                                        <p:tgtEl>
                                          <p:spTgt spid="14"/>
                                        </p:tgtEl>
                                      </p:cBhvr>
                                    </p:animEffect>
                                    <p:animScale>
                                      <p:cBhvr>
                                        <p:cTn id="19" dur="250" autoRev="1" fill="hold"/>
                                        <p:tgtEl>
                                          <p:spTgt spid="14"/>
                                        </p:tgtEl>
                                      </p:cBhvr>
                                      <p:by x="105000" y="105000"/>
                                    </p:animScale>
                                  </p:childTnLst>
                                </p:cTn>
                              </p:par>
                            </p:childTnLst>
                          </p:cTn>
                        </p:par>
                        <p:par>
                          <p:cTn id="20" fill="hold">
                            <p:stCondLst>
                              <p:cond delay="5600"/>
                            </p:stCondLst>
                            <p:childTnLst>
                              <p:par>
                                <p:cTn id="21" presetID="16" presetClass="entr" presetSubtype="21" fill="hold" nodeType="after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barn(inVertical)">
                                      <p:cBhvr>
                                        <p:cTn id="23" dur="500"/>
                                        <p:tgtEl>
                                          <p:spTgt spid="11"/>
                                        </p:tgtEl>
                                      </p:cBhvr>
                                    </p:animEffect>
                                  </p:childTnLst>
                                </p:cTn>
                              </p:par>
                            </p:childTnLst>
                          </p:cTn>
                        </p:par>
                        <p:par>
                          <p:cTn id="24" fill="hold">
                            <p:stCondLst>
                              <p:cond delay="6100"/>
                            </p:stCondLst>
                            <p:childTnLst>
                              <p:par>
                                <p:cTn id="25" presetID="42" presetClass="entr" presetSubtype="0" fill="hold" grpId="0" nodeType="after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1000"/>
                                        <p:tgtEl>
                                          <p:spTgt spid="10"/>
                                        </p:tgtEl>
                                      </p:cBhvr>
                                    </p:animEffect>
                                    <p:anim calcmode="lin" valueType="num">
                                      <p:cBhvr>
                                        <p:cTn id="28" dur="1000" fill="hold"/>
                                        <p:tgtEl>
                                          <p:spTgt spid="10"/>
                                        </p:tgtEl>
                                        <p:attrNameLst>
                                          <p:attrName>ppt_x</p:attrName>
                                        </p:attrNameLst>
                                      </p:cBhvr>
                                      <p:tavLst>
                                        <p:tav tm="0">
                                          <p:val>
                                            <p:strVal val="#ppt_x"/>
                                          </p:val>
                                        </p:tav>
                                        <p:tav tm="100000">
                                          <p:val>
                                            <p:strVal val="#ppt_x"/>
                                          </p:val>
                                        </p:tav>
                                      </p:tavLst>
                                    </p:anim>
                                    <p:anim calcmode="lin" valueType="num">
                                      <p:cBhvr>
                                        <p:cTn id="2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P spid="17" grpId="0" bldLvl="0" animBg="1"/>
      <p:bldP spid="10"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矩形 34"/>
          <p:cNvSpPr/>
          <p:nvPr/>
        </p:nvSpPr>
        <p:spPr bwMode="auto">
          <a:xfrm>
            <a:off x="107314" y="0"/>
            <a:ext cx="3276601" cy="5143500"/>
          </a:xfrm>
          <a:prstGeom prst="rect">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7" name="矩形 46"/>
          <p:cNvSpPr/>
          <p:nvPr/>
        </p:nvSpPr>
        <p:spPr bwMode="auto">
          <a:xfrm rot="5400000" flipV="1">
            <a:off x="1060345" y="-953031"/>
            <a:ext cx="1370537" cy="3276600"/>
          </a:xfrm>
          <a:prstGeom prst="rect">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8" name="矩形 37"/>
          <p:cNvSpPr/>
          <p:nvPr/>
        </p:nvSpPr>
        <p:spPr bwMode="auto">
          <a:xfrm rot="5400000">
            <a:off x="1136241" y="2895830"/>
            <a:ext cx="1218740" cy="3276601"/>
          </a:xfrm>
          <a:prstGeom prst="rect">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4" name="图片 3" descr="E:\亚洲大学联盟研究生学术论坛\图片1.png图片1"/>
          <p:cNvPicPr/>
          <p:nvPr/>
        </p:nvPicPr>
        <p:blipFill>
          <a:blip r:embed="rId3"/>
          <a:srcRect/>
          <a:stretch>
            <a:fillRect/>
          </a:stretch>
        </p:blipFill>
        <p:spPr>
          <a:xfrm>
            <a:off x="-26035" y="-131445"/>
            <a:ext cx="2616835" cy="5496560"/>
          </a:xfrm>
          <a:prstGeom prst="rect">
            <a:avLst/>
          </a:prstGeom>
        </p:spPr>
      </p:pic>
      <p:grpSp>
        <p:nvGrpSpPr>
          <p:cNvPr id="53" name="组合 52"/>
          <p:cNvGrpSpPr/>
          <p:nvPr/>
        </p:nvGrpSpPr>
        <p:grpSpPr>
          <a:xfrm>
            <a:off x="107315" y="802667"/>
            <a:ext cx="2065538" cy="3485243"/>
            <a:chOff x="0" y="1111187"/>
            <a:chExt cx="2754050" cy="4646991"/>
          </a:xfrm>
        </p:grpSpPr>
        <p:sp>
          <p:nvSpPr>
            <p:cNvPr id="48" name="椭圆 47"/>
            <p:cNvSpPr/>
            <p:nvPr/>
          </p:nvSpPr>
          <p:spPr>
            <a:xfrm>
              <a:off x="2450246" y="4863799"/>
              <a:ext cx="200570" cy="200570"/>
            </a:xfrm>
            <a:prstGeom prst="ellipse">
              <a:avLst/>
            </a:prstGeom>
            <a:solidFill>
              <a:schemeClr val="bg1">
                <a:alpha val="2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9" name="椭圆 48"/>
            <p:cNvSpPr/>
            <p:nvPr/>
          </p:nvSpPr>
          <p:spPr>
            <a:xfrm>
              <a:off x="0" y="1111187"/>
              <a:ext cx="312134" cy="312134"/>
            </a:xfrm>
            <a:prstGeom prst="ellipse">
              <a:avLst/>
            </a:prstGeom>
            <a:solidFill>
              <a:schemeClr val="bg1">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0" name="椭圆 49"/>
            <p:cNvSpPr/>
            <p:nvPr/>
          </p:nvSpPr>
          <p:spPr>
            <a:xfrm>
              <a:off x="1114320" y="1611397"/>
              <a:ext cx="904679" cy="904679"/>
            </a:xfrm>
            <a:prstGeom prst="ellipse">
              <a:avLst/>
            </a:prstGeom>
            <a:solidFill>
              <a:schemeClr val="bg1">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1" name="椭圆 50"/>
            <p:cNvSpPr/>
            <p:nvPr/>
          </p:nvSpPr>
          <p:spPr>
            <a:xfrm>
              <a:off x="854236" y="5460064"/>
              <a:ext cx="298114" cy="298114"/>
            </a:xfrm>
            <a:prstGeom prst="ellipse">
              <a:avLst/>
            </a:prstGeom>
            <a:solidFill>
              <a:schemeClr val="bg1">
                <a:alpha val="2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2" name="椭圆 51"/>
            <p:cNvSpPr/>
            <p:nvPr/>
          </p:nvSpPr>
          <p:spPr>
            <a:xfrm>
              <a:off x="2313236" y="1194804"/>
              <a:ext cx="440814" cy="440814"/>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39" name="任意多边形 38"/>
          <p:cNvSpPr/>
          <p:nvPr/>
        </p:nvSpPr>
        <p:spPr>
          <a:xfrm rot="16200000">
            <a:off x="42012" y="1102829"/>
            <a:ext cx="5143502" cy="2937840"/>
          </a:xfrm>
          <a:custGeom>
            <a:avLst/>
            <a:gdLst>
              <a:gd name="connsiteX0" fmla="*/ 9143999 w 9143999"/>
              <a:gd name="connsiteY0" fmla="*/ 0 h 2051818"/>
              <a:gd name="connsiteX1" fmla="*/ 9143999 w 9143999"/>
              <a:gd name="connsiteY1" fmla="*/ 2051818 h 2051818"/>
              <a:gd name="connsiteX2" fmla="*/ 0 w 9143999"/>
              <a:gd name="connsiteY2" fmla="*/ 2051818 h 2051818"/>
              <a:gd name="connsiteX3" fmla="*/ 0 w 9143999"/>
              <a:gd name="connsiteY3" fmla="*/ 1204077 h 2051818"/>
              <a:gd name="connsiteX4" fmla="*/ 6027 w 9143999"/>
              <a:gd name="connsiteY4" fmla="*/ 1207403 h 2051818"/>
              <a:gd name="connsiteX5" fmla="*/ 7674511 w 9143999"/>
              <a:gd name="connsiteY5" fmla="*/ 718908 h 2051818"/>
              <a:gd name="connsiteX6" fmla="*/ 9044856 w 9143999"/>
              <a:gd name="connsiteY6" fmla="*/ 57555 h 2051818"/>
              <a:gd name="connsiteX7" fmla="*/ 9143999 w 9143999"/>
              <a:gd name="connsiteY7" fmla="*/ 0 h 2051818"/>
              <a:gd name="connsiteX0-1" fmla="*/ 9143999 w 9143999"/>
              <a:gd name="connsiteY0-2" fmla="*/ 0 h 2051818"/>
              <a:gd name="connsiteX1-3" fmla="*/ 9143999 w 9143999"/>
              <a:gd name="connsiteY1-4" fmla="*/ 2051818 h 2051818"/>
              <a:gd name="connsiteX2-5" fmla="*/ 0 w 9143999"/>
              <a:gd name="connsiteY2-6" fmla="*/ 2051818 h 2051818"/>
              <a:gd name="connsiteX3-7" fmla="*/ 0 w 9143999"/>
              <a:gd name="connsiteY3-8" fmla="*/ 1204077 h 2051818"/>
              <a:gd name="connsiteX4-9" fmla="*/ 6027 w 9143999"/>
              <a:gd name="connsiteY4-10" fmla="*/ 1207403 h 2051818"/>
              <a:gd name="connsiteX5-11" fmla="*/ 9044856 w 9143999"/>
              <a:gd name="connsiteY5-12" fmla="*/ 57555 h 2051818"/>
              <a:gd name="connsiteX6-13" fmla="*/ 9143999 w 9143999"/>
              <a:gd name="connsiteY6-14" fmla="*/ 0 h 2051818"/>
              <a:gd name="connsiteX0-15" fmla="*/ 9143999 w 9143999"/>
              <a:gd name="connsiteY0-16" fmla="*/ 0 h 2051818"/>
              <a:gd name="connsiteX1-17" fmla="*/ 9143999 w 9143999"/>
              <a:gd name="connsiteY1-18" fmla="*/ 2051818 h 2051818"/>
              <a:gd name="connsiteX2-19" fmla="*/ 0 w 9143999"/>
              <a:gd name="connsiteY2-20" fmla="*/ 2051818 h 2051818"/>
              <a:gd name="connsiteX3-21" fmla="*/ 0 w 9143999"/>
              <a:gd name="connsiteY3-22" fmla="*/ 1204077 h 2051818"/>
              <a:gd name="connsiteX4-23" fmla="*/ 6027 w 9143999"/>
              <a:gd name="connsiteY4-24" fmla="*/ 1207403 h 2051818"/>
              <a:gd name="connsiteX5-25" fmla="*/ 9143999 w 9143999"/>
              <a:gd name="connsiteY5-26" fmla="*/ 0 h 2051818"/>
              <a:gd name="connsiteX0-27" fmla="*/ 9143999 w 9143999"/>
              <a:gd name="connsiteY0-28" fmla="*/ 0 h 2051818"/>
              <a:gd name="connsiteX1-29" fmla="*/ 9143999 w 9143999"/>
              <a:gd name="connsiteY1-30" fmla="*/ 2051818 h 2051818"/>
              <a:gd name="connsiteX2-31" fmla="*/ 0 w 9143999"/>
              <a:gd name="connsiteY2-32" fmla="*/ 2051818 h 2051818"/>
              <a:gd name="connsiteX3-33" fmla="*/ 0 w 9143999"/>
              <a:gd name="connsiteY3-34" fmla="*/ 1204077 h 2051818"/>
              <a:gd name="connsiteX4-35" fmla="*/ 6027 w 9143999"/>
              <a:gd name="connsiteY4-36" fmla="*/ 1207403 h 2051818"/>
              <a:gd name="connsiteX5-37" fmla="*/ 9143999 w 9143999"/>
              <a:gd name="connsiteY5-38" fmla="*/ 0 h 2051818"/>
              <a:gd name="connsiteX0-39" fmla="*/ 9143999 w 9143999"/>
              <a:gd name="connsiteY0-40" fmla="*/ 0 h 2051818"/>
              <a:gd name="connsiteX1-41" fmla="*/ 9143999 w 9143999"/>
              <a:gd name="connsiteY1-42" fmla="*/ 2051818 h 2051818"/>
              <a:gd name="connsiteX2-43" fmla="*/ 0 w 9143999"/>
              <a:gd name="connsiteY2-44" fmla="*/ 2051818 h 2051818"/>
              <a:gd name="connsiteX3-45" fmla="*/ 0 w 9143999"/>
              <a:gd name="connsiteY3-46" fmla="*/ 1204077 h 2051818"/>
              <a:gd name="connsiteX4-47" fmla="*/ 6027 w 9143999"/>
              <a:gd name="connsiteY4-48" fmla="*/ 1207403 h 2051818"/>
              <a:gd name="connsiteX5-49" fmla="*/ 9143999 w 9143999"/>
              <a:gd name="connsiteY5-50" fmla="*/ 0 h 2051818"/>
              <a:gd name="connsiteX0-51" fmla="*/ 9143999 w 9143999"/>
              <a:gd name="connsiteY0-52" fmla="*/ 0 h 2051818"/>
              <a:gd name="connsiteX1-53" fmla="*/ 9143999 w 9143999"/>
              <a:gd name="connsiteY1-54" fmla="*/ 2051818 h 2051818"/>
              <a:gd name="connsiteX2-55" fmla="*/ 0 w 9143999"/>
              <a:gd name="connsiteY2-56" fmla="*/ 2051818 h 2051818"/>
              <a:gd name="connsiteX3-57" fmla="*/ 0 w 9143999"/>
              <a:gd name="connsiteY3-58" fmla="*/ 1204077 h 2051818"/>
              <a:gd name="connsiteX4-59" fmla="*/ 6027 w 9143999"/>
              <a:gd name="connsiteY4-60" fmla="*/ 1207403 h 2051818"/>
              <a:gd name="connsiteX5-61" fmla="*/ 9143999 w 9143999"/>
              <a:gd name="connsiteY5-62" fmla="*/ 0 h 2051818"/>
              <a:gd name="connsiteX0-63" fmla="*/ 9143999 w 9143999"/>
              <a:gd name="connsiteY0-64" fmla="*/ 130228 h 2182046"/>
              <a:gd name="connsiteX1-65" fmla="*/ 9143999 w 9143999"/>
              <a:gd name="connsiteY1-66" fmla="*/ 2182046 h 2182046"/>
              <a:gd name="connsiteX2-67" fmla="*/ 0 w 9143999"/>
              <a:gd name="connsiteY2-68" fmla="*/ 2182046 h 2182046"/>
              <a:gd name="connsiteX3-69" fmla="*/ 0 w 9143999"/>
              <a:gd name="connsiteY3-70" fmla="*/ 1334305 h 2182046"/>
              <a:gd name="connsiteX4-71" fmla="*/ 6027 w 9143999"/>
              <a:gd name="connsiteY4-72" fmla="*/ 0 h 2182046"/>
              <a:gd name="connsiteX5-73" fmla="*/ 9143999 w 9143999"/>
              <a:gd name="connsiteY5-74" fmla="*/ 130228 h 2182046"/>
              <a:gd name="connsiteX0-75" fmla="*/ 9143999 w 9143999"/>
              <a:gd name="connsiteY0-76" fmla="*/ 0 h 2051818"/>
              <a:gd name="connsiteX1-77" fmla="*/ 9143999 w 9143999"/>
              <a:gd name="connsiteY1-78" fmla="*/ 2051818 h 2051818"/>
              <a:gd name="connsiteX2-79" fmla="*/ 0 w 9143999"/>
              <a:gd name="connsiteY2-80" fmla="*/ 2051818 h 2051818"/>
              <a:gd name="connsiteX3-81" fmla="*/ 0 w 9143999"/>
              <a:gd name="connsiteY3-82" fmla="*/ 1204077 h 2051818"/>
              <a:gd name="connsiteX4-83" fmla="*/ 25380 w 9143999"/>
              <a:gd name="connsiteY4-84" fmla="*/ 54648 h 2051818"/>
              <a:gd name="connsiteX5-85" fmla="*/ 9143999 w 9143999"/>
              <a:gd name="connsiteY5-86" fmla="*/ 0 h 2051818"/>
              <a:gd name="connsiteX0-87" fmla="*/ 9143999 w 9143999"/>
              <a:gd name="connsiteY0-88" fmla="*/ 0 h 2051818"/>
              <a:gd name="connsiteX1-89" fmla="*/ 9143999 w 9143999"/>
              <a:gd name="connsiteY1-90" fmla="*/ 2051818 h 2051818"/>
              <a:gd name="connsiteX2-91" fmla="*/ 0 w 9143999"/>
              <a:gd name="connsiteY2-92" fmla="*/ 2051818 h 2051818"/>
              <a:gd name="connsiteX3-93" fmla="*/ 0 w 9143999"/>
              <a:gd name="connsiteY3-94" fmla="*/ 1204077 h 2051818"/>
              <a:gd name="connsiteX4-95" fmla="*/ 25380 w 9143999"/>
              <a:gd name="connsiteY4-96" fmla="*/ 54648 h 2051818"/>
              <a:gd name="connsiteX5-97" fmla="*/ 9143999 w 9143999"/>
              <a:gd name="connsiteY5-98" fmla="*/ 0 h 2051818"/>
              <a:gd name="connsiteX0-99" fmla="*/ 9143999 w 9143999"/>
              <a:gd name="connsiteY0-100" fmla="*/ 0 h 2051818"/>
              <a:gd name="connsiteX1-101" fmla="*/ 9143999 w 9143999"/>
              <a:gd name="connsiteY1-102" fmla="*/ 2051818 h 2051818"/>
              <a:gd name="connsiteX2-103" fmla="*/ 0 w 9143999"/>
              <a:gd name="connsiteY2-104" fmla="*/ 2051818 h 2051818"/>
              <a:gd name="connsiteX3-105" fmla="*/ 0 w 9143999"/>
              <a:gd name="connsiteY3-106" fmla="*/ 1204077 h 2051818"/>
              <a:gd name="connsiteX4-107" fmla="*/ 25380 w 9143999"/>
              <a:gd name="connsiteY4-108" fmla="*/ 54648 h 2051818"/>
              <a:gd name="connsiteX5-109" fmla="*/ 9143999 w 9143999"/>
              <a:gd name="connsiteY5-110" fmla="*/ 0 h 2051818"/>
              <a:gd name="connsiteX0-111" fmla="*/ 9143999 w 9143999"/>
              <a:gd name="connsiteY0-112" fmla="*/ 0 h 2051818"/>
              <a:gd name="connsiteX1-113" fmla="*/ 9143999 w 9143999"/>
              <a:gd name="connsiteY1-114" fmla="*/ 2051818 h 2051818"/>
              <a:gd name="connsiteX2-115" fmla="*/ 0 w 9143999"/>
              <a:gd name="connsiteY2-116" fmla="*/ 2051818 h 2051818"/>
              <a:gd name="connsiteX3-117" fmla="*/ 0 w 9143999"/>
              <a:gd name="connsiteY3-118" fmla="*/ 1204077 h 2051818"/>
              <a:gd name="connsiteX4-119" fmla="*/ 25380 w 9143999"/>
              <a:gd name="connsiteY4-120" fmla="*/ 54648 h 2051818"/>
              <a:gd name="connsiteX5-121" fmla="*/ 9143999 w 9143999"/>
              <a:gd name="connsiteY5-122" fmla="*/ 0 h 2051818"/>
              <a:gd name="connsiteX0-123" fmla="*/ 9124647 w 9143999"/>
              <a:gd name="connsiteY0-124" fmla="*/ 0 h 2127943"/>
              <a:gd name="connsiteX1-125" fmla="*/ 9143999 w 9143999"/>
              <a:gd name="connsiteY1-126" fmla="*/ 2127943 h 2127943"/>
              <a:gd name="connsiteX2-127" fmla="*/ 0 w 9143999"/>
              <a:gd name="connsiteY2-128" fmla="*/ 2127943 h 2127943"/>
              <a:gd name="connsiteX3-129" fmla="*/ 0 w 9143999"/>
              <a:gd name="connsiteY3-130" fmla="*/ 1280202 h 2127943"/>
              <a:gd name="connsiteX4-131" fmla="*/ 25380 w 9143999"/>
              <a:gd name="connsiteY4-132" fmla="*/ 130773 h 2127943"/>
              <a:gd name="connsiteX5-133" fmla="*/ 9124647 w 9143999"/>
              <a:gd name="connsiteY5-134" fmla="*/ 0 h 2127943"/>
              <a:gd name="connsiteX0-135" fmla="*/ 9124647 w 9143999"/>
              <a:gd name="connsiteY0-136" fmla="*/ 0 h 2127943"/>
              <a:gd name="connsiteX1-137" fmla="*/ 9143999 w 9143999"/>
              <a:gd name="connsiteY1-138" fmla="*/ 2127943 h 2127943"/>
              <a:gd name="connsiteX2-139" fmla="*/ 0 w 9143999"/>
              <a:gd name="connsiteY2-140" fmla="*/ 2127943 h 2127943"/>
              <a:gd name="connsiteX3-141" fmla="*/ 0 w 9143999"/>
              <a:gd name="connsiteY3-142" fmla="*/ 1280202 h 2127943"/>
              <a:gd name="connsiteX4-143" fmla="*/ 25380 w 9143999"/>
              <a:gd name="connsiteY4-144" fmla="*/ 130773 h 2127943"/>
              <a:gd name="connsiteX5-145" fmla="*/ 9124647 w 9143999"/>
              <a:gd name="connsiteY5-146" fmla="*/ 0 h 2127943"/>
              <a:gd name="connsiteX0-147" fmla="*/ 9124647 w 9143999"/>
              <a:gd name="connsiteY0-148" fmla="*/ 0 h 2127943"/>
              <a:gd name="connsiteX1-149" fmla="*/ 9143999 w 9143999"/>
              <a:gd name="connsiteY1-150" fmla="*/ 2127943 h 2127943"/>
              <a:gd name="connsiteX2-151" fmla="*/ 0 w 9143999"/>
              <a:gd name="connsiteY2-152" fmla="*/ 2127943 h 2127943"/>
              <a:gd name="connsiteX3-153" fmla="*/ 0 w 9143999"/>
              <a:gd name="connsiteY3-154" fmla="*/ 1280202 h 2127943"/>
              <a:gd name="connsiteX4-155" fmla="*/ 6028 w 9143999"/>
              <a:gd name="connsiteY4-156" fmla="*/ 11147 h 2127943"/>
              <a:gd name="connsiteX5-157" fmla="*/ 9124647 w 9143999"/>
              <a:gd name="connsiteY5-158" fmla="*/ 0 h 2127943"/>
              <a:gd name="connsiteX0-159" fmla="*/ 9138134 w 9157486"/>
              <a:gd name="connsiteY0-160" fmla="*/ 0 h 2127943"/>
              <a:gd name="connsiteX1-161" fmla="*/ 9157486 w 9157486"/>
              <a:gd name="connsiteY1-162" fmla="*/ 2127943 h 2127943"/>
              <a:gd name="connsiteX2-163" fmla="*/ 13487 w 9157486"/>
              <a:gd name="connsiteY2-164" fmla="*/ 2127943 h 2127943"/>
              <a:gd name="connsiteX3-165" fmla="*/ 13487 w 9157486"/>
              <a:gd name="connsiteY3-166" fmla="*/ 1280202 h 2127943"/>
              <a:gd name="connsiteX4-167" fmla="*/ 163 w 9157486"/>
              <a:gd name="connsiteY4-168" fmla="*/ 141648 h 2127943"/>
              <a:gd name="connsiteX5-169" fmla="*/ 9138134 w 9157486"/>
              <a:gd name="connsiteY5-170" fmla="*/ 0 h 212794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9157486" h="2127943">
                <a:moveTo>
                  <a:pt x="9138134" y="0"/>
                </a:moveTo>
                <a:lnTo>
                  <a:pt x="9157486" y="2127943"/>
                </a:lnTo>
                <a:lnTo>
                  <a:pt x="13487" y="2127943"/>
                </a:lnTo>
                <a:lnTo>
                  <a:pt x="13487" y="1280202"/>
                </a:lnTo>
                <a:cubicBezTo>
                  <a:pt x="15496" y="857184"/>
                  <a:pt x="-1846" y="564666"/>
                  <a:pt x="163" y="141648"/>
                </a:cubicBezTo>
                <a:cubicBezTo>
                  <a:pt x="3568670" y="1577063"/>
                  <a:pt x="7137176" y="1131097"/>
                  <a:pt x="9138134" y="0"/>
                </a:cubicBezTo>
                <a:close/>
              </a:path>
            </a:pathLst>
          </a:cu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4" name="任意多边形 43"/>
          <p:cNvSpPr/>
          <p:nvPr/>
        </p:nvSpPr>
        <p:spPr>
          <a:xfrm rot="16200000">
            <a:off x="2038807" y="37144"/>
            <a:ext cx="5151668" cy="5159381"/>
          </a:xfrm>
          <a:custGeom>
            <a:avLst/>
            <a:gdLst>
              <a:gd name="connsiteX0" fmla="*/ 6858000 w 6858000"/>
              <a:gd name="connsiteY0" fmla="*/ 0 h 6459417"/>
              <a:gd name="connsiteX1" fmla="*/ 6858000 w 6858000"/>
              <a:gd name="connsiteY1" fmla="*/ 1675279 h 6459417"/>
              <a:gd name="connsiteX2" fmla="*/ 6858000 w 6858000"/>
              <a:gd name="connsiteY2" fmla="*/ 1819701 h 6459417"/>
              <a:gd name="connsiteX3" fmla="*/ 6858000 w 6858000"/>
              <a:gd name="connsiteY3" fmla="*/ 2278767 h 6459417"/>
              <a:gd name="connsiteX4" fmla="*/ 6858000 w 6858000"/>
              <a:gd name="connsiteY4" fmla="*/ 3954046 h 6459417"/>
              <a:gd name="connsiteX5" fmla="*/ 6858000 w 6858000"/>
              <a:gd name="connsiteY5" fmla="*/ 4098468 h 6459417"/>
              <a:gd name="connsiteX6" fmla="*/ 6858000 w 6858000"/>
              <a:gd name="connsiteY6" fmla="*/ 4180650 h 6459417"/>
              <a:gd name="connsiteX7" fmla="*/ 6858000 w 6858000"/>
              <a:gd name="connsiteY7" fmla="*/ 6459417 h 6459417"/>
              <a:gd name="connsiteX8" fmla="*/ 0 w 6858000"/>
              <a:gd name="connsiteY8" fmla="*/ 6459417 h 6459417"/>
              <a:gd name="connsiteX9" fmla="*/ 0 w 6858000"/>
              <a:gd name="connsiteY9" fmla="*/ 4180650 h 6459417"/>
              <a:gd name="connsiteX10" fmla="*/ 0 w 6858000"/>
              <a:gd name="connsiteY10" fmla="*/ 4098468 h 6459417"/>
              <a:gd name="connsiteX11" fmla="*/ 0 w 6858000"/>
              <a:gd name="connsiteY11" fmla="*/ 3954046 h 6459417"/>
              <a:gd name="connsiteX12" fmla="*/ 0 w 6858000"/>
              <a:gd name="connsiteY12" fmla="*/ 3295924 h 6459417"/>
              <a:gd name="connsiteX13" fmla="*/ 0 w 6858000"/>
              <a:gd name="connsiteY13" fmla="*/ 1819701 h 6459417"/>
              <a:gd name="connsiteX14" fmla="*/ 0 w 6858000"/>
              <a:gd name="connsiteY14" fmla="*/ 1675279 h 6459417"/>
              <a:gd name="connsiteX15" fmla="*/ 0 w 6858000"/>
              <a:gd name="connsiteY15" fmla="*/ 1017157 h 6459417"/>
              <a:gd name="connsiteX16" fmla="*/ 227535 w 6858000"/>
              <a:gd name="connsiteY16" fmla="*/ 1166258 h 6459417"/>
              <a:gd name="connsiteX17" fmla="*/ 6270374 w 6858000"/>
              <a:gd name="connsiteY17" fmla="*/ 412001 h 6459417"/>
              <a:gd name="connsiteX18" fmla="*/ 6705779 w 6858000"/>
              <a:gd name="connsiteY18" fmla="*/ 117916 h 6459417"/>
              <a:gd name="connsiteX0-1" fmla="*/ 6858000 w 6941935"/>
              <a:gd name="connsiteY0-2" fmla="*/ 56823 h 6516240"/>
              <a:gd name="connsiteX1-3" fmla="*/ 6858000 w 6941935"/>
              <a:gd name="connsiteY1-4" fmla="*/ 1732102 h 6516240"/>
              <a:gd name="connsiteX2-5" fmla="*/ 6858000 w 6941935"/>
              <a:gd name="connsiteY2-6" fmla="*/ 1876524 h 6516240"/>
              <a:gd name="connsiteX3-7" fmla="*/ 6858000 w 6941935"/>
              <a:gd name="connsiteY3-8" fmla="*/ 2335590 h 6516240"/>
              <a:gd name="connsiteX4-9" fmla="*/ 6858000 w 6941935"/>
              <a:gd name="connsiteY4-10" fmla="*/ 4010869 h 6516240"/>
              <a:gd name="connsiteX5-11" fmla="*/ 6858000 w 6941935"/>
              <a:gd name="connsiteY5-12" fmla="*/ 4155291 h 6516240"/>
              <a:gd name="connsiteX6-13" fmla="*/ 6858000 w 6941935"/>
              <a:gd name="connsiteY6-14" fmla="*/ 4237473 h 6516240"/>
              <a:gd name="connsiteX7-15" fmla="*/ 6858000 w 6941935"/>
              <a:gd name="connsiteY7-16" fmla="*/ 6516240 h 6516240"/>
              <a:gd name="connsiteX8-17" fmla="*/ 0 w 6941935"/>
              <a:gd name="connsiteY8-18" fmla="*/ 6516240 h 6516240"/>
              <a:gd name="connsiteX9-19" fmla="*/ 0 w 6941935"/>
              <a:gd name="connsiteY9-20" fmla="*/ 4237473 h 6516240"/>
              <a:gd name="connsiteX10-21" fmla="*/ 0 w 6941935"/>
              <a:gd name="connsiteY10-22" fmla="*/ 4155291 h 6516240"/>
              <a:gd name="connsiteX11-23" fmla="*/ 0 w 6941935"/>
              <a:gd name="connsiteY11-24" fmla="*/ 4010869 h 6516240"/>
              <a:gd name="connsiteX12-25" fmla="*/ 0 w 6941935"/>
              <a:gd name="connsiteY12-26" fmla="*/ 3352747 h 6516240"/>
              <a:gd name="connsiteX13-27" fmla="*/ 0 w 6941935"/>
              <a:gd name="connsiteY13-28" fmla="*/ 1876524 h 6516240"/>
              <a:gd name="connsiteX14-29" fmla="*/ 0 w 6941935"/>
              <a:gd name="connsiteY14-30" fmla="*/ 1732102 h 6516240"/>
              <a:gd name="connsiteX15-31" fmla="*/ 0 w 6941935"/>
              <a:gd name="connsiteY15-32" fmla="*/ 1073980 h 6516240"/>
              <a:gd name="connsiteX16-33" fmla="*/ 227535 w 6941935"/>
              <a:gd name="connsiteY16-34" fmla="*/ 1223081 h 6516240"/>
              <a:gd name="connsiteX17-35" fmla="*/ 6270374 w 6941935"/>
              <a:gd name="connsiteY17-36" fmla="*/ 468824 h 6516240"/>
              <a:gd name="connsiteX18-37" fmla="*/ 6858000 w 6941935"/>
              <a:gd name="connsiteY18-38" fmla="*/ 56823 h 6516240"/>
              <a:gd name="connsiteX0-39" fmla="*/ 6858000 w 6858000"/>
              <a:gd name="connsiteY0-40" fmla="*/ 4734 h 6464151"/>
              <a:gd name="connsiteX1-41" fmla="*/ 6858000 w 6858000"/>
              <a:gd name="connsiteY1-42" fmla="*/ 1680013 h 6464151"/>
              <a:gd name="connsiteX2-43" fmla="*/ 6858000 w 6858000"/>
              <a:gd name="connsiteY2-44" fmla="*/ 1824435 h 6464151"/>
              <a:gd name="connsiteX3-45" fmla="*/ 6858000 w 6858000"/>
              <a:gd name="connsiteY3-46" fmla="*/ 2283501 h 6464151"/>
              <a:gd name="connsiteX4-47" fmla="*/ 6858000 w 6858000"/>
              <a:gd name="connsiteY4-48" fmla="*/ 3958780 h 6464151"/>
              <a:gd name="connsiteX5-49" fmla="*/ 6858000 w 6858000"/>
              <a:gd name="connsiteY5-50" fmla="*/ 4103202 h 6464151"/>
              <a:gd name="connsiteX6-51" fmla="*/ 6858000 w 6858000"/>
              <a:gd name="connsiteY6-52" fmla="*/ 4185384 h 6464151"/>
              <a:gd name="connsiteX7-53" fmla="*/ 6858000 w 6858000"/>
              <a:gd name="connsiteY7-54" fmla="*/ 6464151 h 6464151"/>
              <a:gd name="connsiteX8-55" fmla="*/ 0 w 6858000"/>
              <a:gd name="connsiteY8-56" fmla="*/ 6464151 h 6464151"/>
              <a:gd name="connsiteX9-57" fmla="*/ 0 w 6858000"/>
              <a:gd name="connsiteY9-58" fmla="*/ 4185384 h 6464151"/>
              <a:gd name="connsiteX10-59" fmla="*/ 0 w 6858000"/>
              <a:gd name="connsiteY10-60" fmla="*/ 4103202 h 6464151"/>
              <a:gd name="connsiteX11-61" fmla="*/ 0 w 6858000"/>
              <a:gd name="connsiteY11-62" fmla="*/ 3958780 h 6464151"/>
              <a:gd name="connsiteX12-63" fmla="*/ 0 w 6858000"/>
              <a:gd name="connsiteY12-64" fmla="*/ 3300658 h 6464151"/>
              <a:gd name="connsiteX13-65" fmla="*/ 0 w 6858000"/>
              <a:gd name="connsiteY13-66" fmla="*/ 1824435 h 6464151"/>
              <a:gd name="connsiteX14-67" fmla="*/ 0 w 6858000"/>
              <a:gd name="connsiteY14-68" fmla="*/ 1680013 h 6464151"/>
              <a:gd name="connsiteX15-69" fmla="*/ 0 w 6858000"/>
              <a:gd name="connsiteY15-70" fmla="*/ 1021891 h 6464151"/>
              <a:gd name="connsiteX16-71" fmla="*/ 227535 w 6858000"/>
              <a:gd name="connsiteY16-72" fmla="*/ 1170992 h 6464151"/>
              <a:gd name="connsiteX17-73" fmla="*/ 6858000 w 6858000"/>
              <a:gd name="connsiteY17-74" fmla="*/ 4734 h 6464151"/>
              <a:gd name="connsiteX0-75" fmla="*/ 6858000 w 6858000"/>
              <a:gd name="connsiteY0-76" fmla="*/ 0 h 6459417"/>
              <a:gd name="connsiteX1-77" fmla="*/ 6858000 w 6858000"/>
              <a:gd name="connsiteY1-78" fmla="*/ 1675279 h 6459417"/>
              <a:gd name="connsiteX2-79" fmla="*/ 6858000 w 6858000"/>
              <a:gd name="connsiteY2-80" fmla="*/ 1819701 h 6459417"/>
              <a:gd name="connsiteX3-81" fmla="*/ 6858000 w 6858000"/>
              <a:gd name="connsiteY3-82" fmla="*/ 2278767 h 6459417"/>
              <a:gd name="connsiteX4-83" fmla="*/ 6858000 w 6858000"/>
              <a:gd name="connsiteY4-84" fmla="*/ 3954046 h 6459417"/>
              <a:gd name="connsiteX5-85" fmla="*/ 6858000 w 6858000"/>
              <a:gd name="connsiteY5-86" fmla="*/ 4098468 h 6459417"/>
              <a:gd name="connsiteX6-87" fmla="*/ 6858000 w 6858000"/>
              <a:gd name="connsiteY6-88" fmla="*/ 4180650 h 6459417"/>
              <a:gd name="connsiteX7-89" fmla="*/ 6858000 w 6858000"/>
              <a:gd name="connsiteY7-90" fmla="*/ 6459417 h 6459417"/>
              <a:gd name="connsiteX8-91" fmla="*/ 0 w 6858000"/>
              <a:gd name="connsiteY8-92" fmla="*/ 6459417 h 6459417"/>
              <a:gd name="connsiteX9-93" fmla="*/ 0 w 6858000"/>
              <a:gd name="connsiteY9-94" fmla="*/ 4180650 h 6459417"/>
              <a:gd name="connsiteX10-95" fmla="*/ 0 w 6858000"/>
              <a:gd name="connsiteY10-96" fmla="*/ 4098468 h 6459417"/>
              <a:gd name="connsiteX11-97" fmla="*/ 0 w 6858000"/>
              <a:gd name="connsiteY11-98" fmla="*/ 3954046 h 6459417"/>
              <a:gd name="connsiteX12-99" fmla="*/ 0 w 6858000"/>
              <a:gd name="connsiteY12-100" fmla="*/ 3295924 h 6459417"/>
              <a:gd name="connsiteX13-101" fmla="*/ 0 w 6858000"/>
              <a:gd name="connsiteY13-102" fmla="*/ 1819701 h 6459417"/>
              <a:gd name="connsiteX14-103" fmla="*/ 0 w 6858000"/>
              <a:gd name="connsiteY14-104" fmla="*/ 1675279 h 6459417"/>
              <a:gd name="connsiteX15-105" fmla="*/ 0 w 6858000"/>
              <a:gd name="connsiteY15-106" fmla="*/ 1017157 h 6459417"/>
              <a:gd name="connsiteX16-107" fmla="*/ 227535 w 6858000"/>
              <a:gd name="connsiteY16-108" fmla="*/ 1166258 h 6459417"/>
              <a:gd name="connsiteX17-109" fmla="*/ 6858000 w 6858000"/>
              <a:gd name="connsiteY17-110" fmla="*/ 0 h 6459417"/>
              <a:gd name="connsiteX0-111" fmla="*/ 6858000 w 6858000"/>
              <a:gd name="connsiteY0-112" fmla="*/ 0 h 6459417"/>
              <a:gd name="connsiteX1-113" fmla="*/ 6858000 w 6858000"/>
              <a:gd name="connsiteY1-114" fmla="*/ 1675279 h 6459417"/>
              <a:gd name="connsiteX2-115" fmla="*/ 6858000 w 6858000"/>
              <a:gd name="connsiteY2-116" fmla="*/ 1819701 h 6459417"/>
              <a:gd name="connsiteX3-117" fmla="*/ 6858000 w 6858000"/>
              <a:gd name="connsiteY3-118" fmla="*/ 2278767 h 6459417"/>
              <a:gd name="connsiteX4-119" fmla="*/ 6858000 w 6858000"/>
              <a:gd name="connsiteY4-120" fmla="*/ 3954046 h 6459417"/>
              <a:gd name="connsiteX5-121" fmla="*/ 6858000 w 6858000"/>
              <a:gd name="connsiteY5-122" fmla="*/ 4098468 h 6459417"/>
              <a:gd name="connsiteX6-123" fmla="*/ 6858000 w 6858000"/>
              <a:gd name="connsiteY6-124" fmla="*/ 4180650 h 6459417"/>
              <a:gd name="connsiteX7-125" fmla="*/ 6858000 w 6858000"/>
              <a:gd name="connsiteY7-126" fmla="*/ 6459417 h 6459417"/>
              <a:gd name="connsiteX8-127" fmla="*/ 0 w 6858000"/>
              <a:gd name="connsiteY8-128" fmla="*/ 6459417 h 6459417"/>
              <a:gd name="connsiteX9-129" fmla="*/ 0 w 6858000"/>
              <a:gd name="connsiteY9-130" fmla="*/ 4180650 h 6459417"/>
              <a:gd name="connsiteX10-131" fmla="*/ 0 w 6858000"/>
              <a:gd name="connsiteY10-132" fmla="*/ 4098468 h 6459417"/>
              <a:gd name="connsiteX11-133" fmla="*/ 0 w 6858000"/>
              <a:gd name="connsiteY11-134" fmla="*/ 3954046 h 6459417"/>
              <a:gd name="connsiteX12-135" fmla="*/ 0 w 6858000"/>
              <a:gd name="connsiteY12-136" fmla="*/ 3295924 h 6459417"/>
              <a:gd name="connsiteX13-137" fmla="*/ 0 w 6858000"/>
              <a:gd name="connsiteY13-138" fmla="*/ 1819701 h 6459417"/>
              <a:gd name="connsiteX14-139" fmla="*/ 0 w 6858000"/>
              <a:gd name="connsiteY14-140" fmla="*/ 1675279 h 6459417"/>
              <a:gd name="connsiteX15-141" fmla="*/ 0 w 6858000"/>
              <a:gd name="connsiteY15-142" fmla="*/ 1017157 h 6459417"/>
              <a:gd name="connsiteX16-143" fmla="*/ 6858000 w 6858000"/>
              <a:gd name="connsiteY16-144" fmla="*/ 0 h 6459417"/>
              <a:gd name="connsiteX0-145" fmla="*/ 6858000 w 6858000"/>
              <a:gd name="connsiteY0-146" fmla="*/ 0 h 6459417"/>
              <a:gd name="connsiteX1-147" fmla="*/ 6858000 w 6858000"/>
              <a:gd name="connsiteY1-148" fmla="*/ 1675279 h 6459417"/>
              <a:gd name="connsiteX2-149" fmla="*/ 6858000 w 6858000"/>
              <a:gd name="connsiteY2-150" fmla="*/ 1819701 h 6459417"/>
              <a:gd name="connsiteX3-151" fmla="*/ 6858000 w 6858000"/>
              <a:gd name="connsiteY3-152" fmla="*/ 2278767 h 6459417"/>
              <a:gd name="connsiteX4-153" fmla="*/ 6858000 w 6858000"/>
              <a:gd name="connsiteY4-154" fmla="*/ 3954046 h 6459417"/>
              <a:gd name="connsiteX5-155" fmla="*/ 6858000 w 6858000"/>
              <a:gd name="connsiteY5-156" fmla="*/ 4098468 h 6459417"/>
              <a:gd name="connsiteX6-157" fmla="*/ 6858000 w 6858000"/>
              <a:gd name="connsiteY6-158" fmla="*/ 4180650 h 6459417"/>
              <a:gd name="connsiteX7-159" fmla="*/ 6858000 w 6858000"/>
              <a:gd name="connsiteY7-160" fmla="*/ 6459417 h 6459417"/>
              <a:gd name="connsiteX8-161" fmla="*/ 0 w 6858000"/>
              <a:gd name="connsiteY8-162" fmla="*/ 6459417 h 6459417"/>
              <a:gd name="connsiteX9-163" fmla="*/ 0 w 6858000"/>
              <a:gd name="connsiteY9-164" fmla="*/ 4180650 h 6459417"/>
              <a:gd name="connsiteX10-165" fmla="*/ 0 w 6858000"/>
              <a:gd name="connsiteY10-166" fmla="*/ 4098468 h 6459417"/>
              <a:gd name="connsiteX11-167" fmla="*/ 0 w 6858000"/>
              <a:gd name="connsiteY11-168" fmla="*/ 3954046 h 6459417"/>
              <a:gd name="connsiteX12-169" fmla="*/ 0 w 6858000"/>
              <a:gd name="connsiteY12-170" fmla="*/ 3295924 h 6459417"/>
              <a:gd name="connsiteX13-171" fmla="*/ 0 w 6858000"/>
              <a:gd name="connsiteY13-172" fmla="*/ 1819701 h 6459417"/>
              <a:gd name="connsiteX14-173" fmla="*/ 0 w 6858000"/>
              <a:gd name="connsiteY14-174" fmla="*/ 1675279 h 6459417"/>
              <a:gd name="connsiteX15-175" fmla="*/ 0 w 6858000"/>
              <a:gd name="connsiteY15-176" fmla="*/ 1017157 h 6459417"/>
              <a:gd name="connsiteX16-177" fmla="*/ 6858000 w 6858000"/>
              <a:gd name="connsiteY16-178" fmla="*/ 0 h 6459417"/>
              <a:gd name="connsiteX0-179" fmla="*/ 6858000 w 6858000"/>
              <a:gd name="connsiteY0-180" fmla="*/ 0 h 6459417"/>
              <a:gd name="connsiteX1-181" fmla="*/ 6858000 w 6858000"/>
              <a:gd name="connsiteY1-182" fmla="*/ 1675279 h 6459417"/>
              <a:gd name="connsiteX2-183" fmla="*/ 6858000 w 6858000"/>
              <a:gd name="connsiteY2-184" fmla="*/ 1819701 h 6459417"/>
              <a:gd name="connsiteX3-185" fmla="*/ 6858000 w 6858000"/>
              <a:gd name="connsiteY3-186" fmla="*/ 2278767 h 6459417"/>
              <a:gd name="connsiteX4-187" fmla="*/ 6858000 w 6858000"/>
              <a:gd name="connsiteY4-188" fmla="*/ 3954046 h 6459417"/>
              <a:gd name="connsiteX5-189" fmla="*/ 6858000 w 6858000"/>
              <a:gd name="connsiteY5-190" fmla="*/ 4098468 h 6459417"/>
              <a:gd name="connsiteX6-191" fmla="*/ 6858000 w 6858000"/>
              <a:gd name="connsiteY6-192" fmla="*/ 4180650 h 6459417"/>
              <a:gd name="connsiteX7-193" fmla="*/ 6858000 w 6858000"/>
              <a:gd name="connsiteY7-194" fmla="*/ 6459417 h 6459417"/>
              <a:gd name="connsiteX8-195" fmla="*/ 0 w 6858000"/>
              <a:gd name="connsiteY8-196" fmla="*/ 6459417 h 6459417"/>
              <a:gd name="connsiteX9-197" fmla="*/ 0 w 6858000"/>
              <a:gd name="connsiteY9-198" fmla="*/ 4180650 h 6459417"/>
              <a:gd name="connsiteX10-199" fmla="*/ 0 w 6858000"/>
              <a:gd name="connsiteY10-200" fmla="*/ 4098468 h 6459417"/>
              <a:gd name="connsiteX11-201" fmla="*/ 0 w 6858000"/>
              <a:gd name="connsiteY11-202" fmla="*/ 3954046 h 6459417"/>
              <a:gd name="connsiteX12-203" fmla="*/ 0 w 6858000"/>
              <a:gd name="connsiteY12-204" fmla="*/ 3295924 h 6459417"/>
              <a:gd name="connsiteX13-205" fmla="*/ 0 w 6858000"/>
              <a:gd name="connsiteY13-206" fmla="*/ 1819701 h 6459417"/>
              <a:gd name="connsiteX14-207" fmla="*/ 0 w 6858000"/>
              <a:gd name="connsiteY14-208" fmla="*/ 1675279 h 6459417"/>
              <a:gd name="connsiteX15-209" fmla="*/ 0 w 6858000"/>
              <a:gd name="connsiteY15-210" fmla="*/ 1017157 h 6459417"/>
              <a:gd name="connsiteX16-211" fmla="*/ 6858000 w 6858000"/>
              <a:gd name="connsiteY16-212" fmla="*/ 0 h 6459417"/>
              <a:gd name="connsiteX0-213" fmla="*/ 6858000 w 6858000"/>
              <a:gd name="connsiteY0-214" fmla="*/ 0 h 6459417"/>
              <a:gd name="connsiteX1-215" fmla="*/ 6858000 w 6858000"/>
              <a:gd name="connsiteY1-216" fmla="*/ 1675279 h 6459417"/>
              <a:gd name="connsiteX2-217" fmla="*/ 6858000 w 6858000"/>
              <a:gd name="connsiteY2-218" fmla="*/ 1819701 h 6459417"/>
              <a:gd name="connsiteX3-219" fmla="*/ 6858000 w 6858000"/>
              <a:gd name="connsiteY3-220" fmla="*/ 2278767 h 6459417"/>
              <a:gd name="connsiteX4-221" fmla="*/ 6858000 w 6858000"/>
              <a:gd name="connsiteY4-222" fmla="*/ 3954046 h 6459417"/>
              <a:gd name="connsiteX5-223" fmla="*/ 6858000 w 6858000"/>
              <a:gd name="connsiteY5-224" fmla="*/ 4098468 h 6459417"/>
              <a:gd name="connsiteX6-225" fmla="*/ 6858000 w 6858000"/>
              <a:gd name="connsiteY6-226" fmla="*/ 4180650 h 6459417"/>
              <a:gd name="connsiteX7-227" fmla="*/ 6858000 w 6858000"/>
              <a:gd name="connsiteY7-228" fmla="*/ 6459417 h 6459417"/>
              <a:gd name="connsiteX8-229" fmla="*/ 0 w 6858000"/>
              <a:gd name="connsiteY8-230" fmla="*/ 6459417 h 6459417"/>
              <a:gd name="connsiteX9-231" fmla="*/ 0 w 6858000"/>
              <a:gd name="connsiteY9-232" fmla="*/ 4180650 h 6459417"/>
              <a:gd name="connsiteX10-233" fmla="*/ 0 w 6858000"/>
              <a:gd name="connsiteY10-234" fmla="*/ 4098468 h 6459417"/>
              <a:gd name="connsiteX11-235" fmla="*/ 0 w 6858000"/>
              <a:gd name="connsiteY11-236" fmla="*/ 3954046 h 6459417"/>
              <a:gd name="connsiteX12-237" fmla="*/ 0 w 6858000"/>
              <a:gd name="connsiteY12-238" fmla="*/ 3295924 h 6459417"/>
              <a:gd name="connsiteX13-239" fmla="*/ 0 w 6858000"/>
              <a:gd name="connsiteY13-240" fmla="*/ 1819701 h 6459417"/>
              <a:gd name="connsiteX14-241" fmla="*/ 0 w 6858000"/>
              <a:gd name="connsiteY14-242" fmla="*/ 1675279 h 6459417"/>
              <a:gd name="connsiteX15-243" fmla="*/ 0 w 6858000"/>
              <a:gd name="connsiteY15-244" fmla="*/ 1017157 h 6459417"/>
              <a:gd name="connsiteX16-245" fmla="*/ 6858000 w 6858000"/>
              <a:gd name="connsiteY16-246" fmla="*/ 0 h 6459417"/>
              <a:gd name="connsiteX0-247" fmla="*/ 6858000 w 6858000"/>
              <a:gd name="connsiteY0-248" fmla="*/ 0 h 6459417"/>
              <a:gd name="connsiteX1-249" fmla="*/ 6858000 w 6858000"/>
              <a:gd name="connsiteY1-250" fmla="*/ 1675279 h 6459417"/>
              <a:gd name="connsiteX2-251" fmla="*/ 6858000 w 6858000"/>
              <a:gd name="connsiteY2-252" fmla="*/ 1819701 h 6459417"/>
              <a:gd name="connsiteX3-253" fmla="*/ 6858000 w 6858000"/>
              <a:gd name="connsiteY3-254" fmla="*/ 2278767 h 6459417"/>
              <a:gd name="connsiteX4-255" fmla="*/ 6858000 w 6858000"/>
              <a:gd name="connsiteY4-256" fmla="*/ 3954046 h 6459417"/>
              <a:gd name="connsiteX5-257" fmla="*/ 6858000 w 6858000"/>
              <a:gd name="connsiteY5-258" fmla="*/ 4098468 h 6459417"/>
              <a:gd name="connsiteX6-259" fmla="*/ 6858000 w 6858000"/>
              <a:gd name="connsiteY6-260" fmla="*/ 4180650 h 6459417"/>
              <a:gd name="connsiteX7-261" fmla="*/ 6858000 w 6858000"/>
              <a:gd name="connsiteY7-262" fmla="*/ 6459417 h 6459417"/>
              <a:gd name="connsiteX8-263" fmla="*/ 0 w 6858000"/>
              <a:gd name="connsiteY8-264" fmla="*/ 6459417 h 6459417"/>
              <a:gd name="connsiteX9-265" fmla="*/ 0 w 6858000"/>
              <a:gd name="connsiteY9-266" fmla="*/ 4180650 h 6459417"/>
              <a:gd name="connsiteX10-267" fmla="*/ 0 w 6858000"/>
              <a:gd name="connsiteY10-268" fmla="*/ 4098468 h 6459417"/>
              <a:gd name="connsiteX11-269" fmla="*/ 0 w 6858000"/>
              <a:gd name="connsiteY11-270" fmla="*/ 3954046 h 6459417"/>
              <a:gd name="connsiteX12-271" fmla="*/ 0 w 6858000"/>
              <a:gd name="connsiteY12-272" fmla="*/ 3295924 h 6459417"/>
              <a:gd name="connsiteX13-273" fmla="*/ 0 w 6858000"/>
              <a:gd name="connsiteY13-274" fmla="*/ 1819701 h 6459417"/>
              <a:gd name="connsiteX14-275" fmla="*/ 0 w 6858000"/>
              <a:gd name="connsiteY14-276" fmla="*/ 1675279 h 6459417"/>
              <a:gd name="connsiteX15-277" fmla="*/ 0 w 6858000"/>
              <a:gd name="connsiteY15-278" fmla="*/ 1017157 h 6459417"/>
              <a:gd name="connsiteX16-279" fmla="*/ 6858000 w 6858000"/>
              <a:gd name="connsiteY16-280" fmla="*/ 0 h 6459417"/>
              <a:gd name="connsiteX0-281" fmla="*/ 6858000 w 6858000"/>
              <a:gd name="connsiteY0-282" fmla="*/ 0 h 6459417"/>
              <a:gd name="connsiteX1-283" fmla="*/ 6858000 w 6858000"/>
              <a:gd name="connsiteY1-284" fmla="*/ 1675279 h 6459417"/>
              <a:gd name="connsiteX2-285" fmla="*/ 6858000 w 6858000"/>
              <a:gd name="connsiteY2-286" fmla="*/ 1819701 h 6459417"/>
              <a:gd name="connsiteX3-287" fmla="*/ 6858000 w 6858000"/>
              <a:gd name="connsiteY3-288" fmla="*/ 2278767 h 6459417"/>
              <a:gd name="connsiteX4-289" fmla="*/ 6858000 w 6858000"/>
              <a:gd name="connsiteY4-290" fmla="*/ 3954046 h 6459417"/>
              <a:gd name="connsiteX5-291" fmla="*/ 6858000 w 6858000"/>
              <a:gd name="connsiteY5-292" fmla="*/ 4098468 h 6459417"/>
              <a:gd name="connsiteX6-293" fmla="*/ 6858000 w 6858000"/>
              <a:gd name="connsiteY6-294" fmla="*/ 4180650 h 6459417"/>
              <a:gd name="connsiteX7-295" fmla="*/ 6858000 w 6858000"/>
              <a:gd name="connsiteY7-296" fmla="*/ 6459417 h 6459417"/>
              <a:gd name="connsiteX8-297" fmla="*/ 0 w 6858000"/>
              <a:gd name="connsiteY8-298" fmla="*/ 6459417 h 6459417"/>
              <a:gd name="connsiteX9-299" fmla="*/ 0 w 6858000"/>
              <a:gd name="connsiteY9-300" fmla="*/ 4180650 h 6459417"/>
              <a:gd name="connsiteX10-301" fmla="*/ 0 w 6858000"/>
              <a:gd name="connsiteY10-302" fmla="*/ 4098468 h 6459417"/>
              <a:gd name="connsiteX11-303" fmla="*/ 0 w 6858000"/>
              <a:gd name="connsiteY11-304" fmla="*/ 3954046 h 6459417"/>
              <a:gd name="connsiteX12-305" fmla="*/ 0 w 6858000"/>
              <a:gd name="connsiteY12-306" fmla="*/ 3295924 h 6459417"/>
              <a:gd name="connsiteX13-307" fmla="*/ 0 w 6858000"/>
              <a:gd name="connsiteY13-308" fmla="*/ 1819701 h 6459417"/>
              <a:gd name="connsiteX14-309" fmla="*/ 0 w 6858000"/>
              <a:gd name="connsiteY14-310" fmla="*/ 1675279 h 6459417"/>
              <a:gd name="connsiteX15-311" fmla="*/ 0 w 6858000"/>
              <a:gd name="connsiteY15-312" fmla="*/ 1017157 h 6459417"/>
              <a:gd name="connsiteX16-313" fmla="*/ 6858000 w 6858000"/>
              <a:gd name="connsiteY16-314" fmla="*/ 0 h 6459417"/>
              <a:gd name="connsiteX0-315" fmla="*/ 6858000 w 6858000"/>
              <a:gd name="connsiteY0-316" fmla="*/ 0 h 6459417"/>
              <a:gd name="connsiteX1-317" fmla="*/ 6858000 w 6858000"/>
              <a:gd name="connsiteY1-318" fmla="*/ 1675279 h 6459417"/>
              <a:gd name="connsiteX2-319" fmla="*/ 6858000 w 6858000"/>
              <a:gd name="connsiteY2-320" fmla="*/ 1819701 h 6459417"/>
              <a:gd name="connsiteX3-321" fmla="*/ 6858000 w 6858000"/>
              <a:gd name="connsiteY3-322" fmla="*/ 2278767 h 6459417"/>
              <a:gd name="connsiteX4-323" fmla="*/ 6858000 w 6858000"/>
              <a:gd name="connsiteY4-324" fmla="*/ 3954046 h 6459417"/>
              <a:gd name="connsiteX5-325" fmla="*/ 6858000 w 6858000"/>
              <a:gd name="connsiteY5-326" fmla="*/ 4098468 h 6459417"/>
              <a:gd name="connsiteX6-327" fmla="*/ 6858000 w 6858000"/>
              <a:gd name="connsiteY6-328" fmla="*/ 4180650 h 6459417"/>
              <a:gd name="connsiteX7-329" fmla="*/ 6858000 w 6858000"/>
              <a:gd name="connsiteY7-330" fmla="*/ 6459417 h 6459417"/>
              <a:gd name="connsiteX8-331" fmla="*/ 0 w 6858000"/>
              <a:gd name="connsiteY8-332" fmla="*/ 6459417 h 6459417"/>
              <a:gd name="connsiteX9-333" fmla="*/ 0 w 6858000"/>
              <a:gd name="connsiteY9-334" fmla="*/ 4180650 h 6459417"/>
              <a:gd name="connsiteX10-335" fmla="*/ 0 w 6858000"/>
              <a:gd name="connsiteY10-336" fmla="*/ 4098468 h 6459417"/>
              <a:gd name="connsiteX11-337" fmla="*/ 0 w 6858000"/>
              <a:gd name="connsiteY11-338" fmla="*/ 3954046 h 6459417"/>
              <a:gd name="connsiteX12-339" fmla="*/ 0 w 6858000"/>
              <a:gd name="connsiteY12-340" fmla="*/ 3295924 h 6459417"/>
              <a:gd name="connsiteX13-341" fmla="*/ 0 w 6858000"/>
              <a:gd name="connsiteY13-342" fmla="*/ 1819701 h 6459417"/>
              <a:gd name="connsiteX14-343" fmla="*/ 0 w 6858000"/>
              <a:gd name="connsiteY14-344" fmla="*/ 1675279 h 6459417"/>
              <a:gd name="connsiteX15-345" fmla="*/ 0 w 6858000"/>
              <a:gd name="connsiteY15-346" fmla="*/ 1017157 h 6459417"/>
              <a:gd name="connsiteX16-347" fmla="*/ 6858000 w 6858000"/>
              <a:gd name="connsiteY16-348" fmla="*/ 0 h 6459417"/>
              <a:gd name="connsiteX0-349" fmla="*/ 6858000 w 6858000"/>
              <a:gd name="connsiteY0-350" fmla="*/ 0 h 6459417"/>
              <a:gd name="connsiteX1-351" fmla="*/ 6858000 w 6858000"/>
              <a:gd name="connsiteY1-352" fmla="*/ 1675279 h 6459417"/>
              <a:gd name="connsiteX2-353" fmla="*/ 6858000 w 6858000"/>
              <a:gd name="connsiteY2-354" fmla="*/ 1819701 h 6459417"/>
              <a:gd name="connsiteX3-355" fmla="*/ 6858000 w 6858000"/>
              <a:gd name="connsiteY3-356" fmla="*/ 2278767 h 6459417"/>
              <a:gd name="connsiteX4-357" fmla="*/ 6858000 w 6858000"/>
              <a:gd name="connsiteY4-358" fmla="*/ 3954046 h 6459417"/>
              <a:gd name="connsiteX5-359" fmla="*/ 6858000 w 6858000"/>
              <a:gd name="connsiteY5-360" fmla="*/ 4098468 h 6459417"/>
              <a:gd name="connsiteX6-361" fmla="*/ 6858000 w 6858000"/>
              <a:gd name="connsiteY6-362" fmla="*/ 4180650 h 6459417"/>
              <a:gd name="connsiteX7-363" fmla="*/ 6858000 w 6858000"/>
              <a:gd name="connsiteY7-364" fmla="*/ 6459417 h 6459417"/>
              <a:gd name="connsiteX8-365" fmla="*/ 0 w 6858000"/>
              <a:gd name="connsiteY8-366" fmla="*/ 6459417 h 6459417"/>
              <a:gd name="connsiteX9-367" fmla="*/ 0 w 6858000"/>
              <a:gd name="connsiteY9-368" fmla="*/ 4180650 h 6459417"/>
              <a:gd name="connsiteX10-369" fmla="*/ 0 w 6858000"/>
              <a:gd name="connsiteY10-370" fmla="*/ 4098468 h 6459417"/>
              <a:gd name="connsiteX11-371" fmla="*/ 0 w 6858000"/>
              <a:gd name="connsiteY11-372" fmla="*/ 3954046 h 6459417"/>
              <a:gd name="connsiteX12-373" fmla="*/ 0 w 6858000"/>
              <a:gd name="connsiteY12-374" fmla="*/ 3295924 h 6459417"/>
              <a:gd name="connsiteX13-375" fmla="*/ 0 w 6858000"/>
              <a:gd name="connsiteY13-376" fmla="*/ 1819701 h 6459417"/>
              <a:gd name="connsiteX14-377" fmla="*/ 0 w 6858000"/>
              <a:gd name="connsiteY14-378" fmla="*/ 1675279 h 6459417"/>
              <a:gd name="connsiteX15-379" fmla="*/ 0 w 6858000"/>
              <a:gd name="connsiteY15-380" fmla="*/ 1017157 h 6459417"/>
              <a:gd name="connsiteX16-381" fmla="*/ 6858000 w 6858000"/>
              <a:gd name="connsiteY16-382" fmla="*/ 0 h 6459417"/>
              <a:gd name="connsiteX0-383" fmla="*/ 6858000 w 6858000"/>
              <a:gd name="connsiteY0-384" fmla="*/ 0 h 6459417"/>
              <a:gd name="connsiteX1-385" fmla="*/ 6858000 w 6858000"/>
              <a:gd name="connsiteY1-386" fmla="*/ 1675279 h 6459417"/>
              <a:gd name="connsiteX2-387" fmla="*/ 6858000 w 6858000"/>
              <a:gd name="connsiteY2-388" fmla="*/ 1819701 h 6459417"/>
              <a:gd name="connsiteX3-389" fmla="*/ 6858000 w 6858000"/>
              <a:gd name="connsiteY3-390" fmla="*/ 2278767 h 6459417"/>
              <a:gd name="connsiteX4-391" fmla="*/ 6858000 w 6858000"/>
              <a:gd name="connsiteY4-392" fmla="*/ 3954046 h 6459417"/>
              <a:gd name="connsiteX5-393" fmla="*/ 6858000 w 6858000"/>
              <a:gd name="connsiteY5-394" fmla="*/ 4098468 h 6459417"/>
              <a:gd name="connsiteX6-395" fmla="*/ 6858000 w 6858000"/>
              <a:gd name="connsiteY6-396" fmla="*/ 4180650 h 6459417"/>
              <a:gd name="connsiteX7-397" fmla="*/ 6858000 w 6858000"/>
              <a:gd name="connsiteY7-398" fmla="*/ 6459417 h 6459417"/>
              <a:gd name="connsiteX8-399" fmla="*/ 0 w 6858000"/>
              <a:gd name="connsiteY8-400" fmla="*/ 6459417 h 6459417"/>
              <a:gd name="connsiteX9-401" fmla="*/ 0 w 6858000"/>
              <a:gd name="connsiteY9-402" fmla="*/ 4180650 h 6459417"/>
              <a:gd name="connsiteX10-403" fmla="*/ 0 w 6858000"/>
              <a:gd name="connsiteY10-404" fmla="*/ 4098468 h 6459417"/>
              <a:gd name="connsiteX11-405" fmla="*/ 0 w 6858000"/>
              <a:gd name="connsiteY11-406" fmla="*/ 3954046 h 6459417"/>
              <a:gd name="connsiteX12-407" fmla="*/ 0 w 6858000"/>
              <a:gd name="connsiteY12-408" fmla="*/ 3295924 h 6459417"/>
              <a:gd name="connsiteX13-409" fmla="*/ 0 w 6858000"/>
              <a:gd name="connsiteY13-410" fmla="*/ 1819701 h 6459417"/>
              <a:gd name="connsiteX14-411" fmla="*/ 0 w 6858000"/>
              <a:gd name="connsiteY14-412" fmla="*/ 1675279 h 6459417"/>
              <a:gd name="connsiteX15-413" fmla="*/ 0 w 6858000"/>
              <a:gd name="connsiteY15-414" fmla="*/ 1017157 h 6459417"/>
              <a:gd name="connsiteX16-415" fmla="*/ 6858000 w 6858000"/>
              <a:gd name="connsiteY16-416" fmla="*/ 0 h 6459417"/>
              <a:gd name="connsiteX0-417" fmla="*/ 6858003 w 6858003"/>
              <a:gd name="connsiteY0-418" fmla="*/ 0 h 6735189"/>
              <a:gd name="connsiteX1-419" fmla="*/ 6858000 w 6858003"/>
              <a:gd name="connsiteY1-420" fmla="*/ 1951051 h 6735189"/>
              <a:gd name="connsiteX2-421" fmla="*/ 6858000 w 6858003"/>
              <a:gd name="connsiteY2-422" fmla="*/ 2095473 h 6735189"/>
              <a:gd name="connsiteX3-423" fmla="*/ 6858000 w 6858003"/>
              <a:gd name="connsiteY3-424" fmla="*/ 2554539 h 6735189"/>
              <a:gd name="connsiteX4-425" fmla="*/ 6858000 w 6858003"/>
              <a:gd name="connsiteY4-426" fmla="*/ 4229818 h 6735189"/>
              <a:gd name="connsiteX5-427" fmla="*/ 6858000 w 6858003"/>
              <a:gd name="connsiteY5-428" fmla="*/ 4374240 h 6735189"/>
              <a:gd name="connsiteX6-429" fmla="*/ 6858000 w 6858003"/>
              <a:gd name="connsiteY6-430" fmla="*/ 4456422 h 6735189"/>
              <a:gd name="connsiteX7-431" fmla="*/ 6858000 w 6858003"/>
              <a:gd name="connsiteY7-432" fmla="*/ 6735189 h 6735189"/>
              <a:gd name="connsiteX8-433" fmla="*/ 0 w 6858003"/>
              <a:gd name="connsiteY8-434" fmla="*/ 6735189 h 6735189"/>
              <a:gd name="connsiteX9-435" fmla="*/ 0 w 6858003"/>
              <a:gd name="connsiteY9-436" fmla="*/ 4456422 h 6735189"/>
              <a:gd name="connsiteX10-437" fmla="*/ 0 w 6858003"/>
              <a:gd name="connsiteY10-438" fmla="*/ 4374240 h 6735189"/>
              <a:gd name="connsiteX11-439" fmla="*/ 0 w 6858003"/>
              <a:gd name="connsiteY11-440" fmla="*/ 4229818 h 6735189"/>
              <a:gd name="connsiteX12-441" fmla="*/ 0 w 6858003"/>
              <a:gd name="connsiteY12-442" fmla="*/ 3571696 h 6735189"/>
              <a:gd name="connsiteX13-443" fmla="*/ 0 w 6858003"/>
              <a:gd name="connsiteY13-444" fmla="*/ 2095473 h 6735189"/>
              <a:gd name="connsiteX14-445" fmla="*/ 0 w 6858003"/>
              <a:gd name="connsiteY14-446" fmla="*/ 1951051 h 6735189"/>
              <a:gd name="connsiteX15-447" fmla="*/ 0 w 6858003"/>
              <a:gd name="connsiteY15-448" fmla="*/ 1292929 h 6735189"/>
              <a:gd name="connsiteX16-449" fmla="*/ 6858003 w 6858003"/>
              <a:gd name="connsiteY16-450" fmla="*/ 0 h 6735189"/>
              <a:gd name="connsiteX0-451" fmla="*/ 6858003 w 6858003"/>
              <a:gd name="connsiteY0-452" fmla="*/ 0 h 6735189"/>
              <a:gd name="connsiteX1-453" fmla="*/ 6858000 w 6858003"/>
              <a:gd name="connsiteY1-454" fmla="*/ 1951051 h 6735189"/>
              <a:gd name="connsiteX2-455" fmla="*/ 6858000 w 6858003"/>
              <a:gd name="connsiteY2-456" fmla="*/ 2095473 h 6735189"/>
              <a:gd name="connsiteX3-457" fmla="*/ 6858000 w 6858003"/>
              <a:gd name="connsiteY3-458" fmla="*/ 2554539 h 6735189"/>
              <a:gd name="connsiteX4-459" fmla="*/ 6858000 w 6858003"/>
              <a:gd name="connsiteY4-460" fmla="*/ 4229818 h 6735189"/>
              <a:gd name="connsiteX5-461" fmla="*/ 6858000 w 6858003"/>
              <a:gd name="connsiteY5-462" fmla="*/ 4374240 h 6735189"/>
              <a:gd name="connsiteX6-463" fmla="*/ 6858000 w 6858003"/>
              <a:gd name="connsiteY6-464" fmla="*/ 4456422 h 6735189"/>
              <a:gd name="connsiteX7-465" fmla="*/ 6858000 w 6858003"/>
              <a:gd name="connsiteY7-466" fmla="*/ 6735189 h 6735189"/>
              <a:gd name="connsiteX8-467" fmla="*/ 0 w 6858003"/>
              <a:gd name="connsiteY8-468" fmla="*/ 6735189 h 6735189"/>
              <a:gd name="connsiteX9-469" fmla="*/ 0 w 6858003"/>
              <a:gd name="connsiteY9-470" fmla="*/ 4456422 h 6735189"/>
              <a:gd name="connsiteX10-471" fmla="*/ 0 w 6858003"/>
              <a:gd name="connsiteY10-472" fmla="*/ 4374240 h 6735189"/>
              <a:gd name="connsiteX11-473" fmla="*/ 0 w 6858003"/>
              <a:gd name="connsiteY11-474" fmla="*/ 4229818 h 6735189"/>
              <a:gd name="connsiteX12-475" fmla="*/ 0 w 6858003"/>
              <a:gd name="connsiteY12-476" fmla="*/ 3571696 h 6735189"/>
              <a:gd name="connsiteX13-477" fmla="*/ 0 w 6858003"/>
              <a:gd name="connsiteY13-478" fmla="*/ 2095473 h 6735189"/>
              <a:gd name="connsiteX14-479" fmla="*/ 0 w 6858003"/>
              <a:gd name="connsiteY14-480" fmla="*/ 1951051 h 6735189"/>
              <a:gd name="connsiteX15-481" fmla="*/ 0 w 6858003"/>
              <a:gd name="connsiteY15-482" fmla="*/ 1292929 h 6735189"/>
              <a:gd name="connsiteX16-483" fmla="*/ 6858003 w 6858003"/>
              <a:gd name="connsiteY16-484" fmla="*/ 0 h 6735189"/>
              <a:gd name="connsiteX0-485" fmla="*/ 6858003 w 6858003"/>
              <a:gd name="connsiteY0-486" fmla="*/ 0 h 6735189"/>
              <a:gd name="connsiteX1-487" fmla="*/ 6858000 w 6858003"/>
              <a:gd name="connsiteY1-488" fmla="*/ 1951051 h 6735189"/>
              <a:gd name="connsiteX2-489" fmla="*/ 6858000 w 6858003"/>
              <a:gd name="connsiteY2-490" fmla="*/ 2095473 h 6735189"/>
              <a:gd name="connsiteX3-491" fmla="*/ 6858000 w 6858003"/>
              <a:gd name="connsiteY3-492" fmla="*/ 2554539 h 6735189"/>
              <a:gd name="connsiteX4-493" fmla="*/ 6858000 w 6858003"/>
              <a:gd name="connsiteY4-494" fmla="*/ 4229818 h 6735189"/>
              <a:gd name="connsiteX5-495" fmla="*/ 6858000 w 6858003"/>
              <a:gd name="connsiteY5-496" fmla="*/ 4374240 h 6735189"/>
              <a:gd name="connsiteX6-497" fmla="*/ 6858000 w 6858003"/>
              <a:gd name="connsiteY6-498" fmla="*/ 4456422 h 6735189"/>
              <a:gd name="connsiteX7-499" fmla="*/ 6858000 w 6858003"/>
              <a:gd name="connsiteY7-500" fmla="*/ 6735189 h 6735189"/>
              <a:gd name="connsiteX8-501" fmla="*/ 0 w 6858003"/>
              <a:gd name="connsiteY8-502" fmla="*/ 6735189 h 6735189"/>
              <a:gd name="connsiteX9-503" fmla="*/ 0 w 6858003"/>
              <a:gd name="connsiteY9-504" fmla="*/ 4456422 h 6735189"/>
              <a:gd name="connsiteX10-505" fmla="*/ 0 w 6858003"/>
              <a:gd name="connsiteY10-506" fmla="*/ 4374240 h 6735189"/>
              <a:gd name="connsiteX11-507" fmla="*/ 0 w 6858003"/>
              <a:gd name="connsiteY11-508" fmla="*/ 4229818 h 6735189"/>
              <a:gd name="connsiteX12-509" fmla="*/ 0 w 6858003"/>
              <a:gd name="connsiteY12-510" fmla="*/ 3571696 h 6735189"/>
              <a:gd name="connsiteX13-511" fmla="*/ 0 w 6858003"/>
              <a:gd name="connsiteY13-512" fmla="*/ 2095473 h 6735189"/>
              <a:gd name="connsiteX14-513" fmla="*/ 0 w 6858003"/>
              <a:gd name="connsiteY14-514" fmla="*/ 1951051 h 6735189"/>
              <a:gd name="connsiteX15-515" fmla="*/ 0 w 6858003"/>
              <a:gd name="connsiteY15-516" fmla="*/ 1292929 h 6735189"/>
              <a:gd name="connsiteX16-517" fmla="*/ 6858003 w 6858003"/>
              <a:gd name="connsiteY16-518" fmla="*/ 0 h 6735189"/>
              <a:gd name="connsiteX0-519" fmla="*/ 6858003 w 6858003"/>
              <a:gd name="connsiteY0-520" fmla="*/ 0 h 6735189"/>
              <a:gd name="connsiteX1-521" fmla="*/ 6858000 w 6858003"/>
              <a:gd name="connsiteY1-522" fmla="*/ 1951051 h 6735189"/>
              <a:gd name="connsiteX2-523" fmla="*/ 6858000 w 6858003"/>
              <a:gd name="connsiteY2-524" fmla="*/ 2095473 h 6735189"/>
              <a:gd name="connsiteX3-525" fmla="*/ 6858000 w 6858003"/>
              <a:gd name="connsiteY3-526" fmla="*/ 2554539 h 6735189"/>
              <a:gd name="connsiteX4-527" fmla="*/ 6858000 w 6858003"/>
              <a:gd name="connsiteY4-528" fmla="*/ 4229818 h 6735189"/>
              <a:gd name="connsiteX5-529" fmla="*/ 6858000 w 6858003"/>
              <a:gd name="connsiteY5-530" fmla="*/ 4374240 h 6735189"/>
              <a:gd name="connsiteX6-531" fmla="*/ 6858000 w 6858003"/>
              <a:gd name="connsiteY6-532" fmla="*/ 4456422 h 6735189"/>
              <a:gd name="connsiteX7-533" fmla="*/ 6858000 w 6858003"/>
              <a:gd name="connsiteY7-534" fmla="*/ 6735189 h 6735189"/>
              <a:gd name="connsiteX8-535" fmla="*/ 0 w 6858003"/>
              <a:gd name="connsiteY8-536" fmla="*/ 6735189 h 6735189"/>
              <a:gd name="connsiteX9-537" fmla="*/ 0 w 6858003"/>
              <a:gd name="connsiteY9-538" fmla="*/ 4456422 h 6735189"/>
              <a:gd name="connsiteX10-539" fmla="*/ 0 w 6858003"/>
              <a:gd name="connsiteY10-540" fmla="*/ 4374240 h 6735189"/>
              <a:gd name="connsiteX11-541" fmla="*/ 0 w 6858003"/>
              <a:gd name="connsiteY11-542" fmla="*/ 4229818 h 6735189"/>
              <a:gd name="connsiteX12-543" fmla="*/ 0 w 6858003"/>
              <a:gd name="connsiteY12-544" fmla="*/ 3571696 h 6735189"/>
              <a:gd name="connsiteX13-545" fmla="*/ 0 w 6858003"/>
              <a:gd name="connsiteY13-546" fmla="*/ 2095473 h 6735189"/>
              <a:gd name="connsiteX14-547" fmla="*/ 0 w 6858003"/>
              <a:gd name="connsiteY14-548" fmla="*/ 1951051 h 6735189"/>
              <a:gd name="connsiteX15-549" fmla="*/ 0 w 6858003"/>
              <a:gd name="connsiteY15-550" fmla="*/ 1292929 h 6735189"/>
              <a:gd name="connsiteX16-551" fmla="*/ 6858003 w 6858003"/>
              <a:gd name="connsiteY16-552" fmla="*/ 0 h 6735189"/>
              <a:gd name="connsiteX0-553" fmla="*/ 6858003 w 6858003"/>
              <a:gd name="connsiteY0-554" fmla="*/ 0 h 6735189"/>
              <a:gd name="connsiteX1-555" fmla="*/ 6858000 w 6858003"/>
              <a:gd name="connsiteY1-556" fmla="*/ 1951051 h 6735189"/>
              <a:gd name="connsiteX2-557" fmla="*/ 6858000 w 6858003"/>
              <a:gd name="connsiteY2-558" fmla="*/ 2095473 h 6735189"/>
              <a:gd name="connsiteX3-559" fmla="*/ 6858000 w 6858003"/>
              <a:gd name="connsiteY3-560" fmla="*/ 2554539 h 6735189"/>
              <a:gd name="connsiteX4-561" fmla="*/ 6858000 w 6858003"/>
              <a:gd name="connsiteY4-562" fmla="*/ 4229818 h 6735189"/>
              <a:gd name="connsiteX5-563" fmla="*/ 6858000 w 6858003"/>
              <a:gd name="connsiteY5-564" fmla="*/ 4374240 h 6735189"/>
              <a:gd name="connsiteX6-565" fmla="*/ 6858000 w 6858003"/>
              <a:gd name="connsiteY6-566" fmla="*/ 4456422 h 6735189"/>
              <a:gd name="connsiteX7-567" fmla="*/ 6858000 w 6858003"/>
              <a:gd name="connsiteY7-568" fmla="*/ 6735189 h 6735189"/>
              <a:gd name="connsiteX8-569" fmla="*/ 0 w 6858003"/>
              <a:gd name="connsiteY8-570" fmla="*/ 6735189 h 6735189"/>
              <a:gd name="connsiteX9-571" fmla="*/ 0 w 6858003"/>
              <a:gd name="connsiteY9-572" fmla="*/ 4456422 h 6735189"/>
              <a:gd name="connsiteX10-573" fmla="*/ 0 w 6858003"/>
              <a:gd name="connsiteY10-574" fmla="*/ 4374240 h 6735189"/>
              <a:gd name="connsiteX11-575" fmla="*/ 0 w 6858003"/>
              <a:gd name="connsiteY11-576" fmla="*/ 4229818 h 6735189"/>
              <a:gd name="connsiteX12-577" fmla="*/ 0 w 6858003"/>
              <a:gd name="connsiteY12-578" fmla="*/ 3571696 h 6735189"/>
              <a:gd name="connsiteX13-579" fmla="*/ 0 w 6858003"/>
              <a:gd name="connsiteY13-580" fmla="*/ 2095473 h 6735189"/>
              <a:gd name="connsiteX14-581" fmla="*/ 0 w 6858003"/>
              <a:gd name="connsiteY14-582" fmla="*/ 1951051 h 6735189"/>
              <a:gd name="connsiteX15-583" fmla="*/ 0 w 6858003"/>
              <a:gd name="connsiteY15-584" fmla="*/ 1292929 h 6735189"/>
              <a:gd name="connsiteX16-585" fmla="*/ 6858003 w 6858003"/>
              <a:gd name="connsiteY16-586" fmla="*/ 0 h 6735189"/>
              <a:gd name="connsiteX0-587" fmla="*/ 6858003 w 6858003"/>
              <a:gd name="connsiteY0-588" fmla="*/ 0 h 7431875"/>
              <a:gd name="connsiteX1-589" fmla="*/ 6858000 w 6858003"/>
              <a:gd name="connsiteY1-590" fmla="*/ 2647737 h 7431875"/>
              <a:gd name="connsiteX2-591" fmla="*/ 6858000 w 6858003"/>
              <a:gd name="connsiteY2-592" fmla="*/ 2792159 h 7431875"/>
              <a:gd name="connsiteX3-593" fmla="*/ 6858000 w 6858003"/>
              <a:gd name="connsiteY3-594" fmla="*/ 3251225 h 7431875"/>
              <a:gd name="connsiteX4-595" fmla="*/ 6858000 w 6858003"/>
              <a:gd name="connsiteY4-596" fmla="*/ 4926504 h 7431875"/>
              <a:gd name="connsiteX5-597" fmla="*/ 6858000 w 6858003"/>
              <a:gd name="connsiteY5-598" fmla="*/ 5070926 h 7431875"/>
              <a:gd name="connsiteX6-599" fmla="*/ 6858000 w 6858003"/>
              <a:gd name="connsiteY6-600" fmla="*/ 5153108 h 7431875"/>
              <a:gd name="connsiteX7-601" fmla="*/ 6858000 w 6858003"/>
              <a:gd name="connsiteY7-602" fmla="*/ 7431875 h 7431875"/>
              <a:gd name="connsiteX8-603" fmla="*/ 0 w 6858003"/>
              <a:gd name="connsiteY8-604" fmla="*/ 7431875 h 7431875"/>
              <a:gd name="connsiteX9-605" fmla="*/ 0 w 6858003"/>
              <a:gd name="connsiteY9-606" fmla="*/ 5153108 h 7431875"/>
              <a:gd name="connsiteX10-607" fmla="*/ 0 w 6858003"/>
              <a:gd name="connsiteY10-608" fmla="*/ 5070926 h 7431875"/>
              <a:gd name="connsiteX11-609" fmla="*/ 0 w 6858003"/>
              <a:gd name="connsiteY11-610" fmla="*/ 4926504 h 7431875"/>
              <a:gd name="connsiteX12-611" fmla="*/ 0 w 6858003"/>
              <a:gd name="connsiteY12-612" fmla="*/ 4268382 h 7431875"/>
              <a:gd name="connsiteX13-613" fmla="*/ 0 w 6858003"/>
              <a:gd name="connsiteY13-614" fmla="*/ 2792159 h 7431875"/>
              <a:gd name="connsiteX14-615" fmla="*/ 0 w 6858003"/>
              <a:gd name="connsiteY14-616" fmla="*/ 2647737 h 7431875"/>
              <a:gd name="connsiteX15-617" fmla="*/ 0 w 6858003"/>
              <a:gd name="connsiteY15-618" fmla="*/ 1989615 h 7431875"/>
              <a:gd name="connsiteX16-619" fmla="*/ 6858003 w 6858003"/>
              <a:gd name="connsiteY16-620" fmla="*/ 0 h 7431875"/>
              <a:gd name="connsiteX0-621" fmla="*/ 6872517 w 6872517"/>
              <a:gd name="connsiteY0-622" fmla="*/ 0 h 7431875"/>
              <a:gd name="connsiteX1-623" fmla="*/ 6872514 w 6872517"/>
              <a:gd name="connsiteY1-624" fmla="*/ 2647737 h 7431875"/>
              <a:gd name="connsiteX2-625" fmla="*/ 6872514 w 6872517"/>
              <a:gd name="connsiteY2-626" fmla="*/ 2792159 h 7431875"/>
              <a:gd name="connsiteX3-627" fmla="*/ 6872514 w 6872517"/>
              <a:gd name="connsiteY3-628" fmla="*/ 3251225 h 7431875"/>
              <a:gd name="connsiteX4-629" fmla="*/ 6872514 w 6872517"/>
              <a:gd name="connsiteY4-630" fmla="*/ 4926504 h 7431875"/>
              <a:gd name="connsiteX5-631" fmla="*/ 6872514 w 6872517"/>
              <a:gd name="connsiteY5-632" fmla="*/ 5070926 h 7431875"/>
              <a:gd name="connsiteX6-633" fmla="*/ 6872514 w 6872517"/>
              <a:gd name="connsiteY6-634" fmla="*/ 5153108 h 7431875"/>
              <a:gd name="connsiteX7-635" fmla="*/ 6872514 w 6872517"/>
              <a:gd name="connsiteY7-636" fmla="*/ 7431875 h 7431875"/>
              <a:gd name="connsiteX8-637" fmla="*/ 14514 w 6872517"/>
              <a:gd name="connsiteY8-638" fmla="*/ 7431875 h 7431875"/>
              <a:gd name="connsiteX9-639" fmla="*/ 14514 w 6872517"/>
              <a:gd name="connsiteY9-640" fmla="*/ 5153108 h 7431875"/>
              <a:gd name="connsiteX10-641" fmla="*/ 14514 w 6872517"/>
              <a:gd name="connsiteY10-642" fmla="*/ 5070926 h 7431875"/>
              <a:gd name="connsiteX11-643" fmla="*/ 14514 w 6872517"/>
              <a:gd name="connsiteY11-644" fmla="*/ 4926504 h 7431875"/>
              <a:gd name="connsiteX12-645" fmla="*/ 14514 w 6872517"/>
              <a:gd name="connsiteY12-646" fmla="*/ 4268382 h 7431875"/>
              <a:gd name="connsiteX13-647" fmla="*/ 14514 w 6872517"/>
              <a:gd name="connsiteY13-648" fmla="*/ 2792159 h 7431875"/>
              <a:gd name="connsiteX14-649" fmla="*/ 14514 w 6872517"/>
              <a:gd name="connsiteY14-650" fmla="*/ 2647737 h 7431875"/>
              <a:gd name="connsiteX15-651" fmla="*/ 0 w 6872517"/>
              <a:gd name="connsiteY15-652" fmla="*/ 480129 h 7431875"/>
              <a:gd name="connsiteX16-653" fmla="*/ 6872517 w 6872517"/>
              <a:gd name="connsiteY16-654" fmla="*/ 0 h 7431875"/>
              <a:gd name="connsiteX0-655" fmla="*/ 6858003 w 6858003"/>
              <a:gd name="connsiteY0-656" fmla="*/ 0 h 7431875"/>
              <a:gd name="connsiteX1-657" fmla="*/ 6858000 w 6858003"/>
              <a:gd name="connsiteY1-658" fmla="*/ 2647737 h 7431875"/>
              <a:gd name="connsiteX2-659" fmla="*/ 6858000 w 6858003"/>
              <a:gd name="connsiteY2-660" fmla="*/ 2792159 h 7431875"/>
              <a:gd name="connsiteX3-661" fmla="*/ 6858000 w 6858003"/>
              <a:gd name="connsiteY3-662" fmla="*/ 3251225 h 7431875"/>
              <a:gd name="connsiteX4-663" fmla="*/ 6858000 w 6858003"/>
              <a:gd name="connsiteY4-664" fmla="*/ 4926504 h 7431875"/>
              <a:gd name="connsiteX5-665" fmla="*/ 6858000 w 6858003"/>
              <a:gd name="connsiteY5-666" fmla="*/ 5070926 h 7431875"/>
              <a:gd name="connsiteX6-667" fmla="*/ 6858000 w 6858003"/>
              <a:gd name="connsiteY6-668" fmla="*/ 5153108 h 7431875"/>
              <a:gd name="connsiteX7-669" fmla="*/ 6858000 w 6858003"/>
              <a:gd name="connsiteY7-670" fmla="*/ 7431875 h 7431875"/>
              <a:gd name="connsiteX8-671" fmla="*/ 0 w 6858003"/>
              <a:gd name="connsiteY8-672" fmla="*/ 7431875 h 7431875"/>
              <a:gd name="connsiteX9-673" fmla="*/ 0 w 6858003"/>
              <a:gd name="connsiteY9-674" fmla="*/ 5153108 h 7431875"/>
              <a:gd name="connsiteX10-675" fmla="*/ 0 w 6858003"/>
              <a:gd name="connsiteY10-676" fmla="*/ 5070926 h 7431875"/>
              <a:gd name="connsiteX11-677" fmla="*/ 0 w 6858003"/>
              <a:gd name="connsiteY11-678" fmla="*/ 4926504 h 7431875"/>
              <a:gd name="connsiteX12-679" fmla="*/ 0 w 6858003"/>
              <a:gd name="connsiteY12-680" fmla="*/ 4268382 h 7431875"/>
              <a:gd name="connsiteX13-681" fmla="*/ 0 w 6858003"/>
              <a:gd name="connsiteY13-682" fmla="*/ 2792159 h 7431875"/>
              <a:gd name="connsiteX14-683" fmla="*/ 0 w 6858003"/>
              <a:gd name="connsiteY14-684" fmla="*/ 2647737 h 7431875"/>
              <a:gd name="connsiteX15-685" fmla="*/ 0 w 6858003"/>
              <a:gd name="connsiteY15-686" fmla="*/ 552701 h 7431875"/>
              <a:gd name="connsiteX16-687" fmla="*/ 6858003 w 6858003"/>
              <a:gd name="connsiteY16-688" fmla="*/ 0 h 7431875"/>
              <a:gd name="connsiteX0-689" fmla="*/ 6858003 w 6858003"/>
              <a:gd name="connsiteY0-690" fmla="*/ 0 h 7431875"/>
              <a:gd name="connsiteX1-691" fmla="*/ 6858000 w 6858003"/>
              <a:gd name="connsiteY1-692" fmla="*/ 2647737 h 7431875"/>
              <a:gd name="connsiteX2-693" fmla="*/ 6858000 w 6858003"/>
              <a:gd name="connsiteY2-694" fmla="*/ 2792159 h 7431875"/>
              <a:gd name="connsiteX3-695" fmla="*/ 6858000 w 6858003"/>
              <a:gd name="connsiteY3-696" fmla="*/ 3251225 h 7431875"/>
              <a:gd name="connsiteX4-697" fmla="*/ 6858000 w 6858003"/>
              <a:gd name="connsiteY4-698" fmla="*/ 4926504 h 7431875"/>
              <a:gd name="connsiteX5-699" fmla="*/ 6858000 w 6858003"/>
              <a:gd name="connsiteY5-700" fmla="*/ 5070926 h 7431875"/>
              <a:gd name="connsiteX6-701" fmla="*/ 6858000 w 6858003"/>
              <a:gd name="connsiteY6-702" fmla="*/ 5153108 h 7431875"/>
              <a:gd name="connsiteX7-703" fmla="*/ 6858000 w 6858003"/>
              <a:gd name="connsiteY7-704" fmla="*/ 7431875 h 7431875"/>
              <a:gd name="connsiteX8-705" fmla="*/ 0 w 6858003"/>
              <a:gd name="connsiteY8-706" fmla="*/ 7431875 h 7431875"/>
              <a:gd name="connsiteX9-707" fmla="*/ 0 w 6858003"/>
              <a:gd name="connsiteY9-708" fmla="*/ 5153108 h 7431875"/>
              <a:gd name="connsiteX10-709" fmla="*/ 0 w 6858003"/>
              <a:gd name="connsiteY10-710" fmla="*/ 5070926 h 7431875"/>
              <a:gd name="connsiteX11-711" fmla="*/ 0 w 6858003"/>
              <a:gd name="connsiteY11-712" fmla="*/ 4926504 h 7431875"/>
              <a:gd name="connsiteX12-713" fmla="*/ 0 w 6858003"/>
              <a:gd name="connsiteY12-714" fmla="*/ 4268382 h 7431875"/>
              <a:gd name="connsiteX13-715" fmla="*/ 0 w 6858003"/>
              <a:gd name="connsiteY13-716" fmla="*/ 2792159 h 7431875"/>
              <a:gd name="connsiteX14-717" fmla="*/ 0 w 6858003"/>
              <a:gd name="connsiteY14-718" fmla="*/ 552701 h 7431875"/>
              <a:gd name="connsiteX15-719" fmla="*/ 6858003 w 6858003"/>
              <a:gd name="connsiteY15-720" fmla="*/ 0 h 7431875"/>
              <a:gd name="connsiteX0-721" fmla="*/ 6858003 w 6858003"/>
              <a:gd name="connsiteY0-722" fmla="*/ 0 h 7431875"/>
              <a:gd name="connsiteX1-723" fmla="*/ 6858000 w 6858003"/>
              <a:gd name="connsiteY1-724" fmla="*/ 2647737 h 7431875"/>
              <a:gd name="connsiteX2-725" fmla="*/ 6858000 w 6858003"/>
              <a:gd name="connsiteY2-726" fmla="*/ 2792159 h 7431875"/>
              <a:gd name="connsiteX3-727" fmla="*/ 6858000 w 6858003"/>
              <a:gd name="connsiteY3-728" fmla="*/ 3251225 h 7431875"/>
              <a:gd name="connsiteX4-729" fmla="*/ 6858000 w 6858003"/>
              <a:gd name="connsiteY4-730" fmla="*/ 4926504 h 7431875"/>
              <a:gd name="connsiteX5-731" fmla="*/ 6858000 w 6858003"/>
              <a:gd name="connsiteY5-732" fmla="*/ 5070926 h 7431875"/>
              <a:gd name="connsiteX6-733" fmla="*/ 6858000 w 6858003"/>
              <a:gd name="connsiteY6-734" fmla="*/ 5153108 h 7431875"/>
              <a:gd name="connsiteX7-735" fmla="*/ 6858000 w 6858003"/>
              <a:gd name="connsiteY7-736" fmla="*/ 7431875 h 7431875"/>
              <a:gd name="connsiteX8-737" fmla="*/ 0 w 6858003"/>
              <a:gd name="connsiteY8-738" fmla="*/ 7431875 h 7431875"/>
              <a:gd name="connsiteX9-739" fmla="*/ 0 w 6858003"/>
              <a:gd name="connsiteY9-740" fmla="*/ 5153108 h 7431875"/>
              <a:gd name="connsiteX10-741" fmla="*/ 0 w 6858003"/>
              <a:gd name="connsiteY10-742" fmla="*/ 5070926 h 7431875"/>
              <a:gd name="connsiteX11-743" fmla="*/ 0 w 6858003"/>
              <a:gd name="connsiteY11-744" fmla="*/ 4926504 h 7431875"/>
              <a:gd name="connsiteX12-745" fmla="*/ 0 w 6858003"/>
              <a:gd name="connsiteY12-746" fmla="*/ 4268382 h 7431875"/>
              <a:gd name="connsiteX13-747" fmla="*/ 0 w 6858003"/>
              <a:gd name="connsiteY13-748" fmla="*/ 552701 h 7431875"/>
              <a:gd name="connsiteX14-749" fmla="*/ 6858003 w 6858003"/>
              <a:gd name="connsiteY14-750" fmla="*/ 0 h 7431875"/>
              <a:gd name="connsiteX0-751" fmla="*/ 6858003 w 6858003"/>
              <a:gd name="connsiteY0-752" fmla="*/ 0 h 7431875"/>
              <a:gd name="connsiteX1-753" fmla="*/ 6858000 w 6858003"/>
              <a:gd name="connsiteY1-754" fmla="*/ 2647737 h 7431875"/>
              <a:gd name="connsiteX2-755" fmla="*/ 6858000 w 6858003"/>
              <a:gd name="connsiteY2-756" fmla="*/ 2792159 h 7431875"/>
              <a:gd name="connsiteX3-757" fmla="*/ 6858000 w 6858003"/>
              <a:gd name="connsiteY3-758" fmla="*/ 3251225 h 7431875"/>
              <a:gd name="connsiteX4-759" fmla="*/ 6858000 w 6858003"/>
              <a:gd name="connsiteY4-760" fmla="*/ 4926504 h 7431875"/>
              <a:gd name="connsiteX5-761" fmla="*/ 6858000 w 6858003"/>
              <a:gd name="connsiteY5-762" fmla="*/ 5070926 h 7431875"/>
              <a:gd name="connsiteX6-763" fmla="*/ 6858000 w 6858003"/>
              <a:gd name="connsiteY6-764" fmla="*/ 5153108 h 7431875"/>
              <a:gd name="connsiteX7-765" fmla="*/ 6858000 w 6858003"/>
              <a:gd name="connsiteY7-766" fmla="*/ 7431875 h 7431875"/>
              <a:gd name="connsiteX8-767" fmla="*/ 0 w 6858003"/>
              <a:gd name="connsiteY8-768" fmla="*/ 7431875 h 7431875"/>
              <a:gd name="connsiteX9-769" fmla="*/ 0 w 6858003"/>
              <a:gd name="connsiteY9-770" fmla="*/ 5153108 h 7431875"/>
              <a:gd name="connsiteX10-771" fmla="*/ 0 w 6858003"/>
              <a:gd name="connsiteY10-772" fmla="*/ 5070926 h 7431875"/>
              <a:gd name="connsiteX11-773" fmla="*/ 0 w 6858003"/>
              <a:gd name="connsiteY11-774" fmla="*/ 4926504 h 7431875"/>
              <a:gd name="connsiteX12-775" fmla="*/ 0 w 6858003"/>
              <a:gd name="connsiteY12-776" fmla="*/ 552701 h 7431875"/>
              <a:gd name="connsiteX13-777" fmla="*/ 6858003 w 6858003"/>
              <a:gd name="connsiteY13-778" fmla="*/ 0 h 7431875"/>
              <a:gd name="connsiteX0-779" fmla="*/ 6858003 w 6858003"/>
              <a:gd name="connsiteY0-780" fmla="*/ 0 h 7431875"/>
              <a:gd name="connsiteX1-781" fmla="*/ 6858000 w 6858003"/>
              <a:gd name="connsiteY1-782" fmla="*/ 2647737 h 7431875"/>
              <a:gd name="connsiteX2-783" fmla="*/ 6858000 w 6858003"/>
              <a:gd name="connsiteY2-784" fmla="*/ 2792159 h 7431875"/>
              <a:gd name="connsiteX3-785" fmla="*/ 6858000 w 6858003"/>
              <a:gd name="connsiteY3-786" fmla="*/ 3251225 h 7431875"/>
              <a:gd name="connsiteX4-787" fmla="*/ 6858000 w 6858003"/>
              <a:gd name="connsiteY4-788" fmla="*/ 4926504 h 7431875"/>
              <a:gd name="connsiteX5-789" fmla="*/ 6858000 w 6858003"/>
              <a:gd name="connsiteY5-790" fmla="*/ 5070926 h 7431875"/>
              <a:gd name="connsiteX6-791" fmla="*/ 6858000 w 6858003"/>
              <a:gd name="connsiteY6-792" fmla="*/ 5153108 h 7431875"/>
              <a:gd name="connsiteX7-793" fmla="*/ 6858000 w 6858003"/>
              <a:gd name="connsiteY7-794" fmla="*/ 7431875 h 7431875"/>
              <a:gd name="connsiteX8-795" fmla="*/ 0 w 6858003"/>
              <a:gd name="connsiteY8-796" fmla="*/ 7431875 h 7431875"/>
              <a:gd name="connsiteX9-797" fmla="*/ 0 w 6858003"/>
              <a:gd name="connsiteY9-798" fmla="*/ 5153108 h 7431875"/>
              <a:gd name="connsiteX10-799" fmla="*/ 0 w 6858003"/>
              <a:gd name="connsiteY10-800" fmla="*/ 5070926 h 7431875"/>
              <a:gd name="connsiteX11-801" fmla="*/ 0 w 6858003"/>
              <a:gd name="connsiteY11-802" fmla="*/ 552701 h 7431875"/>
              <a:gd name="connsiteX12-803" fmla="*/ 6858003 w 6858003"/>
              <a:gd name="connsiteY12-804" fmla="*/ 0 h 7431875"/>
              <a:gd name="connsiteX0-805" fmla="*/ 6858003 w 6858003"/>
              <a:gd name="connsiteY0-806" fmla="*/ 0 h 7431875"/>
              <a:gd name="connsiteX1-807" fmla="*/ 6858000 w 6858003"/>
              <a:gd name="connsiteY1-808" fmla="*/ 2647737 h 7431875"/>
              <a:gd name="connsiteX2-809" fmla="*/ 6858000 w 6858003"/>
              <a:gd name="connsiteY2-810" fmla="*/ 2792159 h 7431875"/>
              <a:gd name="connsiteX3-811" fmla="*/ 6858000 w 6858003"/>
              <a:gd name="connsiteY3-812" fmla="*/ 3251225 h 7431875"/>
              <a:gd name="connsiteX4-813" fmla="*/ 6858000 w 6858003"/>
              <a:gd name="connsiteY4-814" fmla="*/ 4926504 h 7431875"/>
              <a:gd name="connsiteX5-815" fmla="*/ 6858000 w 6858003"/>
              <a:gd name="connsiteY5-816" fmla="*/ 5070926 h 7431875"/>
              <a:gd name="connsiteX6-817" fmla="*/ 6858000 w 6858003"/>
              <a:gd name="connsiteY6-818" fmla="*/ 5153108 h 7431875"/>
              <a:gd name="connsiteX7-819" fmla="*/ 6858000 w 6858003"/>
              <a:gd name="connsiteY7-820" fmla="*/ 7431875 h 7431875"/>
              <a:gd name="connsiteX8-821" fmla="*/ 0 w 6858003"/>
              <a:gd name="connsiteY8-822" fmla="*/ 7431875 h 7431875"/>
              <a:gd name="connsiteX9-823" fmla="*/ 0 w 6858003"/>
              <a:gd name="connsiteY9-824" fmla="*/ 5153108 h 7431875"/>
              <a:gd name="connsiteX10-825" fmla="*/ 0 w 6858003"/>
              <a:gd name="connsiteY10-826" fmla="*/ 552701 h 7431875"/>
              <a:gd name="connsiteX11-827" fmla="*/ 6858003 w 6858003"/>
              <a:gd name="connsiteY11-828" fmla="*/ 0 h 7431875"/>
              <a:gd name="connsiteX0-829" fmla="*/ 6858003 w 6858003"/>
              <a:gd name="connsiteY0-830" fmla="*/ 0 h 7431875"/>
              <a:gd name="connsiteX1-831" fmla="*/ 6858000 w 6858003"/>
              <a:gd name="connsiteY1-832" fmla="*/ 2647737 h 7431875"/>
              <a:gd name="connsiteX2-833" fmla="*/ 6858000 w 6858003"/>
              <a:gd name="connsiteY2-834" fmla="*/ 2792159 h 7431875"/>
              <a:gd name="connsiteX3-835" fmla="*/ 6858000 w 6858003"/>
              <a:gd name="connsiteY3-836" fmla="*/ 3251225 h 7431875"/>
              <a:gd name="connsiteX4-837" fmla="*/ 6858000 w 6858003"/>
              <a:gd name="connsiteY4-838" fmla="*/ 4926504 h 7431875"/>
              <a:gd name="connsiteX5-839" fmla="*/ 6858000 w 6858003"/>
              <a:gd name="connsiteY5-840" fmla="*/ 5070926 h 7431875"/>
              <a:gd name="connsiteX6-841" fmla="*/ 6858000 w 6858003"/>
              <a:gd name="connsiteY6-842" fmla="*/ 5153108 h 7431875"/>
              <a:gd name="connsiteX7-843" fmla="*/ 6858000 w 6858003"/>
              <a:gd name="connsiteY7-844" fmla="*/ 7431875 h 7431875"/>
              <a:gd name="connsiteX8-845" fmla="*/ 0 w 6858003"/>
              <a:gd name="connsiteY8-846" fmla="*/ 7431875 h 7431875"/>
              <a:gd name="connsiteX9-847" fmla="*/ 0 w 6858003"/>
              <a:gd name="connsiteY9-848" fmla="*/ 552701 h 7431875"/>
              <a:gd name="connsiteX10-849" fmla="*/ 6858003 w 6858003"/>
              <a:gd name="connsiteY10-850" fmla="*/ 0 h 7431875"/>
              <a:gd name="connsiteX0-851" fmla="*/ 6858003 w 6858003"/>
              <a:gd name="connsiteY0-852" fmla="*/ 0 h 7431875"/>
              <a:gd name="connsiteX1-853" fmla="*/ 6858000 w 6858003"/>
              <a:gd name="connsiteY1-854" fmla="*/ 2647737 h 7431875"/>
              <a:gd name="connsiteX2-855" fmla="*/ 6858000 w 6858003"/>
              <a:gd name="connsiteY2-856" fmla="*/ 2792159 h 7431875"/>
              <a:gd name="connsiteX3-857" fmla="*/ 6858000 w 6858003"/>
              <a:gd name="connsiteY3-858" fmla="*/ 3251225 h 7431875"/>
              <a:gd name="connsiteX4-859" fmla="*/ 6858000 w 6858003"/>
              <a:gd name="connsiteY4-860" fmla="*/ 4926504 h 7431875"/>
              <a:gd name="connsiteX5-861" fmla="*/ 6858000 w 6858003"/>
              <a:gd name="connsiteY5-862" fmla="*/ 5070926 h 7431875"/>
              <a:gd name="connsiteX6-863" fmla="*/ 6858000 w 6858003"/>
              <a:gd name="connsiteY6-864" fmla="*/ 7431875 h 7431875"/>
              <a:gd name="connsiteX7-865" fmla="*/ 0 w 6858003"/>
              <a:gd name="connsiteY7-866" fmla="*/ 7431875 h 7431875"/>
              <a:gd name="connsiteX8-867" fmla="*/ 0 w 6858003"/>
              <a:gd name="connsiteY8-868" fmla="*/ 552701 h 7431875"/>
              <a:gd name="connsiteX9-869" fmla="*/ 6858003 w 6858003"/>
              <a:gd name="connsiteY9-870" fmla="*/ 0 h 7431875"/>
              <a:gd name="connsiteX0-871" fmla="*/ 6858003 w 6858003"/>
              <a:gd name="connsiteY0-872" fmla="*/ 0 h 7431875"/>
              <a:gd name="connsiteX1-873" fmla="*/ 6858000 w 6858003"/>
              <a:gd name="connsiteY1-874" fmla="*/ 2647737 h 7431875"/>
              <a:gd name="connsiteX2-875" fmla="*/ 6858000 w 6858003"/>
              <a:gd name="connsiteY2-876" fmla="*/ 2792159 h 7431875"/>
              <a:gd name="connsiteX3-877" fmla="*/ 6858000 w 6858003"/>
              <a:gd name="connsiteY3-878" fmla="*/ 3251225 h 7431875"/>
              <a:gd name="connsiteX4-879" fmla="*/ 6858000 w 6858003"/>
              <a:gd name="connsiteY4-880" fmla="*/ 4926504 h 7431875"/>
              <a:gd name="connsiteX5-881" fmla="*/ 6858000 w 6858003"/>
              <a:gd name="connsiteY5-882" fmla="*/ 7431875 h 7431875"/>
              <a:gd name="connsiteX6-883" fmla="*/ 0 w 6858003"/>
              <a:gd name="connsiteY6-884" fmla="*/ 7431875 h 7431875"/>
              <a:gd name="connsiteX7-885" fmla="*/ 0 w 6858003"/>
              <a:gd name="connsiteY7-886" fmla="*/ 552701 h 7431875"/>
              <a:gd name="connsiteX8-887" fmla="*/ 6858003 w 6858003"/>
              <a:gd name="connsiteY8-888" fmla="*/ 0 h 7431875"/>
              <a:gd name="connsiteX0-889" fmla="*/ 6858003 w 6858003"/>
              <a:gd name="connsiteY0-890" fmla="*/ 0 h 7431875"/>
              <a:gd name="connsiteX1-891" fmla="*/ 6858000 w 6858003"/>
              <a:gd name="connsiteY1-892" fmla="*/ 2647737 h 7431875"/>
              <a:gd name="connsiteX2-893" fmla="*/ 6858000 w 6858003"/>
              <a:gd name="connsiteY2-894" fmla="*/ 2792159 h 7431875"/>
              <a:gd name="connsiteX3-895" fmla="*/ 6858000 w 6858003"/>
              <a:gd name="connsiteY3-896" fmla="*/ 3251225 h 7431875"/>
              <a:gd name="connsiteX4-897" fmla="*/ 6858000 w 6858003"/>
              <a:gd name="connsiteY4-898" fmla="*/ 7431875 h 7431875"/>
              <a:gd name="connsiteX5-899" fmla="*/ 0 w 6858003"/>
              <a:gd name="connsiteY5-900" fmla="*/ 7431875 h 7431875"/>
              <a:gd name="connsiteX6-901" fmla="*/ 0 w 6858003"/>
              <a:gd name="connsiteY6-902" fmla="*/ 552701 h 7431875"/>
              <a:gd name="connsiteX7-903" fmla="*/ 6858003 w 6858003"/>
              <a:gd name="connsiteY7-904" fmla="*/ 0 h 7431875"/>
              <a:gd name="connsiteX0-905" fmla="*/ 6858003 w 6858003"/>
              <a:gd name="connsiteY0-906" fmla="*/ 0 h 7431875"/>
              <a:gd name="connsiteX1-907" fmla="*/ 6858000 w 6858003"/>
              <a:gd name="connsiteY1-908" fmla="*/ 2647737 h 7431875"/>
              <a:gd name="connsiteX2-909" fmla="*/ 6858000 w 6858003"/>
              <a:gd name="connsiteY2-910" fmla="*/ 2792159 h 7431875"/>
              <a:gd name="connsiteX3-911" fmla="*/ 6858000 w 6858003"/>
              <a:gd name="connsiteY3-912" fmla="*/ 7431875 h 7431875"/>
              <a:gd name="connsiteX4-913" fmla="*/ 0 w 6858003"/>
              <a:gd name="connsiteY4-914" fmla="*/ 7431875 h 7431875"/>
              <a:gd name="connsiteX5-915" fmla="*/ 0 w 6858003"/>
              <a:gd name="connsiteY5-916" fmla="*/ 552701 h 7431875"/>
              <a:gd name="connsiteX6-917" fmla="*/ 6858003 w 6858003"/>
              <a:gd name="connsiteY6-918" fmla="*/ 0 h 7431875"/>
              <a:gd name="connsiteX0-919" fmla="*/ 6858003 w 6858003"/>
              <a:gd name="connsiteY0-920" fmla="*/ 0 h 7431875"/>
              <a:gd name="connsiteX1-921" fmla="*/ 6858000 w 6858003"/>
              <a:gd name="connsiteY1-922" fmla="*/ 2647737 h 7431875"/>
              <a:gd name="connsiteX2-923" fmla="*/ 6858000 w 6858003"/>
              <a:gd name="connsiteY2-924" fmla="*/ 7431875 h 7431875"/>
              <a:gd name="connsiteX3-925" fmla="*/ 0 w 6858003"/>
              <a:gd name="connsiteY3-926" fmla="*/ 7431875 h 7431875"/>
              <a:gd name="connsiteX4-927" fmla="*/ 0 w 6858003"/>
              <a:gd name="connsiteY4-928" fmla="*/ 552701 h 7431875"/>
              <a:gd name="connsiteX5-929" fmla="*/ 6858003 w 6858003"/>
              <a:gd name="connsiteY5-930" fmla="*/ 0 h 7431875"/>
              <a:gd name="connsiteX0-931" fmla="*/ 6872517 w 6872517"/>
              <a:gd name="connsiteY0-932" fmla="*/ 42385 h 6879174"/>
              <a:gd name="connsiteX1-933" fmla="*/ 6858000 w 6872517"/>
              <a:gd name="connsiteY1-934" fmla="*/ 2095036 h 6879174"/>
              <a:gd name="connsiteX2-935" fmla="*/ 6858000 w 6872517"/>
              <a:gd name="connsiteY2-936" fmla="*/ 6879174 h 6879174"/>
              <a:gd name="connsiteX3-937" fmla="*/ 0 w 6872517"/>
              <a:gd name="connsiteY3-938" fmla="*/ 6879174 h 6879174"/>
              <a:gd name="connsiteX4-939" fmla="*/ 0 w 6872517"/>
              <a:gd name="connsiteY4-940" fmla="*/ 0 h 6879174"/>
              <a:gd name="connsiteX5-941" fmla="*/ 6872517 w 6872517"/>
              <a:gd name="connsiteY5-942" fmla="*/ 42385 h 6879174"/>
              <a:gd name="connsiteX0-943" fmla="*/ 6872520 w 6872520"/>
              <a:gd name="connsiteY0-944" fmla="*/ 0 h 6880332"/>
              <a:gd name="connsiteX1-945" fmla="*/ 6858000 w 6872520"/>
              <a:gd name="connsiteY1-946" fmla="*/ 2096194 h 6880332"/>
              <a:gd name="connsiteX2-947" fmla="*/ 6858000 w 6872520"/>
              <a:gd name="connsiteY2-948" fmla="*/ 6880332 h 6880332"/>
              <a:gd name="connsiteX3-949" fmla="*/ 0 w 6872520"/>
              <a:gd name="connsiteY3-950" fmla="*/ 6880332 h 6880332"/>
              <a:gd name="connsiteX4-951" fmla="*/ 0 w 6872520"/>
              <a:gd name="connsiteY4-952" fmla="*/ 1158 h 6880332"/>
              <a:gd name="connsiteX5-953" fmla="*/ 6872520 w 6872520"/>
              <a:gd name="connsiteY5-954" fmla="*/ 0 h 6880332"/>
              <a:gd name="connsiteX0-955" fmla="*/ 6872520 w 6872520"/>
              <a:gd name="connsiteY0-956" fmla="*/ 0 h 6880332"/>
              <a:gd name="connsiteX1-957" fmla="*/ 6858000 w 6872520"/>
              <a:gd name="connsiteY1-958" fmla="*/ 2096194 h 6880332"/>
              <a:gd name="connsiteX2-959" fmla="*/ 6858000 w 6872520"/>
              <a:gd name="connsiteY2-960" fmla="*/ 6880332 h 6880332"/>
              <a:gd name="connsiteX3-961" fmla="*/ 0 w 6872520"/>
              <a:gd name="connsiteY3-962" fmla="*/ 6880332 h 6880332"/>
              <a:gd name="connsiteX4-963" fmla="*/ 0 w 6872520"/>
              <a:gd name="connsiteY4-964" fmla="*/ 1158 h 6880332"/>
              <a:gd name="connsiteX5-965" fmla="*/ 6872520 w 6872520"/>
              <a:gd name="connsiteY5-966" fmla="*/ 0 h 6880332"/>
              <a:gd name="connsiteX0-967" fmla="*/ 6843491 w 6858000"/>
              <a:gd name="connsiteY0-968" fmla="*/ 202042 h 6879174"/>
              <a:gd name="connsiteX1-969" fmla="*/ 6858000 w 6858000"/>
              <a:gd name="connsiteY1-970" fmla="*/ 2095036 h 6879174"/>
              <a:gd name="connsiteX2-971" fmla="*/ 6858000 w 6858000"/>
              <a:gd name="connsiteY2-972" fmla="*/ 6879174 h 6879174"/>
              <a:gd name="connsiteX3-973" fmla="*/ 0 w 6858000"/>
              <a:gd name="connsiteY3-974" fmla="*/ 6879174 h 6879174"/>
              <a:gd name="connsiteX4-975" fmla="*/ 0 w 6858000"/>
              <a:gd name="connsiteY4-976" fmla="*/ 0 h 6879174"/>
              <a:gd name="connsiteX5-977" fmla="*/ 6843491 w 6858000"/>
              <a:gd name="connsiteY5-978" fmla="*/ 202042 h 6879174"/>
              <a:gd name="connsiteX0-979" fmla="*/ 6843491 w 6858000"/>
              <a:gd name="connsiteY0-980" fmla="*/ 202042 h 6879174"/>
              <a:gd name="connsiteX1-981" fmla="*/ 6858000 w 6858000"/>
              <a:gd name="connsiteY1-982" fmla="*/ 2095036 h 6879174"/>
              <a:gd name="connsiteX2-983" fmla="*/ 6858000 w 6858000"/>
              <a:gd name="connsiteY2-984" fmla="*/ 6879174 h 6879174"/>
              <a:gd name="connsiteX3-985" fmla="*/ 0 w 6858000"/>
              <a:gd name="connsiteY3-986" fmla="*/ 6879174 h 6879174"/>
              <a:gd name="connsiteX4-987" fmla="*/ 0 w 6858000"/>
              <a:gd name="connsiteY4-988" fmla="*/ 0 h 6879174"/>
              <a:gd name="connsiteX5-989" fmla="*/ 6843491 w 6858000"/>
              <a:gd name="connsiteY5-990" fmla="*/ 202042 h 6879174"/>
              <a:gd name="connsiteX0-991" fmla="*/ 6843491 w 6858000"/>
              <a:gd name="connsiteY0-992" fmla="*/ 202042 h 6879174"/>
              <a:gd name="connsiteX1-993" fmla="*/ 6858000 w 6858000"/>
              <a:gd name="connsiteY1-994" fmla="*/ 2095036 h 6879174"/>
              <a:gd name="connsiteX2-995" fmla="*/ 6858000 w 6858000"/>
              <a:gd name="connsiteY2-996" fmla="*/ 6879174 h 6879174"/>
              <a:gd name="connsiteX3-997" fmla="*/ 0 w 6858000"/>
              <a:gd name="connsiteY3-998" fmla="*/ 6879174 h 6879174"/>
              <a:gd name="connsiteX4-999" fmla="*/ 0 w 6858000"/>
              <a:gd name="connsiteY4-1000" fmla="*/ 0 h 6879174"/>
              <a:gd name="connsiteX5-1001" fmla="*/ 6843491 w 6858000"/>
              <a:gd name="connsiteY5-1002" fmla="*/ 202042 h 6879174"/>
              <a:gd name="connsiteX0-1003" fmla="*/ 6856191 w 6858000"/>
              <a:gd name="connsiteY0-1004" fmla="*/ 214742 h 6879174"/>
              <a:gd name="connsiteX1-1005" fmla="*/ 6858000 w 6858000"/>
              <a:gd name="connsiteY1-1006" fmla="*/ 2095036 h 6879174"/>
              <a:gd name="connsiteX2-1007" fmla="*/ 6858000 w 6858000"/>
              <a:gd name="connsiteY2-1008" fmla="*/ 6879174 h 6879174"/>
              <a:gd name="connsiteX3-1009" fmla="*/ 0 w 6858000"/>
              <a:gd name="connsiteY3-1010" fmla="*/ 6879174 h 6879174"/>
              <a:gd name="connsiteX4-1011" fmla="*/ 0 w 6858000"/>
              <a:gd name="connsiteY4-1012" fmla="*/ 0 h 6879174"/>
              <a:gd name="connsiteX5-1013" fmla="*/ 6856191 w 6858000"/>
              <a:gd name="connsiteY5-1014" fmla="*/ 214742 h 6879174"/>
              <a:gd name="connsiteX0-1015" fmla="*/ 6856191 w 6858000"/>
              <a:gd name="connsiteY0-1016" fmla="*/ 209979 h 6879174"/>
              <a:gd name="connsiteX1-1017" fmla="*/ 6858000 w 6858000"/>
              <a:gd name="connsiteY1-1018" fmla="*/ 2095036 h 6879174"/>
              <a:gd name="connsiteX2-1019" fmla="*/ 6858000 w 6858000"/>
              <a:gd name="connsiteY2-1020" fmla="*/ 6879174 h 6879174"/>
              <a:gd name="connsiteX3-1021" fmla="*/ 0 w 6858000"/>
              <a:gd name="connsiteY3-1022" fmla="*/ 6879174 h 6879174"/>
              <a:gd name="connsiteX4-1023" fmla="*/ 0 w 6858000"/>
              <a:gd name="connsiteY4-1024" fmla="*/ 0 h 6879174"/>
              <a:gd name="connsiteX5-1025" fmla="*/ 6856191 w 6858000"/>
              <a:gd name="connsiteY5-1026" fmla="*/ 209979 h 6879174"/>
              <a:gd name="connsiteX0-1027" fmla="*/ 6868891 w 6868891"/>
              <a:gd name="connsiteY0-1028" fmla="*/ 197279 h 6879174"/>
              <a:gd name="connsiteX1-1029" fmla="*/ 6858000 w 6868891"/>
              <a:gd name="connsiteY1-1030" fmla="*/ 2095036 h 6879174"/>
              <a:gd name="connsiteX2-1031" fmla="*/ 6858000 w 6868891"/>
              <a:gd name="connsiteY2-1032" fmla="*/ 6879174 h 6879174"/>
              <a:gd name="connsiteX3-1033" fmla="*/ 0 w 6868891"/>
              <a:gd name="connsiteY3-1034" fmla="*/ 6879174 h 6879174"/>
              <a:gd name="connsiteX4-1035" fmla="*/ 0 w 6868891"/>
              <a:gd name="connsiteY4-1036" fmla="*/ 0 h 6879174"/>
              <a:gd name="connsiteX5-1037" fmla="*/ 6868891 w 6868891"/>
              <a:gd name="connsiteY5-1038" fmla="*/ 197279 h 6879174"/>
              <a:gd name="connsiteX0-1039" fmla="*/ 6868891 w 7721392"/>
              <a:gd name="connsiteY0-1040" fmla="*/ 197279 h 6879174"/>
              <a:gd name="connsiteX1-1041" fmla="*/ 6858000 w 7721392"/>
              <a:gd name="connsiteY1-1042" fmla="*/ 6879174 h 6879174"/>
              <a:gd name="connsiteX2-1043" fmla="*/ 0 w 7721392"/>
              <a:gd name="connsiteY2-1044" fmla="*/ 6879174 h 6879174"/>
              <a:gd name="connsiteX3-1045" fmla="*/ 0 w 7721392"/>
              <a:gd name="connsiteY3-1046" fmla="*/ 0 h 6879174"/>
              <a:gd name="connsiteX4-1047" fmla="*/ 6868891 w 7721392"/>
              <a:gd name="connsiteY4-1048" fmla="*/ 197279 h 6879174"/>
              <a:gd name="connsiteX0-1049" fmla="*/ 6868891 w 7373946"/>
              <a:gd name="connsiteY0-1050" fmla="*/ 197279 h 6879174"/>
              <a:gd name="connsiteX1-1051" fmla="*/ 6858000 w 7373946"/>
              <a:gd name="connsiteY1-1052" fmla="*/ 6879174 h 6879174"/>
              <a:gd name="connsiteX2-1053" fmla="*/ 0 w 7373946"/>
              <a:gd name="connsiteY2-1054" fmla="*/ 6879174 h 6879174"/>
              <a:gd name="connsiteX3-1055" fmla="*/ 0 w 7373946"/>
              <a:gd name="connsiteY3-1056" fmla="*/ 0 h 6879174"/>
              <a:gd name="connsiteX4-1057" fmla="*/ 6868891 w 7373946"/>
              <a:gd name="connsiteY4-1058" fmla="*/ 197279 h 6879174"/>
              <a:gd name="connsiteX0-1059" fmla="*/ 6868891 w 8182025"/>
              <a:gd name="connsiteY0-1060" fmla="*/ 197279 h 6879174"/>
              <a:gd name="connsiteX1-1061" fmla="*/ 6858000 w 8182025"/>
              <a:gd name="connsiteY1-1062" fmla="*/ 6879174 h 6879174"/>
              <a:gd name="connsiteX2-1063" fmla="*/ 0 w 8182025"/>
              <a:gd name="connsiteY2-1064" fmla="*/ 6879174 h 6879174"/>
              <a:gd name="connsiteX3-1065" fmla="*/ 0 w 8182025"/>
              <a:gd name="connsiteY3-1066" fmla="*/ 0 h 6879174"/>
              <a:gd name="connsiteX4-1067" fmla="*/ 6868891 w 8182025"/>
              <a:gd name="connsiteY4-1068" fmla="*/ 197279 h 6879174"/>
              <a:gd name="connsiteX0-1069" fmla="*/ 6868891 w 8182025"/>
              <a:gd name="connsiteY0-1070" fmla="*/ 197279 h 6879174"/>
              <a:gd name="connsiteX1-1071" fmla="*/ 6858000 w 8182025"/>
              <a:gd name="connsiteY1-1072" fmla="*/ 6879174 h 6879174"/>
              <a:gd name="connsiteX2-1073" fmla="*/ 0 w 8182025"/>
              <a:gd name="connsiteY2-1074" fmla="*/ 6879174 h 6879174"/>
              <a:gd name="connsiteX3-1075" fmla="*/ 0 w 8182025"/>
              <a:gd name="connsiteY3-1076" fmla="*/ 0 h 6879174"/>
              <a:gd name="connsiteX4-1077" fmla="*/ 6868891 w 8182025"/>
              <a:gd name="connsiteY4-1078" fmla="*/ 197279 h 6879174"/>
              <a:gd name="connsiteX0-1079" fmla="*/ 6868891 w 8182025"/>
              <a:gd name="connsiteY0-1080" fmla="*/ 197279 h 6879174"/>
              <a:gd name="connsiteX1-1081" fmla="*/ 6858000 w 8182025"/>
              <a:gd name="connsiteY1-1082" fmla="*/ 6879174 h 6879174"/>
              <a:gd name="connsiteX2-1083" fmla="*/ 0 w 8182025"/>
              <a:gd name="connsiteY2-1084" fmla="*/ 6879174 h 6879174"/>
              <a:gd name="connsiteX3-1085" fmla="*/ 0 w 8182025"/>
              <a:gd name="connsiteY3-1086" fmla="*/ 0 h 6879174"/>
              <a:gd name="connsiteX4-1087" fmla="*/ 6868891 w 8182025"/>
              <a:gd name="connsiteY4-1088" fmla="*/ 197279 h 6879174"/>
              <a:gd name="connsiteX0-1089" fmla="*/ 6868891 w 8182025"/>
              <a:gd name="connsiteY0-1090" fmla="*/ 197279 h 6879174"/>
              <a:gd name="connsiteX1-1091" fmla="*/ 6858000 w 8182025"/>
              <a:gd name="connsiteY1-1092" fmla="*/ 6879174 h 6879174"/>
              <a:gd name="connsiteX2-1093" fmla="*/ 0 w 8182025"/>
              <a:gd name="connsiteY2-1094" fmla="*/ 6879174 h 6879174"/>
              <a:gd name="connsiteX3-1095" fmla="*/ 0 w 8182025"/>
              <a:gd name="connsiteY3-1096" fmla="*/ 0 h 6879174"/>
              <a:gd name="connsiteX4-1097" fmla="*/ 6868891 w 8182025"/>
              <a:gd name="connsiteY4-1098" fmla="*/ 197279 h 6879174"/>
              <a:gd name="connsiteX0-1099" fmla="*/ 6868891 w 7374082"/>
              <a:gd name="connsiteY0-1100" fmla="*/ 197279 h 7217839"/>
              <a:gd name="connsiteX1-1101" fmla="*/ 6858000 w 7374082"/>
              <a:gd name="connsiteY1-1102" fmla="*/ 6879174 h 7217839"/>
              <a:gd name="connsiteX2-1103" fmla="*/ 0 w 7374082"/>
              <a:gd name="connsiteY2-1104" fmla="*/ 6879174 h 7217839"/>
              <a:gd name="connsiteX3-1105" fmla="*/ 0 w 7374082"/>
              <a:gd name="connsiteY3-1106" fmla="*/ 0 h 7217839"/>
              <a:gd name="connsiteX4-1107" fmla="*/ 6868891 w 7374082"/>
              <a:gd name="connsiteY4-1108" fmla="*/ 197279 h 7217839"/>
              <a:gd name="connsiteX0-1109" fmla="*/ 6868891 w 7513044"/>
              <a:gd name="connsiteY0-1110" fmla="*/ 197279 h 6879174"/>
              <a:gd name="connsiteX1-1111" fmla="*/ 6858000 w 7513044"/>
              <a:gd name="connsiteY1-1112" fmla="*/ 6879174 h 6879174"/>
              <a:gd name="connsiteX2-1113" fmla="*/ 0 w 7513044"/>
              <a:gd name="connsiteY2-1114" fmla="*/ 6879174 h 6879174"/>
              <a:gd name="connsiteX3-1115" fmla="*/ 0 w 7513044"/>
              <a:gd name="connsiteY3-1116" fmla="*/ 0 h 6879174"/>
              <a:gd name="connsiteX4-1117" fmla="*/ 6868891 w 7513044"/>
              <a:gd name="connsiteY4-1118" fmla="*/ 197279 h 6879174"/>
              <a:gd name="connsiteX0-1119" fmla="*/ 6868891 w 7374082"/>
              <a:gd name="connsiteY0-1120" fmla="*/ 197279 h 6879174"/>
              <a:gd name="connsiteX1-1121" fmla="*/ 6858000 w 7374082"/>
              <a:gd name="connsiteY1-1122" fmla="*/ 6879174 h 6879174"/>
              <a:gd name="connsiteX2-1123" fmla="*/ 0 w 7374082"/>
              <a:gd name="connsiteY2-1124" fmla="*/ 6879174 h 6879174"/>
              <a:gd name="connsiteX3-1125" fmla="*/ 0 w 7374082"/>
              <a:gd name="connsiteY3-1126" fmla="*/ 0 h 6879174"/>
              <a:gd name="connsiteX4-1127" fmla="*/ 6868891 w 7374082"/>
              <a:gd name="connsiteY4-1128" fmla="*/ 197279 h 6879174"/>
              <a:gd name="connsiteX0-1129" fmla="*/ 6868891 w 6868891"/>
              <a:gd name="connsiteY0-1130" fmla="*/ 197279 h 6879174"/>
              <a:gd name="connsiteX1-1131" fmla="*/ 6858000 w 6868891"/>
              <a:gd name="connsiteY1-1132" fmla="*/ 6879174 h 6879174"/>
              <a:gd name="connsiteX2-1133" fmla="*/ 0 w 6868891"/>
              <a:gd name="connsiteY2-1134" fmla="*/ 6879174 h 6879174"/>
              <a:gd name="connsiteX3-1135" fmla="*/ 0 w 6868891"/>
              <a:gd name="connsiteY3-1136" fmla="*/ 0 h 6879174"/>
              <a:gd name="connsiteX4-1137" fmla="*/ 6868891 w 6868891"/>
              <a:gd name="connsiteY4-1138" fmla="*/ 197279 h 6879174"/>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868891" h="6879174">
                <a:moveTo>
                  <a:pt x="6868891" y="197279"/>
                </a:moveTo>
                <a:cubicBezTo>
                  <a:pt x="6865263" y="1808265"/>
                  <a:pt x="6858000" y="6879174"/>
                  <a:pt x="6858000" y="6879174"/>
                </a:cubicBezTo>
                <a:lnTo>
                  <a:pt x="0" y="6879174"/>
                </a:lnTo>
                <a:lnTo>
                  <a:pt x="0" y="0"/>
                </a:lnTo>
                <a:cubicBezTo>
                  <a:pt x="2329546" y="1257529"/>
                  <a:pt x="4524837" y="1741029"/>
                  <a:pt x="6868891" y="197279"/>
                </a:cubicBez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35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2" name="矩形 71"/>
          <p:cNvSpPr/>
          <p:nvPr/>
        </p:nvSpPr>
        <p:spPr>
          <a:xfrm>
            <a:off x="4535882" y="2498068"/>
            <a:ext cx="237601" cy="237601"/>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50" b="1">
                <a:latin typeface="微软雅黑" panose="020B0503020204020204" pitchFamily="34" charset="-122"/>
                <a:ea typeface="微软雅黑" panose="020B0503020204020204" pitchFamily="34" charset="-122"/>
                <a:sym typeface="微软雅黑" panose="020B0503020204020204" pitchFamily="34" charset="-122"/>
              </a:rPr>
              <a:t>1</a:t>
            </a:r>
            <a:endParaRPr lang="zh-CN" altLang="en-US" sz="1050" b="1"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4" name="矩形 73"/>
          <p:cNvSpPr/>
          <p:nvPr/>
        </p:nvSpPr>
        <p:spPr>
          <a:xfrm>
            <a:off x="4535882" y="2823233"/>
            <a:ext cx="237601" cy="23760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50" b="1" dirty="0">
                <a:latin typeface="微软雅黑" panose="020B0503020204020204" pitchFamily="34" charset="-122"/>
                <a:ea typeface="微软雅黑" panose="020B0503020204020204" pitchFamily="34" charset="-122"/>
                <a:sym typeface="微软雅黑" panose="020B0503020204020204" pitchFamily="34" charset="-122"/>
              </a:rPr>
              <a:t>2</a:t>
            </a:r>
            <a:endParaRPr lang="zh-CN" altLang="en-US" sz="1050" b="1"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5" name="矩形 74"/>
          <p:cNvSpPr/>
          <p:nvPr/>
        </p:nvSpPr>
        <p:spPr>
          <a:xfrm>
            <a:off x="4902140" y="2823233"/>
            <a:ext cx="1111202" cy="2539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r>
              <a:rPr lang="en-US" altLang="zh-CN" sz="1050" b="1" dirty="0" smtClean="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Related Work</a:t>
            </a:r>
            <a:endParaRPr lang="zh-CN" altLang="en-US" sz="105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6" name="矩形 75"/>
          <p:cNvSpPr/>
          <p:nvPr/>
        </p:nvSpPr>
        <p:spPr>
          <a:xfrm>
            <a:off x="4535882" y="3148399"/>
            <a:ext cx="237601" cy="23760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50" b="1">
                <a:latin typeface="微软雅黑" panose="020B0503020204020204" pitchFamily="34" charset="-122"/>
                <a:ea typeface="微软雅黑" panose="020B0503020204020204" pitchFamily="34" charset="-122"/>
                <a:sym typeface="微软雅黑" panose="020B0503020204020204" pitchFamily="34" charset="-122"/>
              </a:rPr>
              <a:t>3</a:t>
            </a:r>
            <a:endParaRPr lang="zh-CN" altLang="en-US" sz="1050" b="1"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7" name="矩形 76"/>
          <p:cNvSpPr/>
          <p:nvPr/>
        </p:nvSpPr>
        <p:spPr>
          <a:xfrm>
            <a:off x="4902140" y="3081489"/>
            <a:ext cx="3550972" cy="10000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nSpc>
                <a:spcPct val="150000"/>
              </a:lnSpc>
            </a:pPr>
            <a:r>
              <a:rPr lang="en-US" altLang="zh-CN" sz="1050" b="1" dirty="0">
                <a:solidFill>
                  <a:schemeClr val="tx1">
                    <a:lumMod val="50000"/>
                    <a:lumOff val="50000"/>
                  </a:schemeClr>
                </a:solidFill>
                <a:latin typeface="微软雅黑" panose="020B0503020204020204" pitchFamily="34" charset="-122"/>
                <a:ea typeface="微软雅黑" panose="020B0503020204020204" pitchFamily="34" charset="-122"/>
              </a:rPr>
              <a:t>Our solution: Mix of multiple ingredients</a:t>
            </a:r>
          </a:p>
          <a:p>
            <a:pPr marL="171450" lvl="1" indent="-171450">
              <a:lnSpc>
                <a:spcPct val="150000"/>
              </a:lnSpc>
              <a:buFont typeface="Arial" panose="020B0604020202020204" pitchFamily="34" charset="0"/>
              <a:buChar char="•"/>
            </a:pPr>
            <a:r>
              <a:rPr lang="en-US" altLang="zh-CN" sz="1000" b="1" dirty="0">
                <a:solidFill>
                  <a:schemeClr val="tx1">
                    <a:lumMod val="50000"/>
                    <a:lumOff val="50000"/>
                  </a:schemeClr>
                </a:solidFill>
                <a:latin typeface="微软雅黑" panose="020B0503020204020204" pitchFamily="34" charset="-122"/>
                <a:ea typeface="微软雅黑" panose="020B0503020204020204" pitchFamily="34" charset="-122"/>
              </a:rPr>
              <a:t>Learning ensembles via SG-MCMC sampling</a:t>
            </a:r>
          </a:p>
          <a:p>
            <a:pPr marL="171450" lvl="1" indent="-171450">
              <a:lnSpc>
                <a:spcPct val="150000"/>
              </a:lnSpc>
              <a:buFont typeface="Arial" panose="020B0604020202020204" pitchFamily="34" charset="0"/>
              <a:buChar char="•"/>
            </a:pPr>
            <a:r>
              <a:rPr lang="en-US" altLang="zh-CN" sz="1000" b="1" dirty="0">
                <a:solidFill>
                  <a:schemeClr val="tx1">
                    <a:lumMod val="50000"/>
                    <a:lumOff val="50000"/>
                  </a:schemeClr>
                </a:solidFill>
                <a:latin typeface="微软雅黑" panose="020B0503020204020204" pitchFamily="34" charset="-122"/>
                <a:ea typeface="微软雅黑" panose="020B0503020204020204" pitchFamily="34" charset="-122"/>
              </a:rPr>
              <a:t>Cost reduction via structured model compression</a:t>
            </a:r>
          </a:p>
          <a:p>
            <a:pPr marL="171450" lvl="1" indent="-171450">
              <a:lnSpc>
                <a:spcPct val="150000"/>
              </a:lnSpc>
              <a:buFont typeface="Arial" panose="020B0604020202020204" pitchFamily="34" charset="0"/>
              <a:buChar char="•"/>
            </a:pPr>
            <a:r>
              <a:rPr lang="en-US" altLang="zh-CN" sz="1000" b="1" dirty="0">
                <a:solidFill>
                  <a:schemeClr val="tx1">
                    <a:lumMod val="50000"/>
                    <a:lumOff val="50000"/>
                  </a:schemeClr>
                </a:solidFill>
                <a:latin typeface="微软雅黑" panose="020B0503020204020204" pitchFamily="34" charset="-122"/>
                <a:ea typeface="微软雅黑" panose="020B0503020204020204" pitchFamily="34" charset="-122"/>
              </a:rPr>
              <a:t>Experimental results</a:t>
            </a:r>
          </a:p>
        </p:txBody>
      </p:sp>
      <p:sp>
        <p:nvSpPr>
          <p:cNvPr id="78" name="矩形 77"/>
          <p:cNvSpPr/>
          <p:nvPr/>
        </p:nvSpPr>
        <p:spPr>
          <a:xfrm>
            <a:off x="4535882" y="4169109"/>
            <a:ext cx="237601" cy="23760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50" b="1">
                <a:latin typeface="微软雅黑" panose="020B0503020204020204" pitchFamily="34" charset="-122"/>
                <a:ea typeface="微软雅黑" panose="020B0503020204020204" pitchFamily="34" charset="-122"/>
                <a:sym typeface="微软雅黑" panose="020B0503020204020204" pitchFamily="34" charset="-122"/>
              </a:rPr>
              <a:t>4</a:t>
            </a:r>
            <a:endParaRPr lang="zh-CN" altLang="en-US" sz="1050" b="1"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9" name="矩形 78"/>
          <p:cNvSpPr/>
          <p:nvPr/>
        </p:nvSpPr>
        <p:spPr>
          <a:xfrm>
            <a:off x="4898692" y="4152794"/>
            <a:ext cx="1981633" cy="2539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r>
              <a:rPr lang="en-US" altLang="zh-CN" sz="1050" b="1" dirty="0" smtClean="0">
                <a:solidFill>
                  <a:schemeClr val="tx1">
                    <a:lumMod val="50000"/>
                    <a:lumOff val="50000"/>
                  </a:schemeClr>
                </a:solidFill>
                <a:latin typeface="微软雅黑" panose="020B0503020204020204" pitchFamily="34" charset="-122"/>
                <a:ea typeface="微软雅黑" panose="020B0503020204020204" pitchFamily="34" charset="-122"/>
              </a:rPr>
              <a:t>Conclusion </a:t>
            </a:r>
            <a:r>
              <a:rPr lang="en-US" altLang="zh-CN" sz="1050" b="1" dirty="0">
                <a:solidFill>
                  <a:schemeClr val="tx1">
                    <a:lumMod val="50000"/>
                    <a:lumOff val="50000"/>
                  </a:schemeClr>
                </a:solidFill>
                <a:latin typeface="微软雅黑" panose="020B0503020204020204" pitchFamily="34" charset="-122"/>
                <a:ea typeface="微软雅黑" panose="020B0503020204020204" pitchFamily="34" charset="-122"/>
              </a:rPr>
              <a:t>&amp; Future </a:t>
            </a:r>
            <a:r>
              <a:rPr lang="en-US" altLang="zh-CN" sz="1050" b="1" dirty="0" smtClean="0">
                <a:solidFill>
                  <a:schemeClr val="tx1">
                    <a:lumMod val="50000"/>
                    <a:lumOff val="50000"/>
                  </a:schemeClr>
                </a:solidFill>
                <a:latin typeface="微软雅黑" panose="020B0503020204020204" pitchFamily="34" charset="-122"/>
                <a:ea typeface="微软雅黑" panose="020B0503020204020204" pitchFamily="34" charset="-122"/>
              </a:rPr>
              <a:t>Work</a:t>
            </a:r>
            <a:endParaRPr lang="en-US" altLang="zh-CN" sz="105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24" name="文本框 23"/>
          <p:cNvSpPr txBox="1"/>
          <p:nvPr/>
        </p:nvSpPr>
        <p:spPr>
          <a:xfrm>
            <a:off x="4427150" y="1791613"/>
            <a:ext cx="2298700" cy="414020"/>
          </a:xfrm>
          <a:prstGeom prst="rect">
            <a:avLst/>
          </a:prstGeom>
          <a:solidFill>
            <a:schemeClr val="bg1">
              <a:alpha val="0"/>
            </a:schemeClr>
          </a:solidFill>
        </p:spPr>
        <p:txBody>
          <a:bodyPr wrap="none">
            <a:spAutoFit/>
          </a:bodyPr>
          <a:lstStyle>
            <a:lvl1pPr eaLnBrk="0" hangingPunct="0">
              <a:defRPr sz="2800" b="1">
                <a:solidFill>
                  <a:schemeClr val="accent1"/>
                </a:solidFill>
                <a:latin typeface="微软雅黑" panose="020B0503020204020204" pitchFamily="34" charset="-122"/>
                <a:ea typeface="微软雅黑" panose="020B0503020204020204" pitchFamily="34" charset="-122"/>
                <a:cs typeface="+mj-cs"/>
              </a:defRPr>
            </a:lvl1pPr>
            <a:lvl2pPr algn="r" eaLnBrk="0" hangingPunct="0">
              <a:defRPr sz="2000" b="1">
                <a:solidFill>
                  <a:srgbClr val="404040"/>
                </a:solidFill>
                <a:latin typeface="微软雅黑" panose="020B0503020204020204" pitchFamily="34" charset="-122"/>
                <a:ea typeface="微软雅黑" panose="020B0503020204020204" pitchFamily="34" charset="-122"/>
              </a:defRPr>
            </a:lvl2pPr>
            <a:lvl3pPr algn="r" eaLnBrk="0" hangingPunct="0">
              <a:defRPr sz="2000" b="1">
                <a:solidFill>
                  <a:srgbClr val="404040"/>
                </a:solidFill>
                <a:latin typeface="微软雅黑" panose="020B0503020204020204" pitchFamily="34" charset="-122"/>
                <a:ea typeface="微软雅黑" panose="020B0503020204020204" pitchFamily="34" charset="-122"/>
              </a:defRPr>
            </a:lvl3pPr>
            <a:lvl4pPr algn="r" eaLnBrk="0" hangingPunct="0">
              <a:defRPr sz="2000" b="1">
                <a:solidFill>
                  <a:srgbClr val="404040"/>
                </a:solidFill>
                <a:latin typeface="微软雅黑" panose="020B0503020204020204" pitchFamily="34" charset="-122"/>
                <a:ea typeface="微软雅黑" panose="020B0503020204020204" pitchFamily="34" charset="-122"/>
              </a:defRPr>
            </a:lvl4pPr>
            <a:lvl5pPr algn="r" eaLnBrk="0" hangingPunct="0">
              <a:defRPr sz="2000" b="1">
                <a:solidFill>
                  <a:srgbClr val="404040"/>
                </a:solidFill>
                <a:latin typeface="微软雅黑" panose="020B0503020204020204" pitchFamily="34" charset="-122"/>
                <a:ea typeface="微软雅黑" panose="020B0503020204020204" pitchFamily="34" charset="-122"/>
              </a:defRPr>
            </a:lvl5pPr>
            <a:lvl6pPr marL="457200" algn="r" fontAlgn="base">
              <a:spcBef>
                <a:spcPct val="0"/>
              </a:spcBef>
              <a:spcAft>
                <a:spcPct val="0"/>
              </a:spcAft>
              <a:defRPr>
                <a:latin typeface="Arial" panose="020B0604020202020204" pitchFamily="34" charset="0"/>
                <a:ea typeface="宋体" panose="02010600030101010101" pitchFamily="2" charset="-122"/>
              </a:defRPr>
            </a:lvl6pPr>
            <a:lvl7pPr marL="914400" algn="r" fontAlgn="base">
              <a:spcBef>
                <a:spcPct val="0"/>
              </a:spcBef>
              <a:spcAft>
                <a:spcPct val="0"/>
              </a:spcAft>
              <a:defRPr>
                <a:latin typeface="Arial" panose="020B0604020202020204" pitchFamily="34" charset="0"/>
                <a:ea typeface="宋体" panose="02010600030101010101" pitchFamily="2" charset="-122"/>
              </a:defRPr>
            </a:lvl7pPr>
            <a:lvl8pPr marL="1371600" algn="r" fontAlgn="base">
              <a:spcBef>
                <a:spcPct val="0"/>
              </a:spcBef>
              <a:spcAft>
                <a:spcPct val="0"/>
              </a:spcAft>
              <a:defRPr>
                <a:latin typeface="Arial" panose="020B0604020202020204" pitchFamily="34" charset="0"/>
                <a:ea typeface="宋体" panose="02010600030101010101" pitchFamily="2" charset="-122"/>
              </a:defRPr>
            </a:lvl8pPr>
            <a:lvl9pPr marL="1828800" algn="r" fontAlgn="base">
              <a:spcBef>
                <a:spcPct val="0"/>
              </a:spcBef>
              <a:spcAft>
                <a:spcPct val="0"/>
              </a:spcAft>
              <a:defRPr>
                <a:latin typeface="Arial" panose="020B0604020202020204" pitchFamily="34" charset="0"/>
                <a:ea typeface="宋体" panose="02010600030101010101" pitchFamily="2" charset="-122"/>
              </a:defRPr>
            </a:lvl9pPr>
          </a:lstStyle>
          <a:p>
            <a:r>
              <a:rPr lang="zh-CN" altLang="en-US" sz="2100" dirty="0">
                <a:solidFill>
                  <a:srgbClr val="001355"/>
                </a:solidFill>
                <a:sym typeface="微软雅黑" panose="020B0503020204020204" pitchFamily="34" charset="-122"/>
              </a:rPr>
              <a:t>目录 </a:t>
            </a:r>
            <a:r>
              <a:rPr lang="en-US" altLang="zh-CN" sz="2100" dirty="0">
                <a:solidFill>
                  <a:srgbClr val="001355"/>
                </a:solidFill>
                <a:sym typeface="微软雅黑" panose="020B0503020204020204" pitchFamily="34" charset="-122"/>
              </a:rPr>
              <a:t>| CONTENT</a:t>
            </a:r>
          </a:p>
        </p:txBody>
      </p:sp>
      <p:pic>
        <p:nvPicPr>
          <p:cNvPr id="6" name="图片 5" descr="E:\亚洲大学联盟研究生学术论坛\AUA-Logo-04.pngAUA-Logo-04"/>
          <p:cNvPicPr/>
          <p:nvPr/>
        </p:nvPicPr>
        <p:blipFill>
          <a:blip r:embed="rId4"/>
          <a:srcRect/>
          <a:stretch>
            <a:fillRect/>
          </a:stretch>
        </p:blipFill>
        <p:spPr>
          <a:xfrm>
            <a:off x="3707904" y="552450"/>
            <a:ext cx="2192655" cy="1550035"/>
          </a:xfrm>
          <a:prstGeom prst="rect">
            <a:avLst/>
          </a:prstGeom>
        </p:spPr>
      </p:pic>
      <p:sp>
        <p:nvSpPr>
          <p:cNvPr id="25" name="矩形 74"/>
          <p:cNvSpPr/>
          <p:nvPr/>
        </p:nvSpPr>
        <p:spPr>
          <a:xfrm>
            <a:off x="4902140" y="2502318"/>
            <a:ext cx="1710725" cy="2539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r>
              <a:rPr lang="en-US" altLang="zh-CN" sz="1050" b="1" dirty="0">
                <a:solidFill>
                  <a:schemeClr val="tx1">
                    <a:lumMod val="50000"/>
                    <a:lumOff val="50000"/>
                  </a:schemeClr>
                </a:solidFill>
                <a:latin typeface="微软雅黑" panose="020B0503020204020204" pitchFamily="34" charset="-122"/>
                <a:ea typeface="微软雅黑" panose="020B0503020204020204" pitchFamily="34" charset="-122"/>
              </a:rPr>
              <a:t>Motivation &amp; Problem</a:t>
            </a:r>
          </a:p>
        </p:txBody>
      </p:sp>
    </p:spTree>
  </p:cSld>
  <p:clrMapOvr>
    <a:masterClrMapping/>
  </p:clrMapOvr>
  <mc:AlternateContent xmlns:mc="http://schemas.openxmlformats.org/markup-compatibility/2006" xmlns:p14="http://schemas.microsoft.com/office/powerpoint/2010/main">
    <mc:Choice Requires="p14">
      <p:transition spd="med" p14:dur="700">
        <p:split orient="vert"/>
      </p:transition>
    </mc:Choice>
    <mc:Fallback xmlns="">
      <p:transition>
        <p:split orient="vert"/>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p:cNvSpPr/>
          <p:nvPr/>
        </p:nvSpPr>
        <p:spPr>
          <a:xfrm>
            <a:off x="827584" y="339502"/>
            <a:ext cx="4320480" cy="4320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r>
              <a:rPr lang="en-US" altLang="zh-CN" sz="2000" b="1" dirty="0" smtClean="0">
                <a:solidFill>
                  <a:srgbClr val="002A6D"/>
                </a:solidFill>
                <a:latin typeface="微软雅黑" panose="020B0503020204020204" pitchFamily="34" charset="-122"/>
                <a:ea typeface="微软雅黑" panose="020B0503020204020204" pitchFamily="34" charset="-122"/>
              </a:rPr>
              <a:t>Ensemble </a:t>
            </a:r>
            <a:r>
              <a:rPr lang="en-US" altLang="zh-CN" sz="2000" b="1" dirty="0">
                <a:solidFill>
                  <a:srgbClr val="002A6D"/>
                </a:solidFill>
                <a:latin typeface="微软雅黑" panose="020B0503020204020204" pitchFamily="34" charset="-122"/>
                <a:ea typeface="微软雅黑" panose="020B0503020204020204" pitchFamily="34" charset="-122"/>
              </a:rPr>
              <a:t>of Neural Networks</a:t>
            </a:r>
            <a:endParaRPr lang="zh-CN" altLang="en-US" sz="2000" b="1" dirty="0">
              <a:solidFill>
                <a:srgbClr val="002A6D"/>
              </a:solidFill>
              <a:latin typeface="微软雅黑" panose="020B0503020204020204" pitchFamily="34" charset="-122"/>
              <a:ea typeface="微软雅黑" panose="020B0503020204020204" pitchFamily="34" charset="-122"/>
            </a:endParaRPr>
          </a:p>
        </p:txBody>
      </p:sp>
      <p:sp>
        <p:nvSpPr>
          <p:cNvPr id="46" name="内容占位符 1"/>
          <p:cNvSpPr txBox="1">
            <a:spLocks/>
          </p:cNvSpPr>
          <p:nvPr/>
        </p:nvSpPr>
        <p:spPr>
          <a:xfrm>
            <a:off x="251520" y="1131590"/>
            <a:ext cx="8305800" cy="4303049"/>
          </a:xfrm>
          <a:prstGeom prst="rect">
            <a:avLst/>
          </a:prstGeom>
        </p:spPr>
        <p:txBody>
          <a:bodyPr/>
          <a:lstStyle>
            <a:lvl1pPr marL="342900" indent="-342900" algn="l" defTabSz="9137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3765"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3765"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39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3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5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altLang="zh-CN" sz="2000" dirty="0" smtClean="0"/>
              <a:t>Ensemble models are a </a:t>
            </a:r>
            <a:r>
              <a:rPr lang="en-US" altLang="zh-CN" sz="2000" b="1" dirty="0" smtClean="0"/>
              <a:t>group of models</a:t>
            </a:r>
            <a:r>
              <a:rPr lang="en-US" altLang="zh-CN" sz="2000" dirty="0" smtClean="0"/>
              <a:t> that work collectively to get the averaged prediction. </a:t>
            </a:r>
          </a:p>
        </p:txBody>
      </p:sp>
      <p:pic>
        <p:nvPicPr>
          <p:cNvPr id="47" name="Picture 2" descr="https://media.springernature.com/original/springer-static/image/art%3A10.1007%2Fs00706-014-1396-1/MediaObjects/706_2014_1396_Fig9_HTML.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7704" y="1918338"/>
            <a:ext cx="5956823" cy="2324239"/>
          </a:xfrm>
          <a:prstGeom prst="rect">
            <a:avLst/>
          </a:prstGeom>
          <a:noFill/>
          <a:extLst>
            <a:ext uri="{909E8E84-426E-40DD-AFC4-6F175D3DCCD1}">
              <a14:hiddenFill xmlns:a14="http://schemas.microsoft.com/office/drawing/2010/main">
                <a:solidFill>
                  <a:srgbClr val="FFFFFF"/>
                </a:solidFill>
              </a14:hiddenFill>
            </a:ext>
          </a:extLst>
        </p:spPr>
      </p:pic>
      <p:sp>
        <p:nvSpPr>
          <p:cNvPr id="48" name="文本框 47"/>
          <p:cNvSpPr txBox="1"/>
          <p:nvPr/>
        </p:nvSpPr>
        <p:spPr>
          <a:xfrm>
            <a:off x="3131840" y="4602617"/>
            <a:ext cx="4176464" cy="307777"/>
          </a:xfrm>
          <a:prstGeom prst="rect">
            <a:avLst/>
          </a:prstGeom>
          <a:noFill/>
        </p:spPr>
        <p:txBody>
          <a:bodyPr wrap="square" rtlCol="0">
            <a:spAutoFit/>
          </a:bodyPr>
          <a:lstStyle/>
          <a:p>
            <a:r>
              <a:rPr lang="en-US" altLang="zh-CN" sz="1400" dirty="0" smtClean="0"/>
              <a:t>Figure from </a:t>
            </a:r>
            <a:r>
              <a:rPr lang="en-US" altLang="zh-CN" sz="1400" dirty="0" err="1" smtClean="0"/>
              <a:t>Effat</a:t>
            </a:r>
            <a:r>
              <a:rPr lang="en-US" altLang="zh-CN" sz="1400" dirty="0"/>
              <a:t> </a:t>
            </a:r>
            <a:r>
              <a:rPr lang="en-US" altLang="zh-CN" sz="1400" dirty="0" err="1" smtClean="0"/>
              <a:t>Dehghanian</a:t>
            </a:r>
            <a:r>
              <a:rPr lang="en-US" altLang="zh-CN" sz="1400" dirty="0" smtClean="0"/>
              <a:t> et al. 2015</a:t>
            </a:r>
            <a:endParaRPr lang="zh-CN" altLang="en-US" sz="1400" dirty="0"/>
          </a:p>
        </p:txBody>
      </p:sp>
    </p:spTree>
  </p:cSld>
  <p:clrMapOvr>
    <a:masterClrMapping/>
  </p:clrMapOvr>
  <mc:AlternateContent xmlns:mc="http://schemas.openxmlformats.org/markup-compatibility/2006" xmlns:p14="http://schemas.microsoft.com/office/powerpoint/2010/main">
    <mc:Choice Requires="p14">
      <p:transition p14:dur="250">
        <p:split orient="vert"/>
      </p:transition>
    </mc:Choice>
    <mc:Fallback xmlns="">
      <p:transition>
        <p:split orient="vert"/>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p:cNvSpPr/>
          <p:nvPr/>
        </p:nvSpPr>
        <p:spPr>
          <a:xfrm>
            <a:off x="827584" y="332845"/>
            <a:ext cx="4968552" cy="4320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r>
              <a:rPr lang="en-US" altLang="zh-CN" sz="2000" b="1" dirty="0" smtClean="0">
                <a:solidFill>
                  <a:srgbClr val="002A6D"/>
                </a:solidFill>
                <a:latin typeface="微软雅黑" panose="020B0503020204020204" pitchFamily="34" charset="-122"/>
                <a:ea typeface="微软雅黑" panose="020B0503020204020204" pitchFamily="34" charset="-122"/>
              </a:rPr>
              <a:t>Ensemble </a:t>
            </a:r>
            <a:r>
              <a:rPr lang="en-US" altLang="zh-CN" sz="2000" b="1" dirty="0">
                <a:solidFill>
                  <a:srgbClr val="002A6D"/>
                </a:solidFill>
                <a:latin typeface="微软雅黑" panose="020B0503020204020204" pitchFamily="34" charset="-122"/>
                <a:ea typeface="微软雅黑" panose="020B0503020204020204" pitchFamily="34" charset="-122"/>
              </a:rPr>
              <a:t>of Neural Networks</a:t>
            </a:r>
            <a:endParaRPr lang="zh-CN" altLang="en-US" sz="2000" b="1" dirty="0">
              <a:solidFill>
                <a:srgbClr val="002A6D"/>
              </a:solidFill>
              <a:latin typeface="微软雅黑" panose="020B0503020204020204" pitchFamily="34" charset="-122"/>
              <a:ea typeface="微软雅黑" panose="020B0503020204020204" pitchFamily="34" charset="-122"/>
            </a:endParaRPr>
          </a:p>
        </p:txBody>
      </p:sp>
      <p:sp>
        <p:nvSpPr>
          <p:cNvPr id="46" name="内容占位符 1"/>
          <p:cNvSpPr txBox="1">
            <a:spLocks/>
          </p:cNvSpPr>
          <p:nvPr/>
        </p:nvSpPr>
        <p:spPr>
          <a:xfrm>
            <a:off x="251520" y="1131590"/>
            <a:ext cx="8568952" cy="4303049"/>
          </a:xfrm>
          <a:prstGeom prst="rect">
            <a:avLst/>
          </a:prstGeom>
        </p:spPr>
        <p:txBody>
          <a:bodyPr/>
          <a:lstStyle>
            <a:lvl1pPr marL="342900" indent="-342900" algn="l" defTabSz="9137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3765"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3765"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39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3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5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altLang="zh-CN" sz="2000" dirty="0" smtClean="0"/>
              <a:t>Ensemble </a:t>
            </a:r>
            <a:r>
              <a:rPr lang="en-US" altLang="zh-CN" sz="2000" dirty="0"/>
              <a:t>gives a </a:t>
            </a:r>
            <a:r>
              <a:rPr lang="en-US" altLang="zh-CN" sz="2000" b="1" dirty="0"/>
              <a:t>great</a:t>
            </a:r>
            <a:r>
              <a:rPr lang="en-US" altLang="zh-CN" sz="2000" dirty="0"/>
              <a:t> </a:t>
            </a:r>
            <a:r>
              <a:rPr lang="en-US" altLang="zh-CN" sz="2000" b="1" dirty="0"/>
              <a:t>boost in accuracy</a:t>
            </a:r>
            <a:r>
              <a:rPr lang="en-US" altLang="zh-CN" sz="2000" dirty="0"/>
              <a:t> because it does not rely on a single model for prediction. </a:t>
            </a:r>
            <a:endParaRPr lang="zh-CN" altLang="en-US" sz="2000" dirty="0"/>
          </a:p>
          <a:p>
            <a:endParaRPr lang="en-US" altLang="zh-CN" sz="2000" dirty="0" smtClean="0"/>
          </a:p>
        </p:txBody>
      </p:sp>
      <p:sp>
        <p:nvSpPr>
          <p:cNvPr id="48" name="文本框 47"/>
          <p:cNvSpPr txBox="1"/>
          <p:nvPr/>
        </p:nvSpPr>
        <p:spPr>
          <a:xfrm>
            <a:off x="2856247" y="4717014"/>
            <a:ext cx="3096344" cy="307777"/>
          </a:xfrm>
          <a:prstGeom prst="rect">
            <a:avLst/>
          </a:prstGeom>
          <a:noFill/>
        </p:spPr>
        <p:txBody>
          <a:bodyPr wrap="square" rtlCol="0">
            <a:spAutoFit/>
          </a:bodyPr>
          <a:lstStyle/>
          <a:p>
            <a:r>
              <a:rPr lang="en-US" altLang="zh-CN" sz="1400" dirty="0"/>
              <a:t>Figure from Alejandro Correa et al. 2013</a:t>
            </a:r>
            <a:endParaRPr lang="zh-CN" altLang="en-US" sz="1400" dirty="0"/>
          </a:p>
        </p:txBody>
      </p:sp>
      <p:pic>
        <p:nvPicPr>
          <p:cNvPr id="6" name="图片 5"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88745" y="1951284"/>
            <a:ext cx="6231349" cy="2663660"/>
          </a:xfrm>
          <a:prstGeom prst="rect">
            <a:avLst/>
          </a:prstGeom>
        </p:spPr>
      </p:pic>
    </p:spTree>
    <p:extLst>
      <p:ext uri="{BB962C8B-B14F-4D97-AF65-F5344CB8AC3E}">
        <p14:creationId xmlns:p14="http://schemas.microsoft.com/office/powerpoint/2010/main" val="678287185"/>
      </p:ext>
    </p:extLst>
  </p:cSld>
  <p:clrMapOvr>
    <a:masterClrMapping/>
  </p:clrMapOvr>
  <mc:AlternateContent xmlns:mc="http://schemas.openxmlformats.org/markup-compatibility/2006" xmlns:p14="http://schemas.microsoft.com/office/powerpoint/2010/main">
    <mc:Choice Requires="p14">
      <p:transition p14:dur="250">
        <p:split orient="vert"/>
      </p:transition>
    </mc:Choice>
    <mc:Fallback xmlns="">
      <p:transition>
        <p:split orient="vert"/>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 name="内容占位符 6"/>
              <p:cNvSpPr>
                <a:spLocks noGrp="1"/>
              </p:cNvSpPr>
              <p:nvPr>
                <p:ph idx="4294967295"/>
              </p:nvPr>
            </p:nvSpPr>
            <p:spPr>
              <a:xfrm>
                <a:off x="319783" y="3913411"/>
                <a:ext cx="7475538" cy="890587"/>
              </a:xfrm>
            </p:spPr>
            <p:txBody>
              <a:bodyPr>
                <a:normAutofit fontScale="55000" lnSpcReduction="20000"/>
              </a:bodyPr>
              <a:lstStyle/>
              <a:p>
                <a:pPr>
                  <a:lnSpc>
                    <a:spcPct val="150000"/>
                  </a:lnSpc>
                </a:pPr>
                <a:r>
                  <a:rPr lang="en-US" altLang="zh-CN" b="1" dirty="0"/>
                  <a:t>Training problem:</a:t>
                </a:r>
                <a:r>
                  <a:rPr lang="en-US" altLang="zh-CN" dirty="0"/>
                  <a:t> </a:t>
                </a:r>
                <a14:m>
                  <m:oMath xmlns:m="http://schemas.openxmlformats.org/officeDocument/2006/math">
                    <m:r>
                      <a:rPr lang="en-US" altLang="zh-CN" i="1" dirty="0">
                        <a:latin typeface="Cambria Math" panose="02040503050406030204" pitchFamily="18" charset="0"/>
                      </a:rPr>
                      <m:t>𝑁</m:t>
                    </m:r>
                  </m:oMath>
                </a14:m>
                <a:r>
                  <a:rPr lang="en-US" altLang="zh-CN" dirty="0"/>
                  <a:t> times training time</a:t>
                </a:r>
              </a:p>
              <a:p>
                <a:pPr>
                  <a:lnSpc>
                    <a:spcPct val="150000"/>
                  </a:lnSpc>
                </a:pPr>
                <a:r>
                  <a:rPr lang="en-US" altLang="zh-CN" b="1" dirty="0" smtClean="0"/>
                  <a:t>Testing </a:t>
                </a:r>
                <a:r>
                  <a:rPr lang="en-US" altLang="zh-CN" b="1" dirty="0"/>
                  <a:t>problem:</a:t>
                </a:r>
                <a:r>
                  <a:rPr lang="en-US" altLang="zh-CN" b="1" dirty="0" smtClean="0"/>
                  <a:t> </a:t>
                </a:r>
                <a14:m>
                  <m:oMath xmlns:m="http://schemas.openxmlformats.org/officeDocument/2006/math">
                    <m:r>
                      <a:rPr lang="en-US" altLang="zh-CN" i="1" dirty="0">
                        <a:latin typeface="Cambria Math" panose="02040503050406030204" pitchFamily="18" charset="0"/>
                      </a:rPr>
                      <m:t>𝑁</m:t>
                    </m:r>
                  </m:oMath>
                </a14:m>
                <a:r>
                  <a:rPr lang="en-US" altLang="zh-CN" dirty="0"/>
                  <a:t> times memory/testing time cost</a:t>
                </a:r>
                <a:endParaRPr lang="zh-CN" altLang="en-US" dirty="0"/>
              </a:p>
              <a:p>
                <a:endParaRPr lang="zh-CN" altLang="en-US" dirty="0"/>
              </a:p>
            </p:txBody>
          </p:sp>
        </mc:Choice>
        <mc:Fallback xmlns="">
          <p:sp>
            <p:nvSpPr>
              <p:cNvPr id="7" name="内容占位符 6"/>
              <p:cNvSpPr>
                <a:spLocks noGrp="1" noRot="1" noChangeAspect="1" noMove="1" noResize="1" noEditPoints="1" noAdjustHandles="1" noChangeArrowheads="1" noChangeShapeType="1" noTextEdit="1"/>
              </p:cNvSpPr>
              <p:nvPr>
                <p:ph idx="4294967295"/>
              </p:nvPr>
            </p:nvSpPr>
            <p:spPr>
              <a:xfrm>
                <a:off x="319783" y="3913411"/>
                <a:ext cx="7475538" cy="890587"/>
              </a:xfrm>
              <a:blipFill>
                <a:blip r:embed="rId3"/>
                <a:stretch>
                  <a:fillRect l="-489" b="-4110"/>
                </a:stretch>
              </a:blipFill>
            </p:spPr>
            <p:txBody>
              <a:bodyPr/>
              <a:lstStyle/>
              <a:p>
                <a:r>
                  <a:rPr lang="zh-CN" altLang="en-US">
                    <a:noFill/>
                  </a:rPr>
                  <a:t> </a:t>
                </a:r>
              </a:p>
            </p:txBody>
          </p:sp>
        </mc:Fallback>
      </mc:AlternateContent>
      <p:sp>
        <p:nvSpPr>
          <p:cNvPr id="2" name="右箭头 1"/>
          <p:cNvSpPr/>
          <p:nvPr/>
        </p:nvSpPr>
        <p:spPr bwMode="auto">
          <a:xfrm>
            <a:off x="4078503" y="2471116"/>
            <a:ext cx="742950" cy="297180"/>
          </a:xfrm>
          <a:prstGeom prst="rightArrow">
            <a:avLst/>
          </a:prstGeom>
          <a:solidFill>
            <a:schemeClr val="accent1"/>
          </a:solidFill>
          <a:ln w="28575" cap="flat" cmpd="sng" algn="ctr">
            <a:solidFill>
              <a:schemeClr val="tx1"/>
            </a:solidFill>
            <a:prstDash val="solid"/>
            <a:round/>
            <a:headEnd type="none" w="med" len="med"/>
            <a:tailEnd type="none" w="med" len="med"/>
          </a:ln>
          <a:effectLst/>
        </p:spPr>
        <p:txBody>
          <a:bodyPr vert="horz" wrap="square" lIns="61722" tIns="30861" rIns="61722" bIns="30861" numCol="1" rtlCol="0" anchor="ctr" anchorCtr="0" compatLnSpc="1">
            <a:prstTxWarp prst="textNoShape">
              <a:avLst/>
            </a:prstTxWarp>
          </a:bodyPr>
          <a:lstStyle/>
          <a:p>
            <a:pPr marL="1072" indent="-1072" fontAlgn="base">
              <a:spcBef>
                <a:spcPct val="50000"/>
              </a:spcBef>
              <a:spcAft>
                <a:spcPct val="0"/>
              </a:spcAft>
              <a:buClr>
                <a:schemeClr val="tx2"/>
              </a:buClr>
              <a:buSzPct val="60000"/>
            </a:pPr>
            <a:endParaRPr lang="zh-CN" altLang="en-US" sz="1350">
              <a:latin typeface="Arial" charset="0"/>
              <a:cs typeface="Arial" charset="0"/>
            </a:endParaRPr>
          </a:p>
        </p:txBody>
      </p:sp>
      <mc:AlternateContent xmlns:mc="http://schemas.openxmlformats.org/markup-compatibility/2006" xmlns:a14="http://schemas.microsoft.com/office/drawing/2010/main">
        <mc:Choice Requires="a14">
          <p:sp>
            <p:nvSpPr>
              <p:cNvPr id="4" name="矩形 3"/>
              <p:cNvSpPr/>
              <p:nvPr/>
            </p:nvSpPr>
            <p:spPr>
              <a:xfrm>
                <a:off x="6451009" y="3526262"/>
                <a:ext cx="1188110" cy="341632"/>
              </a:xfrm>
              <a:prstGeom prst="rect">
                <a:avLst/>
              </a:prstGeom>
            </p:spPr>
            <p:txBody>
              <a:bodyPr wrap="square">
                <a:spAutoFit/>
              </a:bodyPr>
              <a:lstStyle/>
              <a:p>
                <a14:m>
                  <m:oMath xmlns:m="http://schemas.openxmlformats.org/officeDocument/2006/math">
                    <m:r>
                      <a:rPr lang="en-US" altLang="zh-CN" sz="1620" i="1" dirty="0">
                        <a:latin typeface="Cambria Math" panose="02040503050406030204" pitchFamily="18" charset="0"/>
                      </a:rPr>
                      <m:t>𝑁</m:t>
                    </m:r>
                  </m:oMath>
                </a14:m>
                <a:r>
                  <a:rPr lang="zh-CN" altLang="en-US" sz="1620" dirty="0"/>
                  <a:t> </a:t>
                </a:r>
                <a:r>
                  <a:rPr lang="en-US" altLang="zh-CN" sz="1620" dirty="0"/>
                  <a:t>networks</a:t>
                </a:r>
                <a:endParaRPr lang="zh-CN" altLang="en-US" sz="1620" dirty="0"/>
              </a:p>
            </p:txBody>
          </p:sp>
        </mc:Choice>
        <mc:Fallback xmlns="">
          <p:sp>
            <p:nvSpPr>
              <p:cNvPr id="4" name="矩形 3"/>
              <p:cNvSpPr>
                <a:spLocks noRot="1" noChangeAspect="1" noMove="1" noResize="1" noEditPoints="1" noAdjustHandles="1" noChangeArrowheads="1" noChangeShapeType="1" noTextEdit="1"/>
              </p:cNvSpPr>
              <p:nvPr/>
            </p:nvSpPr>
            <p:spPr>
              <a:xfrm>
                <a:off x="6451009" y="3526262"/>
                <a:ext cx="1188110" cy="341632"/>
              </a:xfrm>
              <a:prstGeom prst="rect">
                <a:avLst/>
              </a:prstGeom>
              <a:blipFill>
                <a:blip r:embed="rId4"/>
                <a:stretch>
                  <a:fillRect t="-5357" r="-1538" b="-25000"/>
                </a:stretch>
              </a:blipFill>
            </p:spPr>
            <p:txBody>
              <a:bodyPr/>
              <a:lstStyle/>
              <a:p>
                <a:r>
                  <a:rPr lang="zh-CN" altLang="en-US">
                    <a:noFill/>
                  </a:rPr>
                  <a:t> </a:t>
                </a:r>
              </a:p>
            </p:txBody>
          </p:sp>
        </mc:Fallback>
      </mc:AlternateContent>
      <p:pic>
        <p:nvPicPr>
          <p:cNvPr id="13" name="Picture 4" descr="http://www.aigei.com/tool/image/visit/20180917-f22cb134a0c64d6b8a8d97b760e37a75.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253835" y="2034725"/>
            <a:ext cx="2452856" cy="1188753"/>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4" descr="http://www.aigei.com/tool/image/visit/20180917-f22cb134a0c64d6b8a8d97b760e37a75.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186262" y="1242580"/>
            <a:ext cx="2452856" cy="1188753"/>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4" descr="http://www.aigei.com/tool/image/visit/20180917-f22cb134a0c64d6b8a8d97b760e37a75.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409593" y="1478937"/>
            <a:ext cx="2452856" cy="1188753"/>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4" descr="http://www.aigei.com/tool/image/visit/20180917-f22cb134a0c64d6b8a8d97b760e37a75.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632923" y="1723760"/>
            <a:ext cx="2452856" cy="1188753"/>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4" descr="http://www.aigei.com/tool/image/visit/20180917-f22cb134a0c64d6b8a8d97b760e37a75.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856254" y="1967619"/>
            <a:ext cx="2452856" cy="1188753"/>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4" descr="http://www.aigei.com/tool/image/visit/20180917-f22cb134a0c64d6b8a8d97b760e37a75.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079584" y="2185902"/>
            <a:ext cx="2452856" cy="1188753"/>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2"/>
          <p:cNvSpPr/>
          <p:nvPr/>
        </p:nvSpPr>
        <p:spPr>
          <a:xfrm>
            <a:off x="827584" y="339502"/>
            <a:ext cx="4320480" cy="4320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r>
              <a:rPr lang="en-US" altLang="zh-CN" sz="2000" b="1" dirty="0" smtClean="0">
                <a:solidFill>
                  <a:srgbClr val="002A6D"/>
                </a:solidFill>
                <a:latin typeface="微软雅黑" panose="020B0503020204020204" pitchFamily="34" charset="-122"/>
                <a:ea typeface="微软雅黑" panose="020B0503020204020204" pitchFamily="34" charset="-122"/>
              </a:rPr>
              <a:t>Problem</a:t>
            </a:r>
            <a:endParaRPr lang="zh-CN" altLang="en-US" sz="2000" b="1" dirty="0">
              <a:solidFill>
                <a:srgbClr val="002A6D"/>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70711854"/>
      </p:ext>
    </p:extLst>
  </p:cSld>
  <p:clrMapOvr>
    <a:masterClrMapping/>
  </p:clrMapOvr>
  <mc:AlternateContent xmlns:mc="http://schemas.openxmlformats.org/markup-compatibility/2006" xmlns:p14="http://schemas.microsoft.com/office/powerpoint/2010/main">
    <mc:Choice Requires="p14">
      <p:transition p14:dur="250">
        <p:split orient="vert"/>
      </p:transition>
    </mc:Choice>
    <mc:Fallback xmlns="">
      <p:transition>
        <p:split orient="vert"/>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6"/>
          <p:cNvSpPr>
            <a:spLocks noGrp="1"/>
          </p:cNvSpPr>
          <p:nvPr>
            <p:ph idx="4294967295"/>
          </p:nvPr>
        </p:nvSpPr>
        <p:spPr>
          <a:xfrm>
            <a:off x="251520" y="1148614"/>
            <a:ext cx="7380288" cy="1127125"/>
          </a:xfrm>
        </p:spPr>
        <p:txBody>
          <a:bodyPr>
            <a:normAutofit fontScale="62500" lnSpcReduction="20000"/>
          </a:bodyPr>
          <a:lstStyle/>
          <a:p>
            <a:pPr marL="0" indent="0">
              <a:buNone/>
            </a:pPr>
            <a:r>
              <a:rPr lang="en-US" altLang="zh-CN" b="1" dirty="0" smtClean="0"/>
              <a:t>Snapshot ensembles: Train </a:t>
            </a:r>
            <a:r>
              <a:rPr lang="en-US" altLang="zh-CN" b="1" dirty="0"/>
              <a:t>1, get m for free </a:t>
            </a:r>
            <a:r>
              <a:rPr lang="en-US" altLang="zh-CN" b="1" dirty="0" smtClean="0"/>
              <a:t>(Gao Huang et al. 2017) </a:t>
            </a:r>
          </a:p>
          <a:p>
            <a:r>
              <a:rPr lang="en-US" altLang="zh-CN" kern="1200" dirty="0" smtClean="0"/>
              <a:t>Obtain multiple snapshot models</a:t>
            </a:r>
            <a:r>
              <a:rPr lang="en-US" altLang="zh-CN" dirty="0" smtClean="0"/>
              <a:t> </a:t>
            </a:r>
            <a:r>
              <a:rPr lang="en-US" altLang="zh-CN" dirty="0" smtClean="0">
                <a:solidFill>
                  <a:srgbClr val="FF0000"/>
                </a:solidFill>
              </a:rPr>
              <a:t>within a single training process</a:t>
            </a:r>
            <a:r>
              <a:rPr lang="en-US" altLang="zh-CN" dirty="0" smtClean="0"/>
              <a:t>.</a:t>
            </a:r>
          </a:p>
          <a:p>
            <a:r>
              <a:rPr lang="en-US" altLang="zh-CN" dirty="0" smtClean="0"/>
              <a:t>Empirical cyclic learning rate settings.</a:t>
            </a:r>
            <a:endParaRPr lang="en-US" altLang="zh-CN" dirty="0"/>
          </a:p>
        </p:txBody>
      </p:sp>
      <p:pic>
        <p:nvPicPr>
          <p:cNvPr id="15" name="图片 14"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0098" y="2275739"/>
            <a:ext cx="2817056" cy="2484660"/>
          </a:xfrm>
          <a:prstGeom prst="rect">
            <a:avLst/>
          </a:prstGeom>
        </p:spPr>
      </p:pic>
      <p:pic>
        <p:nvPicPr>
          <p:cNvPr id="18" name="图片 17"/>
          <p:cNvPicPr>
            <a:picLocks noChangeAspect="1"/>
          </p:cNvPicPr>
          <p:nvPr/>
        </p:nvPicPr>
        <p:blipFill>
          <a:blip r:embed="rId4"/>
          <a:stretch>
            <a:fillRect/>
          </a:stretch>
        </p:blipFill>
        <p:spPr>
          <a:xfrm>
            <a:off x="3932144" y="2489963"/>
            <a:ext cx="4480146" cy="2056211"/>
          </a:xfrm>
          <a:prstGeom prst="rect">
            <a:avLst/>
          </a:prstGeom>
        </p:spPr>
      </p:pic>
      <p:sp>
        <p:nvSpPr>
          <p:cNvPr id="8" name="Rectangle 48"/>
          <p:cNvSpPr/>
          <p:nvPr/>
        </p:nvSpPr>
        <p:spPr>
          <a:xfrm>
            <a:off x="800098" y="339502"/>
            <a:ext cx="2907806" cy="4320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r>
              <a:rPr lang="en-US" altLang="zh-CN" sz="2000" b="1" dirty="0" smtClean="0">
                <a:solidFill>
                  <a:srgbClr val="002A6D"/>
                </a:solidFill>
                <a:latin typeface="微软雅黑" panose="020B0503020204020204" pitchFamily="34" charset="-122"/>
                <a:ea typeface="微软雅黑" panose="020B0503020204020204" pitchFamily="34" charset="-122"/>
              </a:rPr>
              <a:t>Related Work</a:t>
            </a:r>
            <a:endParaRPr lang="zh-CN" altLang="en-US" sz="2000" b="1" dirty="0">
              <a:solidFill>
                <a:srgbClr val="002A6D"/>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25208026"/>
      </p:ext>
    </p:extLst>
  </p:cSld>
  <p:clrMapOvr>
    <a:masterClrMapping/>
  </p:clrMapOvr>
  <mc:AlternateContent xmlns:mc="http://schemas.openxmlformats.org/markup-compatibility/2006" xmlns:p14="http://schemas.microsoft.com/office/powerpoint/2010/main">
    <mc:Choice Requires="p14">
      <p:transition p14:dur="250">
        <p:split orient="vert"/>
      </p:transition>
    </mc:Choice>
    <mc:Fallback xmlns="">
      <p:transition>
        <p:split orient="vert"/>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48"/>
          <p:cNvSpPr/>
          <p:nvPr/>
        </p:nvSpPr>
        <p:spPr>
          <a:xfrm>
            <a:off x="800098" y="339502"/>
            <a:ext cx="2907806" cy="4320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r>
              <a:rPr lang="en-US" altLang="zh-CN" sz="2000" b="1" dirty="0" smtClean="0">
                <a:solidFill>
                  <a:srgbClr val="002A6D"/>
                </a:solidFill>
                <a:latin typeface="微软雅黑" panose="020B0503020204020204" pitchFamily="34" charset="-122"/>
                <a:ea typeface="微软雅黑" panose="020B0503020204020204" pitchFamily="34" charset="-122"/>
              </a:rPr>
              <a:t>Related Work</a:t>
            </a:r>
            <a:endParaRPr lang="zh-CN" altLang="en-US" sz="2000" b="1" dirty="0">
              <a:solidFill>
                <a:srgbClr val="002A6D"/>
              </a:solidFill>
              <a:latin typeface="微软雅黑" panose="020B0503020204020204" pitchFamily="34" charset="-122"/>
              <a:ea typeface="微软雅黑" panose="020B0503020204020204" pitchFamily="34" charset="-122"/>
            </a:endParaRPr>
          </a:p>
        </p:txBody>
      </p:sp>
      <p:sp>
        <p:nvSpPr>
          <p:cNvPr id="12" name="内容占位符 6"/>
          <p:cNvSpPr txBox="1">
            <a:spLocks/>
          </p:cNvSpPr>
          <p:nvPr/>
        </p:nvSpPr>
        <p:spPr>
          <a:xfrm>
            <a:off x="381000" y="1069144"/>
            <a:ext cx="8200292" cy="3756074"/>
          </a:xfrm>
          <a:prstGeom prst="rect">
            <a:avLst/>
          </a:prstGeom>
        </p:spPr>
        <p:txBody>
          <a:bodyPr/>
          <a:lstStyle>
            <a:lvl1pPr marL="342900" indent="-342900" algn="l" defTabSz="9137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3765"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3765"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39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3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5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altLang="zh-CN" sz="1800" dirty="0" smtClean="0"/>
              <a:t>The recent progress in Bayesian posterior sampling: </a:t>
            </a:r>
          </a:p>
          <a:p>
            <a:pPr marL="0" indent="0">
              <a:buFont typeface="Arial" panose="020B0604020202020204" pitchFamily="34" charset="0"/>
              <a:buNone/>
            </a:pPr>
            <a:r>
              <a:rPr lang="en-US" altLang="zh-CN" sz="1800" b="1" dirty="0" smtClean="0"/>
              <a:t>       Stochastic Gradient Markov Chain Monte Carlo sampling</a:t>
            </a:r>
            <a:r>
              <a:rPr lang="en-US" altLang="zh-CN" sz="1800" dirty="0" smtClean="0"/>
              <a:t> algorithms </a:t>
            </a:r>
          </a:p>
          <a:p>
            <a:pPr marL="0" indent="0">
              <a:buFont typeface="Arial" panose="020B0604020202020204" pitchFamily="34" charset="0"/>
              <a:buNone/>
            </a:pPr>
            <a:r>
              <a:rPr lang="en-US" altLang="zh-CN" sz="1800" dirty="0" smtClean="0"/>
              <a:t>       (Max Welling et al. 2011, </a:t>
            </a:r>
            <a:r>
              <a:rPr lang="en-US" altLang="zh-CN" sz="1800" dirty="0" err="1" smtClean="0"/>
              <a:t>Tianqi</a:t>
            </a:r>
            <a:r>
              <a:rPr lang="en-US" altLang="zh-CN" sz="1800" dirty="0" smtClean="0"/>
              <a:t> Chen et al. 2014, </a:t>
            </a:r>
            <a:r>
              <a:rPr lang="en-US" altLang="zh-CN" sz="1800" dirty="0" err="1" smtClean="0"/>
              <a:t>Zhe</a:t>
            </a:r>
            <a:r>
              <a:rPr lang="en-US" altLang="zh-CN" sz="1800" dirty="0" smtClean="0"/>
              <a:t> </a:t>
            </a:r>
            <a:r>
              <a:rPr lang="en-US" altLang="zh-CN" sz="1800" dirty="0" err="1" smtClean="0"/>
              <a:t>Gan</a:t>
            </a:r>
            <a:r>
              <a:rPr lang="en-US" altLang="zh-CN" sz="1800" dirty="0" smtClean="0"/>
              <a:t> et al. 2016)</a:t>
            </a:r>
          </a:p>
          <a:p>
            <a:pPr marL="0" indent="0">
              <a:buFont typeface="Arial" panose="020B0604020202020204" pitchFamily="34" charset="0"/>
              <a:buNone/>
            </a:pPr>
            <a:endParaRPr lang="en-US" altLang="zh-CN" sz="1800" dirty="0" smtClean="0"/>
          </a:p>
          <a:p>
            <a:r>
              <a:rPr lang="en-US" altLang="zh-CN" sz="1800" dirty="0" smtClean="0"/>
              <a:t>SG-MCMC works by </a:t>
            </a:r>
            <a:r>
              <a:rPr lang="en-US" altLang="zh-CN" sz="1800" dirty="0" smtClean="0">
                <a:solidFill>
                  <a:srgbClr val="FF0000"/>
                </a:solidFill>
              </a:rPr>
              <a:t>adding a scaled gradient noise</a:t>
            </a:r>
            <a:r>
              <a:rPr lang="en-US" altLang="zh-CN" sz="1800" dirty="0" smtClean="0"/>
              <a:t> to Stochastic optimization method which is proved to have the following benefits :</a:t>
            </a:r>
          </a:p>
          <a:p>
            <a:pPr marL="0" indent="0">
              <a:buFont typeface="Arial" panose="020B0604020202020204" pitchFamily="34" charset="0"/>
              <a:buNone/>
            </a:pPr>
            <a:r>
              <a:rPr lang="en-US" altLang="zh-CN" sz="1800" i="1" dirty="0" smtClean="0"/>
              <a:t>       (</a:t>
            </a:r>
            <a:r>
              <a:rPr lang="en-US" altLang="zh-CN" sz="1800" i="1" dirty="0" err="1" smtClean="0"/>
              <a:t>i</a:t>
            </a:r>
            <a:r>
              <a:rPr lang="en-US" altLang="zh-CN" sz="1800" i="1" dirty="0" smtClean="0"/>
              <a:t>) </a:t>
            </a:r>
            <a:r>
              <a:rPr lang="en-US" altLang="zh-CN" sz="1800" dirty="0" smtClean="0"/>
              <a:t>Theoretically interpretable</a:t>
            </a:r>
          </a:p>
          <a:p>
            <a:pPr marL="0" indent="0">
              <a:buFont typeface="Arial" panose="020B0604020202020204" pitchFamily="34" charset="0"/>
              <a:buNone/>
            </a:pPr>
            <a:r>
              <a:rPr lang="en-US" altLang="zh-CN" sz="1800" i="1" dirty="0" smtClean="0"/>
              <a:t>       (ii) </a:t>
            </a:r>
            <a:r>
              <a:rPr lang="en-US" altLang="zh-CN" sz="1800" dirty="0" smtClean="0"/>
              <a:t>Efficient exploration of the model parameter space</a:t>
            </a:r>
          </a:p>
          <a:p>
            <a:pPr marL="0" indent="0">
              <a:buFont typeface="Arial" panose="020B0604020202020204" pitchFamily="34" charset="0"/>
              <a:buNone/>
            </a:pPr>
            <a:r>
              <a:rPr lang="en-US" altLang="zh-CN" sz="1800" i="1" dirty="0" smtClean="0"/>
              <a:t>       (iii) </a:t>
            </a:r>
            <a:r>
              <a:rPr lang="en-US" altLang="zh-CN" sz="1800" dirty="0" smtClean="0"/>
              <a:t>Scalable and simple</a:t>
            </a:r>
            <a:endParaRPr lang="en-US" altLang="zh-CN" sz="1800" dirty="0"/>
          </a:p>
        </p:txBody>
      </p:sp>
    </p:spTree>
    <p:extLst>
      <p:ext uri="{BB962C8B-B14F-4D97-AF65-F5344CB8AC3E}">
        <p14:creationId xmlns:p14="http://schemas.microsoft.com/office/powerpoint/2010/main" val="3203826139"/>
      </p:ext>
    </p:extLst>
  </p:cSld>
  <p:clrMapOvr>
    <a:masterClrMapping/>
  </p:clrMapOvr>
  <mc:AlternateContent xmlns:mc="http://schemas.openxmlformats.org/markup-compatibility/2006" xmlns:p14="http://schemas.microsoft.com/office/powerpoint/2010/main">
    <mc:Choice Requires="p14">
      <p:transition p14:dur="250">
        <p:split orient="vert"/>
      </p:transition>
    </mc:Choice>
    <mc:Fallback xmlns="">
      <p:transition>
        <p:split orient="vert"/>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 name="内容占位符 6"/>
              <p:cNvSpPr>
                <a:spLocks noGrp="1"/>
              </p:cNvSpPr>
              <p:nvPr>
                <p:ph idx="4294967295"/>
              </p:nvPr>
            </p:nvSpPr>
            <p:spPr>
              <a:xfrm>
                <a:off x="251520" y="1142738"/>
                <a:ext cx="7380288" cy="341313"/>
              </a:xfrm>
            </p:spPr>
            <p:txBody>
              <a:bodyPr>
                <a:normAutofit fontScale="62500" lnSpcReduction="20000"/>
              </a:bodyPr>
              <a:lstStyle/>
              <a:p>
                <a:r>
                  <a:rPr lang="en-US" altLang="zh-CN" dirty="0"/>
                  <a:t>Testing problem: </a:t>
                </a:r>
                <a14:m>
                  <m:oMath xmlns:m="http://schemas.openxmlformats.org/officeDocument/2006/math">
                    <m:r>
                      <a:rPr lang="en-US" altLang="zh-CN" i="1" dirty="0">
                        <a:latin typeface="Cambria Math" panose="02040503050406030204" pitchFamily="18" charset="0"/>
                      </a:rPr>
                      <m:t>𝑁</m:t>
                    </m:r>
                  </m:oMath>
                </a14:m>
                <a:r>
                  <a:rPr lang="en-US" altLang="zh-CN" dirty="0"/>
                  <a:t> times memory/testing time cost</a:t>
                </a:r>
                <a:endParaRPr lang="zh-CN" altLang="en-US" dirty="0"/>
              </a:p>
            </p:txBody>
          </p:sp>
        </mc:Choice>
        <mc:Fallback xmlns="">
          <p:sp>
            <p:nvSpPr>
              <p:cNvPr id="7" name="内容占位符 6"/>
              <p:cNvSpPr>
                <a:spLocks noGrp="1" noRot="1" noChangeAspect="1" noMove="1" noResize="1" noEditPoints="1" noAdjustHandles="1" noChangeArrowheads="1" noChangeShapeType="1" noTextEdit="1"/>
              </p:cNvSpPr>
              <p:nvPr>
                <p:ph idx="4294967295"/>
              </p:nvPr>
            </p:nvSpPr>
            <p:spPr>
              <a:xfrm>
                <a:off x="251520" y="1142738"/>
                <a:ext cx="7380288" cy="341313"/>
              </a:xfrm>
              <a:blipFill>
                <a:blip r:embed="rId3"/>
                <a:stretch>
                  <a:fillRect l="-743" t="-25000" b="-32143"/>
                </a:stretch>
              </a:blipFill>
            </p:spPr>
            <p:txBody>
              <a:bodyPr/>
              <a:lstStyle/>
              <a:p>
                <a:r>
                  <a:rPr lang="zh-CN" altLang="en-US">
                    <a:noFill/>
                  </a:rPr>
                  <a:t> </a:t>
                </a:r>
              </a:p>
            </p:txBody>
          </p:sp>
        </mc:Fallback>
      </mc:AlternateContent>
      <p:cxnSp>
        <p:nvCxnSpPr>
          <p:cNvPr id="4" name="直接连接符 3"/>
          <p:cNvCxnSpPr/>
          <p:nvPr/>
        </p:nvCxnSpPr>
        <p:spPr bwMode="auto">
          <a:xfrm>
            <a:off x="4121294" y="1537319"/>
            <a:ext cx="0" cy="3465651"/>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633556" y="1486674"/>
            <a:ext cx="3392072" cy="840230"/>
          </a:xfrm>
          <a:prstGeom prst="rect">
            <a:avLst/>
          </a:prstGeom>
          <a:noFill/>
        </p:spPr>
        <p:txBody>
          <a:bodyPr wrap="square" rtlCol="0">
            <a:spAutoFit/>
          </a:bodyPr>
          <a:lstStyle/>
          <a:p>
            <a:r>
              <a:rPr lang="en-US" altLang="zh-CN" sz="1620" b="1" dirty="0"/>
              <a:t>Model compression </a:t>
            </a:r>
            <a:r>
              <a:rPr lang="en-US" altLang="zh-CN" sz="1620" dirty="0"/>
              <a:t>via</a:t>
            </a:r>
          </a:p>
          <a:p>
            <a:r>
              <a:rPr lang="en-US" altLang="zh-CN" sz="1620" dirty="0"/>
              <a:t>Network pruning and retraining</a:t>
            </a:r>
          </a:p>
          <a:p>
            <a:r>
              <a:rPr lang="en-US" altLang="zh-CN" sz="1620" dirty="0"/>
              <a:t>(Song Han et al. 2015, 2017).</a:t>
            </a:r>
            <a:endParaRPr lang="zh-CN" altLang="en-US" sz="1620" dirty="0"/>
          </a:p>
        </p:txBody>
      </p:sp>
      <p:pic>
        <p:nvPicPr>
          <p:cNvPr id="6" name="图片 5" descr="屏幕剪辑"/>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7544" y="2317671"/>
            <a:ext cx="3558084" cy="2020751"/>
          </a:xfrm>
          <a:prstGeom prst="rect">
            <a:avLst/>
          </a:prstGeom>
        </p:spPr>
      </p:pic>
      <p:sp>
        <p:nvSpPr>
          <p:cNvPr id="8" name="文本框 7"/>
          <p:cNvSpPr txBox="1"/>
          <p:nvPr/>
        </p:nvSpPr>
        <p:spPr>
          <a:xfrm>
            <a:off x="4283943" y="1486675"/>
            <a:ext cx="4456645" cy="840230"/>
          </a:xfrm>
          <a:prstGeom prst="rect">
            <a:avLst/>
          </a:prstGeom>
          <a:noFill/>
        </p:spPr>
        <p:txBody>
          <a:bodyPr wrap="square" rtlCol="0">
            <a:spAutoFit/>
          </a:bodyPr>
          <a:lstStyle/>
          <a:p>
            <a:r>
              <a:rPr lang="en-US" altLang="zh-CN" sz="1620" b="1" dirty="0"/>
              <a:t>Sparse structure learning </a:t>
            </a:r>
            <a:r>
              <a:rPr lang="en-US" altLang="zh-CN" sz="1620" dirty="0"/>
              <a:t>via</a:t>
            </a:r>
          </a:p>
          <a:p>
            <a:r>
              <a:rPr lang="en-US" altLang="zh-CN" sz="1620" dirty="0"/>
              <a:t>Group Lasso penalty (Ming Yuan et al. 2006) on deep models (Wei Wen et al. 2016, 2017).</a:t>
            </a:r>
            <a:endParaRPr lang="zh-CN" altLang="en-US" sz="1620" dirty="0"/>
          </a:p>
        </p:txBody>
      </p:sp>
      <p:pic>
        <p:nvPicPr>
          <p:cNvPr id="2" name="图片 1" descr="屏幕剪辑"/>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77824" y="2329528"/>
            <a:ext cx="3137040" cy="2331810"/>
          </a:xfrm>
          <a:prstGeom prst="rect">
            <a:avLst/>
          </a:prstGeom>
        </p:spPr>
      </p:pic>
      <p:sp>
        <p:nvSpPr>
          <p:cNvPr id="9" name="文本框 8"/>
          <p:cNvSpPr txBox="1"/>
          <p:nvPr/>
        </p:nvSpPr>
        <p:spPr>
          <a:xfrm>
            <a:off x="5151873" y="4661338"/>
            <a:ext cx="2956906" cy="341632"/>
          </a:xfrm>
          <a:prstGeom prst="rect">
            <a:avLst/>
          </a:prstGeom>
          <a:noFill/>
        </p:spPr>
        <p:txBody>
          <a:bodyPr wrap="square" rtlCol="0">
            <a:spAutoFit/>
          </a:bodyPr>
          <a:lstStyle/>
          <a:p>
            <a:r>
              <a:rPr lang="en-US" altLang="zh-CN" sz="1620" dirty="0"/>
              <a:t>Figure from Wei Wen et al. 2017</a:t>
            </a:r>
            <a:endParaRPr lang="zh-CN" altLang="en-US" sz="1620" dirty="0"/>
          </a:p>
        </p:txBody>
      </p:sp>
      <p:sp>
        <p:nvSpPr>
          <p:cNvPr id="10" name="文本框 9"/>
          <p:cNvSpPr txBox="1"/>
          <p:nvPr/>
        </p:nvSpPr>
        <p:spPr>
          <a:xfrm>
            <a:off x="1001740" y="4661338"/>
            <a:ext cx="2956906" cy="341632"/>
          </a:xfrm>
          <a:prstGeom prst="rect">
            <a:avLst/>
          </a:prstGeom>
          <a:noFill/>
        </p:spPr>
        <p:txBody>
          <a:bodyPr wrap="square" rtlCol="0">
            <a:spAutoFit/>
          </a:bodyPr>
          <a:lstStyle/>
          <a:p>
            <a:r>
              <a:rPr lang="en-US" altLang="zh-CN" sz="1620" dirty="0"/>
              <a:t>Figure from Song Han et al. 2015</a:t>
            </a:r>
            <a:endParaRPr lang="zh-CN" altLang="en-US" sz="1620" dirty="0"/>
          </a:p>
        </p:txBody>
      </p:sp>
      <p:sp>
        <p:nvSpPr>
          <p:cNvPr id="11" name="Rectangle 48"/>
          <p:cNvSpPr/>
          <p:nvPr/>
        </p:nvSpPr>
        <p:spPr>
          <a:xfrm>
            <a:off x="800098" y="339502"/>
            <a:ext cx="2907806" cy="4320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r>
              <a:rPr lang="en-US" altLang="zh-CN" sz="2000" b="1" dirty="0" smtClean="0">
                <a:solidFill>
                  <a:srgbClr val="002A6D"/>
                </a:solidFill>
                <a:latin typeface="微软雅黑" panose="020B0503020204020204" pitchFamily="34" charset="-122"/>
                <a:ea typeface="微软雅黑" panose="020B0503020204020204" pitchFamily="34" charset="-122"/>
              </a:rPr>
              <a:t>Related Work</a:t>
            </a:r>
            <a:endParaRPr lang="zh-CN" altLang="en-US" sz="2000" b="1" dirty="0">
              <a:solidFill>
                <a:srgbClr val="002A6D"/>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235609267"/>
      </p:ext>
    </p:extLst>
  </p:cSld>
  <p:clrMapOvr>
    <a:masterClrMapping/>
  </p:clrMapOvr>
  <mc:AlternateContent xmlns:mc="http://schemas.openxmlformats.org/markup-compatibility/2006" xmlns:p14="http://schemas.microsoft.com/office/powerpoint/2010/main">
    <mc:Choice Requires="p14">
      <p:transition p14:dur="250">
        <p:split orient="vert"/>
      </p:transition>
    </mc:Choice>
    <mc:Fallback xmlns="">
      <p:transition>
        <p:split orient="vert"/>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4294967295"/>
          </p:nvPr>
        </p:nvSpPr>
        <p:spPr>
          <a:xfrm>
            <a:off x="603187" y="1277595"/>
            <a:ext cx="1974850" cy="568325"/>
          </a:xfrm>
        </p:spPr>
        <p:txBody>
          <a:bodyPr>
            <a:normAutofit lnSpcReduction="10000"/>
          </a:bodyPr>
          <a:lstStyle/>
          <a:p>
            <a:pPr marL="0" indent="0" algn="ctr">
              <a:buNone/>
            </a:pPr>
            <a:r>
              <a:rPr lang="en-US" altLang="zh-CN" sz="1440" b="1" dirty="0"/>
              <a:t>SG-MCMC based </a:t>
            </a:r>
          </a:p>
          <a:p>
            <a:pPr marL="0" indent="0" algn="ctr">
              <a:buNone/>
            </a:pPr>
            <a:r>
              <a:rPr lang="en-US" altLang="zh-CN" sz="1440" b="1" dirty="0"/>
              <a:t>Bayesian learning</a:t>
            </a:r>
          </a:p>
          <a:p>
            <a:pPr marL="0" indent="0" algn="ctr">
              <a:buNone/>
            </a:pPr>
            <a:endParaRPr lang="en-US" altLang="zh-CN" sz="1440" dirty="0"/>
          </a:p>
          <a:p>
            <a:pPr marL="0" indent="0" algn="ctr">
              <a:buNone/>
            </a:pPr>
            <a:endParaRPr lang="en-US" altLang="zh-CN" sz="1440" dirty="0"/>
          </a:p>
          <a:p>
            <a:pPr marL="0" indent="0">
              <a:buNone/>
            </a:pPr>
            <a:endParaRPr lang="en-US" altLang="zh-CN" sz="1350" dirty="0"/>
          </a:p>
          <a:p>
            <a:pPr marL="0" indent="0">
              <a:buNone/>
            </a:pPr>
            <a:endParaRPr lang="en-US" altLang="zh-CN" sz="1350" dirty="0"/>
          </a:p>
          <a:p>
            <a:pPr marL="0" indent="0">
              <a:buNone/>
            </a:pPr>
            <a:endParaRPr lang="en-US" altLang="zh-CN" sz="1350" dirty="0"/>
          </a:p>
        </p:txBody>
      </p:sp>
      <p:sp>
        <p:nvSpPr>
          <p:cNvPr id="4" name="加号 3"/>
          <p:cNvSpPr/>
          <p:nvPr/>
        </p:nvSpPr>
        <p:spPr bwMode="auto">
          <a:xfrm>
            <a:off x="2815996" y="1270711"/>
            <a:ext cx="540068" cy="540068"/>
          </a:xfrm>
          <a:prstGeom prst="mathPlus">
            <a:avLst>
              <a:gd name="adj1" fmla="val 11212"/>
            </a:avLst>
          </a:prstGeom>
          <a:solidFill>
            <a:schemeClr val="accent1"/>
          </a:solidFill>
          <a:ln w="28575" cap="flat" cmpd="sng" algn="ctr">
            <a:solidFill>
              <a:schemeClr val="tx1"/>
            </a:solidFill>
            <a:prstDash val="solid"/>
            <a:round/>
            <a:headEnd type="none" w="med" len="med"/>
            <a:tailEnd type="none" w="med" len="med"/>
          </a:ln>
          <a:effectLst/>
        </p:spPr>
        <p:txBody>
          <a:bodyPr vert="horz" wrap="square" lIns="61722" tIns="30861" rIns="61722" bIns="30861" numCol="1" rtlCol="0" anchor="ctr" anchorCtr="0" compatLnSpc="1">
            <a:prstTxWarp prst="textNoShape">
              <a:avLst/>
            </a:prstTxWarp>
          </a:bodyPr>
          <a:lstStyle/>
          <a:p>
            <a:pPr marL="1072" indent="-1072" fontAlgn="base">
              <a:spcBef>
                <a:spcPct val="50000"/>
              </a:spcBef>
              <a:spcAft>
                <a:spcPct val="0"/>
              </a:spcAft>
              <a:buClr>
                <a:schemeClr val="tx2"/>
              </a:buClr>
              <a:buSzPct val="60000"/>
            </a:pPr>
            <a:endParaRPr lang="zh-CN" altLang="en-US" sz="1350">
              <a:latin typeface="Arial" charset="0"/>
              <a:cs typeface="Arial" charset="0"/>
            </a:endParaRPr>
          </a:p>
        </p:txBody>
      </p:sp>
      <p:sp>
        <p:nvSpPr>
          <p:cNvPr id="7" name="加号 6"/>
          <p:cNvSpPr/>
          <p:nvPr/>
        </p:nvSpPr>
        <p:spPr bwMode="auto">
          <a:xfrm>
            <a:off x="5719356" y="1270711"/>
            <a:ext cx="540068" cy="540068"/>
          </a:xfrm>
          <a:prstGeom prst="mathPlus">
            <a:avLst>
              <a:gd name="adj1" fmla="val 11212"/>
            </a:avLst>
          </a:prstGeom>
          <a:solidFill>
            <a:schemeClr val="accent1"/>
          </a:solidFill>
          <a:ln w="28575" cap="flat" cmpd="sng" algn="ctr">
            <a:solidFill>
              <a:schemeClr val="tx1"/>
            </a:solidFill>
            <a:prstDash val="solid"/>
            <a:round/>
            <a:headEnd type="none" w="med" len="med"/>
            <a:tailEnd type="none" w="med" len="med"/>
          </a:ln>
          <a:effectLst/>
        </p:spPr>
        <p:txBody>
          <a:bodyPr vert="horz" wrap="square" lIns="61722" tIns="30861" rIns="61722" bIns="30861" numCol="1" rtlCol="0" anchor="ctr" anchorCtr="0" compatLnSpc="1">
            <a:prstTxWarp prst="textNoShape">
              <a:avLst/>
            </a:prstTxWarp>
          </a:bodyPr>
          <a:lstStyle/>
          <a:p>
            <a:pPr marL="1072" indent="-1072" fontAlgn="base">
              <a:spcBef>
                <a:spcPct val="50000"/>
              </a:spcBef>
              <a:spcAft>
                <a:spcPct val="0"/>
              </a:spcAft>
              <a:buClr>
                <a:schemeClr val="tx2"/>
              </a:buClr>
              <a:buSzPct val="60000"/>
            </a:pPr>
            <a:endParaRPr lang="zh-CN" altLang="en-US" sz="1350">
              <a:latin typeface="Arial" charset="0"/>
              <a:cs typeface="Arial" charset="0"/>
            </a:endParaRPr>
          </a:p>
        </p:txBody>
      </p:sp>
      <p:pic>
        <p:nvPicPr>
          <p:cNvPr id="10" name="内容占位符 5"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648448" y="2067694"/>
            <a:ext cx="7778524" cy="2623379"/>
          </a:xfrm>
          <a:prstGeom prst="rect">
            <a:avLst/>
          </a:prstGeom>
          <a:noFill/>
          <a:ln w="9525">
            <a:noFill/>
            <a:miter lim="800000"/>
            <a:headEnd/>
            <a:tailEnd/>
          </a:ln>
          <a:effectLst/>
        </p:spPr>
      </p:pic>
      <p:sp>
        <p:nvSpPr>
          <p:cNvPr id="6" name="矩形 5"/>
          <p:cNvSpPr/>
          <p:nvPr/>
        </p:nvSpPr>
        <p:spPr>
          <a:xfrm>
            <a:off x="3592208" y="1383779"/>
            <a:ext cx="1891004" cy="313932"/>
          </a:xfrm>
          <a:prstGeom prst="rect">
            <a:avLst/>
          </a:prstGeom>
        </p:spPr>
        <p:txBody>
          <a:bodyPr wrap="square">
            <a:spAutoFit/>
          </a:bodyPr>
          <a:lstStyle/>
          <a:p>
            <a:pPr algn="ctr"/>
            <a:r>
              <a:rPr lang="en-US" altLang="zh-CN" sz="1440" b="1" dirty="0"/>
              <a:t>Group Sparse Prior </a:t>
            </a:r>
          </a:p>
        </p:txBody>
      </p:sp>
      <p:sp>
        <p:nvSpPr>
          <p:cNvPr id="12" name="矩形 11"/>
          <p:cNvSpPr/>
          <p:nvPr/>
        </p:nvSpPr>
        <p:spPr>
          <a:xfrm>
            <a:off x="6495568" y="1277595"/>
            <a:ext cx="1529971" cy="535531"/>
          </a:xfrm>
          <a:prstGeom prst="rect">
            <a:avLst/>
          </a:prstGeom>
        </p:spPr>
        <p:txBody>
          <a:bodyPr wrap="none">
            <a:spAutoFit/>
          </a:bodyPr>
          <a:lstStyle/>
          <a:p>
            <a:r>
              <a:rPr lang="en-US" altLang="zh-CN" sz="1440" b="1" dirty="0"/>
              <a:t>Network Pruning </a:t>
            </a:r>
          </a:p>
          <a:p>
            <a:r>
              <a:rPr lang="en-US" altLang="zh-CN" sz="1440" b="1" dirty="0"/>
              <a:t>&amp; Retraining</a:t>
            </a:r>
            <a:endParaRPr lang="zh-CN" altLang="en-US" sz="1440" b="1" dirty="0"/>
          </a:p>
        </p:txBody>
      </p:sp>
      <p:sp>
        <p:nvSpPr>
          <p:cNvPr id="9" name="Rectangle 48"/>
          <p:cNvSpPr/>
          <p:nvPr/>
        </p:nvSpPr>
        <p:spPr>
          <a:xfrm>
            <a:off x="800098" y="339502"/>
            <a:ext cx="3555878" cy="4320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r>
              <a:rPr lang="en-US" altLang="zh-CN" sz="2000" b="1" dirty="0" smtClean="0">
                <a:solidFill>
                  <a:srgbClr val="002A6D"/>
                </a:solidFill>
                <a:latin typeface="微软雅黑" panose="020B0503020204020204" pitchFamily="34" charset="-122"/>
                <a:ea typeface="微软雅黑" panose="020B0503020204020204" pitchFamily="34" charset="-122"/>
              </a:rPr>
              <a:t>Our Work</a:t>
            </a:r>
            <a:endParaRPr lang="zh-CN" altLang="en-US" sz="2000" b="1" dirty="0">
              <a:solidFill>
                <a:srgbClr val="002A6D"/>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170559439"/>
      </p:ext>
    </p:extLst>
  </p:cSld>
  <p:clrMapOvr>
    <a:masterClrMapping/>
  </p:clrMapOvr>
  <mc:AlternateContent xmlns:mc="http://schemas.openxmlformats.org/markup-compatibility/2006" xmlns:p14="http://schemas.microsoft.com/office/powerpoint/2010/main">
    <mc:Choice Requires="p14">
      <p:transition p14:dur="250">
        <p:split orient="vert"/>
      </p:transition>
    </mc:Choice>
    <mc:Fallback xmlns="">
      <p:transition>
        <p:split orient="vert"/>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4294967295"/>
              </p:nvPr>
            </p:nvSpPr>
            <p:spPr>
              <a:xfrm>
                <a:off x="323528" y="1131590"/>
                <a:ext cx="8229600" cy="3816424"/>
              </a:xfrm>
            </p:spPr>
            <p:txBody>
              <a:bodyPr>
                <a:noAutofit/>
              </a:bodyPr>
              <a:lstStyle/>
              <a:p>
                <a14:m>
                  <m:oMath xmlns:m="http://schemas.openxmlformats.org/officeDocument/2006/math">
                    <m:r>
                      <a:rPr lang="en-US" altLang="zh-CN" sz="1600" i="1" smtClean="0">
                        <a:latin typeface="Cambria Math" panose="02040503050406030204" pitchFamily="18" charset="0"/>
                      </a:rPr>
                      <m:t>𝑝</m:t>
                    </m:r>
                    <m:d>
                      <m:dPr>
                        <m:ctrlPr>
                          <a:rPr lang="en-US" altLang="zh-CN" sz="1600" i="1">
                            <a:latin typeface="Cambria Math" panose="02040503050406030204" pitchFamily="18" charset="0"/>
                          </a:rPr>
                        </m:ctrlPr>
                      </m:dPr>
                      <m:e>
                        <m:acc>
                          <m:accPr>
                            <m:chr m:val="̃"/>
                            <m:ctrlPr>
                              <a:rPr lang="en-US" altLang="zh-CN" sz="1600" i="1">
                                <a:latin typeface="Cambria Math" panose="02040503050406030204" pitchFamily="18" charset="0"/>
                              </a:rPr>
                            </m:ctrlPr>
                          </m:accPr>
                          <m:e>
                            <m:r>
                              <a:rPr lang="en-US" altLang="zh-CN" sz="1600" i="1">
                                <a:latin typeface="Cambria Math" panose="02040503050406030204" pitchFamily="18" charset="0"/>
                              </a:rPr>
                              <m:t>𝑦</m:t>
                            </m:r>
                          </m:e>
                        </m:acc>
                      </m:e>
                      <m:e>
                        <m:acc>
                          <m:accPr>
                            <m:chr m:val="̃"/>
                            <m:ctrlPr>
                              <a:rPr lang="en-US" altLang="zh-CN" sz="1600" i="1">
                                <a:latin typeface="Cambria Math" panose="02040503050406030204" pitchFamily="18" charset="0"/>
                              </a:rPr>
                            </m:ctrlPr>
                          </m:accPr>
                          <m:e>
                            <m:r>
                              <a:rPr lang="en-US" altLang="zh-CN" sz="1600" i="1" dirty="0">
                                <a:latin typeface="Cambria Math" panose="02040503050406030204" pitchFamily="18" charset="0"/>
                              </a:rPr>
                              <m:t>𝑥</m:t>
                            </m:r>
                          </m:e>
                        </m:acc>
                        <m:r>
                          <a:rPr lang="en-US" altLang="zh-CN" sz="1600" i="1" dirty="0">
                            <a:latin typeface="Cambria Math" panose="02040503050406030204" pitchFamily="18" charset="0"/>
                          </a:rPr>
                          <m:t>,</m:t>
                        </m:r>
                        <m:r>
                          <a:rPr lang="en-US" altLang="zh-CN" sz="1600" i="1" dirty="0">
                            <a:latin typeface="Cambria Math" panose="02040503050406030204" pitchFamily="18" charset="0"/>
                          </a:rPr>
                          <m:t>𝐷</m:t>
                        </m:r>
                      </m:e>
                    </m:d>
                    <m:r>
                      <a:rPr lang="en-US" altLang="zh-CN" sz="1600" i="1" dirty="0">
                        <a:latin typeface="Cambria Math" panose="02040503050406030204" pitchFamily="18" charset="0"/>
                        <a:ea typeface="Cambria Math" panose="02040503050406030204" pitchFamily="18" charset="0"/>
                      </a:rPr>
                      <m:t>≈</m:t>
                    </m:r>
                    <m:f>
                      <m:fPr>
                        <m:ctrlPr>
                          <a:rPr lang="en-US" altLang="zh-CN" sz="1600" i="1" dirty="0">
                            <a:latin typeface="Cambria Math" panose="02040503050406030204" pitchFamily="18" charset="0"/>
                            <a:ea typeface="Cambria Math" panose="02040503050406030204" pitchFamily="18" charset="0"/>
                          </a:rPr>
                        </m:ctrlPr>
                      </m:fPr>
                      <m:num>
                        <m:r>
                          <a:rPr lang="en-US" altLang="zh-CN" sz="1600" i="1" dirty="0">
                            <a:latin typeface="Cambria Math" panose="02040503050406030204" pitchFamily="18" charset="0"/>
                            <a:ea typeface="Cambria Math" panose="02040503050406030204" pitchFamily="18" charset="0"/>
                          </a:rPr>
                          <m:t>1</m:t>
                        </m:r>
                      </m:num>
                      <m:den>
                        <m:r>
                          <a:rPr lang="en-US" altLang="zh-CN" sz="1600" i="1" dirty="0">
                            <a:latin typeface="Cambria Math" panose="02040503050406030204" pitchFamily="18" charset="0"/>
                            <a:ea typeface="Cambria Math" panose="02040503050406030204" pitchFamily="18" charset="0"/>
                          </a:rPr>
                          <m:t>𝑀</m:t>
                        </m:r>
                      </m:den>
                    </m:f>
                    <m:nary>
                      <m:naryPr>
                        <m:chr m:val="∑"/>
                        <m:ctrlPr>
                          <a:rPr lang="en-US" altLang="zh-CN" sz="1600" i="1" dirty="0">
                            <a:latin typeface="Cambria Math" panose="02040503050406030204" pitchFamily="18" charset="0"/>
                            <a:ea typeface="Cambria Math" panose="02040503050406030204" pitchFamily="18" charset="0"/>
                          </a:rPr>
                        </m:ctrlPr>
                      </m:naryPr>
                      <m:sub>
                        <m:r>
                          <a:rPr lang="en-US" altLang="zh-CN" sz="1600" i="1" dirty="0">
                            <a:latin typeface="Cambria Math" panose="02040503050406030204" pitchFamily="18" charset="0"/>
                            <a:ea typeface="Cambria Math" panose="02040503050406030204" pitchFamily="18" charset="0"/>
                          </a:rPr>
                          <m:t>𝑚</m:t>
                        </m:r>
                        <m:r>
                          <a:rPr lang="en-US" altLang="zh-CN" sz="1600" i="1" dirty="0">
                            <a:latin typeface="Cambria Math" panose="02040503050406030204" pitchFamily="18" charset="0"/>
                            <a:ea typeface="Cambria Math" panose="02040503050406030204" pitchFamily="18" charset="0"/>
                          </a:rPr>
                          <m:t>=1</m:t>
                        </m:r>
                      </m:sub>
                      <m:sup>
                        <m:r>
                          <a:rPr lang="en-US" altLang="zh-CN" sz="1600" i="1" dirty="0">
                            <a:latin typeface="Cambria Math" panose="02040503050406030204" pitchFamily="18" charset="0"/>
                            <a:ea typeface="Cambria Math" panose="02040503050406030204" pitchFamily="18" charset="0"/>
                          </a:rPr>
                          <m:t>𝑀</m:t>
                        </m:r>
                      </m:sup>
                      <m:e>
                        <m:r>
                          <a:rPr lang="en-US" altLang="zh-CN" sz="1600" i="1">
                            <a:latin typeface="Cambria Math" panose="02040503050406030204" pitchFamily="18" charset="0"/>
                          </a:rPr>
                          <m:t>𝑝</m:t>
                        </m:r>
                        <m:d>
                          <m:dPr>
                            <m:ctrlPr>
                              <a:rPr lang="en-US" altLang="zh-CN" sz="1600" i="1">
                                <a:latin typeface="Cambria Math" panose="02040503050406030204" pitchFamily="18" charset="0"/>
                              </a:rPr>
                            </m:ctrlPr>
                          </m:dPr>
                          <m:e>
                            <m:acc>
                              <m:accPr>
                                <m:chr m:val="̃"/>
                                <m:ctrlPr>
                                  <a:rPr lang="en-US" altLang="zh-CN" sz="1600" i="1">
                                    <a:latin typeface="Cambria Math" panose="02040503050406030204" pitchFamily="18" charset="0"/>
                                  </a:rPr>
                                </m:ctrlPr>
                              </m:accPr>
                              <m:e>
                                <m:r>
                                  <a:rPr lang="en-US" altLang="zh-CN" sz="1600" i="1">
                                    <a:latin typeface="Cambria Math" panose="02040503050406030204" pitchFamily="18" charset="0"/>
                                  </a:rPr>
                                  <m:t>𝑦</m:t>
                                </m:r>
                              </m:e>
                            </m:acc>
                          </m:e>
                          <m:e>
                            <m:acc>
                              <m:accPr>
                                <m:chr m:val="̃"/>
                                <m:ctrlPr>
                                  <a:rPr lang="en-US" altLang="zh-CN" sz="1600" i="1">
                                    <a:latin typeface="Cambria Math" panose="02040503050406030204" pitchFamily="18" charset="0"/>
                                  </a:rPr>
                                </m:ctrlPr>
                              </m:accPr>
                              <m:e>
                                <m:r>
                                  <a:rPr lang="en-US" altLang="zh-CN" sz="1600" i="1" dirty="0">
                                    <a:latin typeface="Cambria Math" panose="02040503050406030204" pitchFamily="18" charset="0"/>
                                  </a:rPr>
                                  <m:t>𝑥</m:t>
                                </m:r>
                              </m:e>
                            </m:acc>
                            <m:r>
                              <a:rPr lang="en-US" altLang="zh-CN" sz="1600" i="1" dirty="0">
                                <a:latin typeface="Cambria Math" panose="02040503050406030204" pitchFamily="18" charset="0"/>
                              </a:rPr>
                              <m:t>,</m:t>
                            </m:r>
                            <m:sSub>
                              <m:sSubPr>
                                <m:ctrlPr>
                                  <a:rPr lang="en-US" altLang="zh-CN" sz="1600" i="1" dirty="0">
                                    <a:latin typeface="Cambria Math" panose="02040503050406030204" pitchFamily="18" charset="0"/>
                                  </a:rPr>
                                </m:ctrlPr>
                              </m:sSubPr>
                              <m:e>
                                <m:r>
                                  <a:rPr lang="zh-CN" altLang="en-US" sz="1600" i="1">
                                    <a:latin typeface="Cambria Math" panose="02040503050406030204" pitchFamily="18" charset="0"/>
                                  </a:rPr>
                                  <m:t>𝜃</m:t>
                                </m:r>
                              </m:e>
                              <m:sub>
                                <m:r>
                                  <a:rPr lang="en-US" altLang="zh-CN" sz="1600" i="1">
                                    <a:latin typeface="Cambria Math" panose="02040503050406030204" pitchFamily="18" charset="0"/>
                                  </a:rPr>
                                  <m:t>𝑚</m:t>
                                </m:r>
                              </m:sub>
                            </m:sSub>
                          </m:e>
                        </m:d>
                      </m:e>
                    </m:nary>
                  </m:oMath>
                </a14:m>
                <a:r>
                  <a:rPr lang="en-US" altLang="zh-CN" sz="1600" dirty="0"/>
                  <a:t>    ,</a:t>
                </a:r>
                <a14:m>
                  <m:oMath xmlns:m="http://schemas.openxmlformats.org/officeDocument/2006/math">
                    <m:sSub>
                      <m:sSubPr>
                        <m:ctrlPr>
                          <a:rPr lang="en-US" altLang="zh-CN" sz="1600" i="1" dirty="0">
                            <a:latin typeface="Cambria Math" panose="02040503050406030204" pitchFamily="18" charset="0"/>
                          </a:rPr>
                        </m:ctrlPr>
                      </m:sSubPr>
                      <m:e>
                        <m:r>
                          <a:rPr lang="zh-CN" altLang="en-US" sz="1600" i="1">
                            <a:latin typeface="Cambria Math" panose="02040503050406030204" pitchFamily="18" charset="0"/>
                          </a:rPr>
                          <m:t>𝜃</m:t>
                        </m:r>
                      </m:e>
                      <m:sub>
                        <m:r>
                          <a:rPr lang="en-US" altLang="zh-CN" sz="1600" i="1">
                            <a:latin typeface="Cambria Math" panose="02040503050406030204" pitchFamily="18" charset="0"/>
                          </a:rPr>
                          <m:t>𝑚</m:t>
                        </m:r>
                      </m:sub>
                    </m:sSub>
                    <m:r>
                      <a:rPr lang="en-US" altLang="zh-CN" sz="1600" i="1">
                        <a:latin typeface="Cambria Math" panose="02040503050406030204" pitchFamily="18" charset="0"/>
                      </a:rPr>
                      <m:t>~</m:t>
                    </m:r>
                  </m:oMath>
                </a14:m>
                <a:r>
                  <a:rPr lang="en-US" altLang="zh-CN" sz="1600" dirty="0"/>
                  <a:t> </a:t>
                </a:r>
                <a14:m>
                  <m:oMath xmlns:m="http://schemas.openxmlformats.org/officeDocument/2006/math">
                    <m:r>
                      <a:rPr lang="en-US" altLang="zh-CN" sz="1600" i="1">
                        <a:latin typeface="Cambria Math" panose="02040503050406030204" pitchFamily="18" charset="0"/>
                      </a:rPr>
                      <m:t>𝑝</m:t>
                    </m:r>
                    <m:d>
                      <m:dPr>
                        <m:ctrlPr>
                          <a:rPr lang="en-US" altLang="zh-CN" sz="1600" i="1">
                            <a:latin typeface="Cambria Math" panose="02040503050406030204" pitchFamily="18" charset="0"/>
                          </a:rPr>
                        </m:ctrlPr>
                      </m:dPr>
                      <m:e>
                        <m:r>
                          <a:rPr lang="zh-CN" altLang="en-US" sz="1600" i="1">
                            <a:latin typeface="Cambria Math" panose="02040503050406030204" pitchFamily="18" charset="0"/>
                          </a:rPr>
                          <m:t>𝜃</m:t>
                        </m:r>
                      </m:e>
                      <m:e>
                        <m:r>
                          <a:rPr lang="en-US" altLang="zh-CN" sz="1600" i="1">
                            <a:latin typeface="Cambria Math" panose="02040503050406030204" pitchFamily="18" charset="0"/>
                          </a:rPr>
                          <m:t>𝐷</m:t>
                        </m:r>
                      </m:e>
                    </m:d>
                  </m:oMath>
                </a14:m>
                <a:endParaRPr lang="en-US" altLang="zh-CN" sz="1600" dirty="0" smtClean="0"/>
              </a:p>
              <a:p>
                <a:r>
                  <a:rPr lang="en-US" altLang="zh-CN" sz="1600" dirty="0" smtClean="0"/>
                  <a:t>Goal of training: </a:t>
                </a:r>
                <a:r>
                  <a:rPr lang="en-US" altLang="zh-CN" sz="1600" dirty="0" smtClean="0"/>
                  <a:t>sample </a:t>
                </a:r>
                <a14:m>
                  <m:oMath xmlns:m="http://schemas.openxmlformats.org/officeDocument/2006/math">
                    <m:r>
                      <a:rPr lang="en-US" altLang="zh-CN" sz="1600" i="1">
                        <a:latin typeface="Cambria Math" panose="02040503050406030204" pitchFamily="18" charset="0"/>
                      </a:rPr>
                      <m:t>𝜃</m:t>
                    </m:r>
                    <m:r>
                      <a:rPr lang="en-US" altLang="zh-CN" sz="1600" i="1">
                        <a:latin typeface="Cambria Math" panose="02040503050406030204" pitchFamily="18" charset="0"/>
                      </a:rPr>
                      <m:t>~</m:t>
                    </m:r>
                    <m:r>
                      <a:rPr lang="en-US" altLang="zh-CN" sz="1600" i="1">
                        <a:latin typeface="Cambria Math" panose="02040503050406030204" pitchFamily="18" charset="0"/>
                      </a:rPr>
                      <m:t>𝑝</m:t>
                    </m:r>
                    <m:d>
                      <m:dPr>
                        <m:ctrlPr>
                          <a:rPr lang="en-US" altLang="zh-CN" sz="1600" i="1">
                            <a:latin typeface="Cambria Math" panose="02040503050406030204" pitchFamily="18" charset="0"/>
                          </a:rPr>
                        </m:ctrlPr>
                      </m:dPr>
                      <m:e>
                        <m:r>
                          <a:rPr lang="zh-CN" altLang="en-US" sz="1600" i="1">
                            <a:latin typeface="Cambria Math" panose="02040503050406030204" pitchFamily="18" charset="0"/>
                          </a:rPr>
                          <m:t>𝜃</m:t>
                        </m:r>
                      </m:e>
                      <m:e>
                        <m:r>
                          <a:rPr lang="en-US" altLang="zh-CN" sz="1600" i="1">
                            <a:latin typeface="Cambria Math" panose="02040503050406030204" pitchFamily="18" charset="0"/>
                          </a:rPr>
                          <m:t>𝐷</m:t>
                        </m:r>
                      </m:e>
                    </m:d>
                  </m:oMath>
                </a14:m>
                <a:r>
                  <a:rPr lang="en-US" altLang="zh-CN" sz="1600" dirty="0"/>
                  <a:t>, obtain </a:t>
                </a:r>
                <a14:m>
                  <m:oMath xmlns:m="http://schemas.openxmlformats.org/officeDocument/2006/math">
                    <m:sSubSup>
                      <m:sSubSupPr>
                        <m:ctrlPr>
                          <a:rPr lang="en-US" altLang="zh-CN" sz="1600" i="1">
                            <a:latin typeface="Cambria Math" panose="02040503050406030204" pitchFamily="18" charset="0"/>
                          </a:rPr>
                        </m:ctrlPr>
                      </m:sSubSupPr>
                      <m:e>
                        <m:d>
                          <m:dPr>
                            <m:begChr m:val="{"/>
                            <m:endChr m:val="}"/>
                            <m:ctrlPr>
                              <a:rPr lang="en-US" altLang="zh-CN" sz="1600" i="1">
                                <a:latin typeface="Cambria Math" panose="02040503050406030204" pitchFamily="18" charset="0"/>
                              </a:rPr>
                            </m:ctrlPr>
                          </m:dPr>
                          <m:e>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𝜃</m:t>
                                </m:r>
                              </m:e>
                              <m:sub>
                                <m:r>
                                  <a:rPr lang="en-US" altLang="zh-CN" sz="1600" i="1">
                                    <a:latin typeface="Cambria Math" panose="02040503050406030204" pitchFamily="18" charset="0"/>
                                  </a:rPr>
                                  <m:t>𝑚</m:t>
                                </m:r>
                              </m:sub>
                            </m:sSub>
                          </m:e>
                        </m:d>
                      </m:e>
                      <m:sub>
                        <m:r>
                          <a:rPr lang="en-US" altLang="zh-CN" sz="1600" i="1">
                            <a:latin typeface="Cambria Math" panose="02040503050406030204" pitchFamily="18" charset="0"/>
                          </a:rPr>
                          <m:t>𝑚</m:t>
                        </m:r>
                        <m:r>
                          <a:rPr lang="en-US" altLang="zh-CN" sz="1600" i="1">
                            <a:latin typeface="Cambria Math" panose="02040503050406030204" pitchFamily="18" charset="0"/>
                          </a:rPr>
                          <m:t>=1</m:t>
                        </m:r>
                      </m:sub>
                      <m:sup>
                        <m:r>
                          <a:rPr lang="en-US" altLang="zh-CN" sz="1600" i="1">
                            <a:latin typeface="Cambria Math" panose="02040503050406030204" pitchFamily="18" charset="0"/>
                          </a:rPr>
                          <m:t>𝑀</m:t>
                        </m:r>
                      </m:sup>
                    </m:sSubSup>
                  </m:oMath>
                </a14:m>
                <a:r>
                  <a:rPr lang="en-US" altLang="zh-CN" sz="1600" dirty="0" smtClean="0"/>
                  <a:t> via SG-MCMC</a:t>
                </a:r>
              </a:p>
              <a:p>
                <a:pPr marL="0" indent="0">
                  <a:buNone/>
                </a:pPr>
                <a:endParaRPr lang="en-US" altLang="zh-CN" sz="1600" dirty="0"/>
              </a:p>
              <a:p>
                <a:pPr marL="0" indent="0">
                  <a:spcBef>
                    <a:spcPts val="0"/>
                  </a:spcBef>
                  <a:buNone/>
                </a:pPr>
                <a:r>
                  <a:rPr lang="en-US" altLang="zh-CN" sz="1600" b="1" dirty="0" smtClean="0"/>
                  <a:t>     </a:t>
                </a:r>
                <a:r>
                  <a:rPr lang="en-US" altLang="zh-CN" sz="1600" b="1" dirty="0" smtClean="0"/>
                  <a:t>   Stochastic </a:t>
                </a:r>
                <a:r>
                  <a:rPr lang="en-US" altLang="zh-CN" sz="1600" b="1" dirty="0"/>
                  <a:t>Gradient </a:t>
                </a:r>
                <a:r>
                  <a:rPr lang="en-US" altLang="zh-CN" sz="1600" b="1" dirty="0" err="1"/>
                  <a:t>Langevin</a:t>
                </a:r>
                <a:r>
                  <a:rPr lang="en-US" altLang="zh-CN" sz="1600" b="1" dirty="0"/>
                  <a:t> Dynamic </a:t>
                </a:r>
                <a:r>
                  <a:rPr lang="en-US" altLang="zh-CN" sz="1600" dirty="0" smtClean="0"/>
                  <a:t>(Welling </a:t>
                </a:r>
                <a:r>
                  <a:rPr lang="en-US" altLang="zh-CN" sz="1600" dirty="0"/>
                  <a:t>and </a:t>
                </a:r>
                <a:r>
                  <a:rPr lang="en-US" altLang="zh-CN" sz="1600" dirty="0" err="1" smtClean="0"/>
                  <a:t>Teh</a:t>
                </a:r>
                <a:r>
                  <a:rPr lang="en-US" altLang="zh-CN" sz="1600" dirty="0" smtClean="0"/>
                  <a:t>, </a:t>
                </a:r>
                <a:r>
                  <a:rPr lang="en-US" altLang="zh-CN" sz="1600" dirty="0" smtClean="0"/>
                  <a:t>2011, the simplest SG-MCMC):</a:t>
                </a:r>
                <a:endParaRPr lang="en-US" altLang="zh-CN" sz="1600" dirty="0"/>
              </a:p>
              <a:p>
                <a:pPr marL="0" indent="0">
                  <a:spcBef>
                    <a:spcPts val="0"/>
                  </a:spcBef>
                  <a:buNone/>
                </a:pPr>
                <a14:m>
                  <m:oMathPara xmlns:m="http://schemas.openxmlformats.org/officeDocument/2006/math">
                    <m:oMathParaPr>
                      <m:jc m:val="left"/>
                    </m:oMathParaPr>
                    <m:oMath xmlns:m="http://schemas.openxmlformats.org/officeDocument/2006/math">
                      <m:r>
                        <a:rPr lang="en-US" altLang="zh-CN" sz="1600" i="1">
                          <a:latin typeface="Cambria Math" panose="02040503050406030204" pitchFamily="18" charset="0"/>
                          <a:ea typeface="Cambria Math" panose="02040503050406030204" pitchFamily="18" charset="0"/>
                        </a:rPr>
                        <m:t>       </m:t>
                      </m:r>
                      <m:r>
                        <a:rPr lang="en-US" altLang="zh-CN" sz="1600" b="0" i="1" smtClean="0">
                          <a:latin typeface="Cambria Math" panose="02040503050406030204" pitchFamily="18" charset="0"/>
                          <a:ea typeface="Cambria Math" panose="02040503050406030204" pitchFamily="18" charset="0"/>
                        </a:rPr>
                        <m:t>       </m:t>
                      </m:r>
                      <m:r>
                        <a:rPr lang="en-US" altLang="zh-CN" sz="1600" i="1">
                          <a:latin typeface="Cambria Math" panose="02040503050406030204" pitchFamily="18" charset="0"/>
                          <a:ea typeface="Cambria Math" panose="02040503050406030204" pitchFamily="18" charset="0"/>
                        </a:rPr>
                        <m:t>  </m:t>
                      </m:r>
                      <m:sSub>
                        <m:sSubPr>
                          <m:ctrlPr>
                            <a:rPr lang="en-US" altLang="zh-CN" sz="1600" i="1">
                              <a:latin typeface="Cambria Math" panose="02040503050406030204" pitchFamily="18" charset="0"/>
                              <a:ea typeface="Cambria Math" panose="02040503050406030204" pitchFamily="18" charset="0"/>
                            </a:rPr>
                          </m:ctrlPr>
                        </m:sSubPr>
                        <m:e>
                          <m:acc>
                            <m:accPr>
                              <m:chr m:val="̃"/>
                              <m:ctrlPr>
                                <a:rPr lang="en-US" altLang="zh-CN" sz="1600" i="1">
                                  <a:latin typeface="Cambria Math" panose="02040503050406030204" pitchFamily="18" charset="0"/>
                                  <a:ea typeface="Cambria Math" panose="02040503050406030204" pitchFamily="18" charset="0"/>
                                </a:rPr>
                              </m:ctrlPr>
                            </m:accPr>
                            <m:e>
                              <m:r>
                                <a:rPr lang="en-US" altLang="zh-CN" sz="1600" i="1">
                                  <a:latin typeface="Cambria Math" panose="02040503050406030204" pitchFamily="18" charset="0"/>
                                  <a:ea typeface="Cambria Math" panose="02040503050406030204" pitchFamily="18" charset="0"/>
                                </a:rPr>
                                <m:t>𝑔</m:t>
                              </m:r>
                            </m:e>
                          </m:acc>
                        </m:e>
                        <m:sub>
                          <m:r>
                            <a:rPr lang="en-US" altLang="zh-CN" sz="1600" i="1">
                              <a:latin typeface="Cambria Math" panose="02040503050406030204" pitchFamily="18" charset="0"/>
                              <a:ea typeface="Cambria Math" panose="02040503050406030204" pitchFamily="18" charset="0"/>
                            </a:rPr>
                            <m:t>𝑡</m:t>
                          </m:r>
                        </m:sub>
                      </m:sSub>
                      <m:r>
                        <a:rPr lang="en-US" altLang="zh-CN" sz="1600" i="1">
                          <a:latin typeface="Cambria Math" panose="02040503050406030204" pitchFamily="18" charset="0"/>
                          <a:ea typeface="Cambria Math" panose="02040503050406030204" pitchFamily="18" charset="0"/>
                        </a:rPr>
                        <m:t>=</m:t>
                      </m:r>
                      <m:r>
                        <a:rPr lang="en-US" altLang="zh-CN" sz="1600" i="1">
                          <a:latin typeface="Cambria Math" panose="02040503050406030204" pitchFamily="18" charset="0"/>
                          <a:ea typeface="Cambria Math" panose="02040503050406030204" pitchFamily="18" charset="0"/>
                        </a:rPr>
                        <m:t>𝛻</m:t>
                      </m:r>
                      <m:func>
                        <m:funcPr>
                          <m:ctrlPr>
                            <a:rPr lang="en-US" altLang="zh-CN" sz="1600" i="1">
                              <a:latin typeface="Cambria Math" panose="02040503050406030204" pitchFamily="18" charset="0"/>
                              <a:ea typeface="Cambria Math" panose="02040503050406030204" pitchFamily="18" charset="0"/>
                            </a:rPr>
                          </m:ctrlPr>
                        </m:funcPr>
                        <m:fName>
                          <m:r>
                            <m:rPr>
                              <m:sty m:val="p"/>
                            </m:rPr>
                            <a:rPr lang="en-US" altLang="zh-CN" sz="1600">
                              <a:latin typeface="Cambria Math" panose="02040503050406030204" pitchFamily="18" charset="0"/>
                              <a:ea typeface="Cambria Math" panose="02040503050406030204" pitchFamily="18" charset="0"/>
                            </a:rPr>
                            <m:t>log</m:t>
                          </m:r>
                        </m:fName>
                        <m:e>
                          <m:r>
                            <a:rPr lang="en-US" altLang="zh-CN" sz="1600" i="1">
                              <a:latin typeface="Cambria Math" panose="02040503050406030204" pitchFamily="18" charset="0"/>
                              <a:ea typeface="Cambria Math" panose="02040503050406030204" pitchFamily="18" charset="0"/>
                            </a:rPr>
                            <m:t>𝑝</m:t>
                          </m:r>
                          <m:d>
                            <m:dPr>
                              <m:ctrlPr>
                                <a:rPr lang="en-US" altLang="zh-CN" sz="1600" i="1">
                                  <a:latin typeface="Cambria Math" panose="02040503050406030204" pitchFamily="18" charset="0"/>
                                  <a:ea typeface="Cambria Math" panose="02040503050406030204" pitchFamily="18" charset="0"/>
                                </a:rPr>
                              </m:ctrlPr>
                            </m:dPr>
                            <m:e>
                              <m:sSub>
                                <m:sSubPr>
                                  <m:ctrlPr>
                                    <a:rPr lang="en-US" altLang="zh-CN" sz="1600" i="1">
                                      <a:latin typeface="Cambria Math" panose="02040503050406030204" pitchFamily="18" charset="0"/>
                                      <a:ea typeface="Cambria Math" panose="02040503050406030204" pitchFamily="18" charset="0"/>
                                    </a:rPr>
                                  </m:ctrlPr>
                                </m:sSubPr>
                                <m:e>
                                  <m:r>
                                    <a:rPr lang="en-US" altLang="zh-CN" sz="1600" i="1">
                                      <a:latin typeface="Cambria Math" panose="02040503050406030204" pitchFamily="18" charset="0"/>
                                      <a:ea typeface="Cambria Math" panose="02040503050406030204" pitchFamily="18" charset="0"/>
                                    </a:rPr>
                                    <m:t>𝜃</m:t>
                                  </m:r>
                                </m:e>
                                <m:sub>
                                  <m:r>
                                    <a:rPr lang="en-US" altLang="zh-CN" sz="1600" i="1">
                                      <a:latin typeface="Cambria Math" panose="02040503050406030204" pitchFamily="18" charset="0"/>
                                      <a:ea typeface="Cambria Math" panose="02040503050406030204" pitchFamily="18" charset="0"/>
                                    </a:rPr>
                                    <m:t>𝑡</m:t>
                                  </m:r>
                                </m:sub>
                              </m:sSub>
                            </m:e>
                          </m:d>
                          <m:r>
                            <a:rPr lang="en-US" altLang="zh-CN" sz="1600" i="1">
                              <a:latin typeface="Cambria Math" panose="02040503050406030204" pitchFamily="18" charset="0"/>
                              <a:ea typeface="Cambria Math" panose="02040503050406030204" pitchFamily="18" charset="0"/>
                            </a:rPr>
                            <m:t>+</m:t>
                          </m:r>
                          <m:f>
                            <m:fPr>
                              <m:ctrlPr>
                                <a:rPr lang="en-US" altLang="zh-CN" sz="1600" i="1">
                                  <a:latin typeface="Cambria Math" panose="02040503050406030204" pitchFamily="18" charset="0"/>
                                  <a:ea typeface="Cambria Math" panose="02040503050406030204" pitchFamily="18" charset="0"/>
                                </a:rPr>
                              </m:ctrlPr>
                            </m:fPr>
                            <m:num>
                              <m:r>
                                <a:rPr lang="en-US" altLang="zh-CN" sz="1600" i="1">
                                  <a:latin typeface="Cambria Math" panose="02040503050406030204" pitchFamily="18" charset="0"/>
                                  <a:ea typeface="Cambria Math" panose="02040503050406030204" pitchFamily="18" charset="0"/>
                                </a:rPr>
                                <m:t>𝑁</m:t>
                              </m:r>
                            </m:num>
                            <m:den>
                              <m:r>
                                <a:rPr lang="en-US" altLang="zh-CN" sz="1600" i="1">
                                  <a:latin typeface="Cambria Math" panose="02040503050406030204" pitchFamily="18" charset="0"/>
                                  <a:ea typeface="Cambria Math" panose="02040503050406030204" pitchFamily="18" charset="0"/>
                                </a:rPr>
                                <m:t>𝑛</m:t>
                              </m:r>
                            </m:den>
                          </m:f>
                          <m:nary>
                            <m:naryPr>
                              <m:chr m:val="∑"/>
                              <m:ctrlPr>
                                <a:rPr lang="en-US" altLang="zh-CN" sz="1600" i="1">
                                  <a:latin typeface="Cambria Math" panose="02040503050406030204" pitchFamily="18" charset="0"/>
                                  <a:ea typeface="Cambria Math" panose="02040503050406030204" pitchFamily="18" charset="0"/>
                                </a:rPr>
                              </m:ctrlPr>
                            </m:naryPr>
                            <m:sub>
                              <m:r>
                                <a:rPr lang="en-US" altLang="zh-CN" sz="1600" i="1">
                                  <a:latin typeface="Cambria Math" panose="02040503050406030204" pitchFamily="18" charset="0"/>
                                  <a:ea typeface="Cambria Math" panose="02040503050406030204" pitchFamily="18" charset="0"/>
                                </a:rPr>
                                <m:t>𝑖</m:t>
                              </m:r>
                              <m:r>
                                <a:rPr lang="en-US" altLang="zh-CN" sz="1600" i="1">
                                  <a:latin typeface="Cambria Math" panose="02040503050406030204" pitchFamily="18" charset="0"/>
                                  <a:ea typeface="Cambria Math" panose="02040503050406030204" pitchFamily="18" charset="0"/>
                                </a:rPr>
                                <m:t>=1</m:t>
                              </m:r>
                            </m:sub>
                            <m:sup>
                              <m:r>
                                <a:rPr lang="en-US" altLang="zh-CN" sz="1600" i="1">
                                  <a:latin typeface="Cambria Math" panose="02040503050406030204" pitchFamily="18" charset="0"/>
                                  <a:ea typeface="Cambria Math" panose="02040503050406030204" pitchFamily="18" charset="0"/>
                                </a:rPr>
                                <m:t>𝑛</m:t>
                              </m:r>
                            </m:sup>
                            <m:e>
                              <m:r>
                                <a:rPr lang="en-US" altLang="zh-CN" sz="1600" i="1">
                                  <a:latin typeface="Cambria Math" panose="02040503050406030204" pitchFamily="18" charset="0"/>
                                  <a:ea typeface="Cambria Math" panose="02040503050406030204" pitchFamily="18" charset="0"/>
                                </a:rPr>
                                <m:t>𝛻</m:t>
                              </m:r>
                              <m:func>
                                <m:funcPr>
                                  <m:ctrlPr>
                                    <a:rPr lang="en-US" altLang="zh-CN" sz="1600" i="1">
                                      <a:latin typeface="Cambria Math" panose="02040503050406030204" pitchFamily="18" charset="0"/>
                                      <a:ea typeface="Cambria Math" panose="02040503050406030204" pitchFamily="18" charset="0"/>
                                    </a:rPr>
                                  </m:ctrlPr>
                                </m:funcPr>
                                <m:fName>
                                  <m:r>
                                    <m:rPr>
                                      <m:sty m:val="p"/>
                                    </m:rPr>
                                    <a:rPr lang="en-US" altLang="zh-CN" sz="1600">
                                      <a:latin typeface="Cambria Math" panose="02040503050406030204" pitchFamily="18" charset="0"/>
                                      <a:ea typeface="Cambria Math" panose="02040503050406030204" pitchFamily="18" charset="0"/>
                                    </a:rPr>
                                    <m:t>log</m:t>
                                  </m:r>
                                </m:fName>
                                <m:e>
                                  <m:r>
                                    <a:rPr lang="en-US" altLang="zh-CN" sz="1600" i="1">
                                      <a:latin typeface="Cambria Math" panose="02040503050406030204" pitchFamily="18" charset="0"/>
                                      <a:ea typeface="Cambria Math" panose="02040503050406030204" pitchFamily="18" charset="0"/>
                                    </a:rPr>
                                    <m:t>𝑝</m:t>
                                  </m:r>
                                  <m:d>
                                    <m:dPr>
                                      <m:ctrlPr>
                                        <a:rPr lang="en-US" altLang="zh-CN" sz="1600" i="1">
                                          <a:latin typeface="Cambria Math" panose="02040503050406030204" pitchFamily="18" charset="0"/>
                                          <a:ea typeface="Cambria Math" panose="02040503050406030204" pitchFamily="18" charset="0"/>
                                        </a:rPr>
                                      </m:ctrlPr>
                                    </m:dPr>
                                    <m:e>
                                      <m:sSubSup>
                                        <m:sSubSupPr>
                                          <m:ctrlPr>
                                            <a:rPr lang="en-US" altLang="zh-CN" sz="1600" i="1">
                                              <a:latin typeface="Cambria Math" panose="02040503050406030204" pitchFamily="18" charset="0"/>
                                              <a:ea typeface="Cambria Math" panose="02040503050406030204" pitchFamily="18" charset="0"/>
                                            </a:rPr>
                                          </m:ctrlPr>
                                        </m:sSubSupPr>
                                        <m:e>
                                          <m:r>
                                            <a:rPr lang="en-US" altLang="zh-CN" sz="1600" i="1">
                                              <a:latin typeface="Cambria Math" panose="02040503050406030204" pitchFamily="18" charset="0"/>
                                              <a:ea typeface="Cambria Math" panose="02040503050406030204" pitchFamily="18" charset="0"/>
                                            </a:rPr>
                                            <m:t>𝑦</m:t>
                                          </m:r>
                                        </m:e>
                                        <m:sub>
                                          <m:r>
                                            <a:rPr lang="en-US" altLang="zh-CN" sz="1600" i="1">
                                              <a:latin typeface="Cambria Math" panose="02040503050406030204" pitchFamily="18" charset="0"/>
                                              <a:ea typeface="Cambria Math" panose="02040503050406030204" pitchFamily="18" charset="0"/>
                                            </a:rPr>
                                            <m:t>𝑡</m:t>
                                          </m:r>
                                        </m:sub>
                                        <m:sup>
                                          <m:r>
                                            <a:rPr lang="en-US" altLang="zh-CN" sz="1600" i="1">
                                              <a:latin typeface="Cambria Math" panose="02040503050406030204" pitchFamily="18" charset="0"/>
                                              <a:ea typeface="Cambria Math" panose="02040503050406030204" pitchFamily="18" charset="0"/>
                                            </a:rPr>
                                            <m:t>(</m:t>
                                          </m:r>
                                          <m:r>
                                            <a:rPr lang="en-US" altLang="zh-CN" sz="1600" i="1">
                                              <a:latin typeface="Cambria Math" panose="02040503050406030204" pitchFamily="18" charset="0"/>
                                              <a:ea typeface="Cambria Math" panose="02040503050406030204" pitchFamily="18" charset="0"/>
                                            </a:rPr>
                                            <m:t>𝑖</m:t>
                                          </m:r>
                                          <m:r>
                                            <a:rPr lang="en-US" altLang="zh-CN" sz="1600" i="1">
                                              <a:latin typeface="Cambria Math" panose="02040503050406030204" pitchFamily="18" charset="0"/>
                                              <a:ea typeface="Cambria Math" panose="02040503050406030204" pitchFamily="18" charset="0"/>
                                            </a:rPr>
                                            <m:t>)</m:t>
                                          </m:r>
                                        </m:sup>
                                      </m:sSubSup>
                                    </m:e>
                                    <m:e>
                                      <m:sSubSup>
                                        <m:sSubSupPr>
                                          <m:ctrlPr>
                                            <a:rPr lang="en-US" altLang="zh-CN" sz="1600" i="1">
                                              <a:latin typeface="Cambria Math" panose="02040503050406030204" pitchFamily="18" charset="0"/>
                                              <a:ea typeface="Cambria Math" panose="02040503050406030204" pitchFamily="18" charset="0"/>
                                            </a:rPr>
                                          </m:ctrlPr>
                                        </m:sSubSupPr>
                                        <m:e>
                                          <m:r>
                                            <a:rPr lang="en-US" altLang="zh-CN" sz="1600" i="1">
                                              <a:latin typeface="Cambria Math" panose="02040503050406030204" pitchFamily="18" charset="0"/>
                                              <a:ea typeface="Cambria Math" panose="02040503050406030204" pitchFamily="18" charset="0"/>
                                            </a:rPr>
                                            <m:t>𝑥</m:t>
                                          </m:r>
                                        </m:e>
                                        <m:sub>
                                          <m:r>
                                            <a:rPr lang="en-US" altLang="zh-CN" sz="1600" i="1">
                                              <a:latin typeface="Cambria Math" panose="02040503050406030204" pitchFamily="18" charset="0"/>
                                              <a:ea typeface="Cambria Math" panose="02040503050406030204" pitchFamily="18" charset="0"/>
                                            </a:rPr>
                                            <m:t>𝑡</m:t>
                                          </m:r>
                                        </m:sub>
                                        <m:sup>
                                          <m:r>
                                            <a:rPr lang="en-US" altLang="zh-CN" sz="1600" i="1">
                                              <a:latin typeface="Cambria Math" panose="02040503050406030204" pitchFamily="18" charset="0"/>
                                              <a:ea typeface="Cambria Math" panose="02040503050406030204" pitchFamily="18" charset="0"/>
                                            </a:rPr>
                                            <m:t>(</m:t>
                                          </m:r>
                                          <m:r>
                                            <a:rPr lang="en-US" altLang="zh-CN" sz="1600" i="1">
                                              <a:latin typeface="Cambria Math" panose="02040503050406030204" pitchFamily="18" charset="0"/>
                                              <a:ea typeface="Cambria Math" panose="02040503050406030204" pitchFamily="18" charset="0"/>
                                            </a:rPr>
                                            <m:t>𝑖</m:t>
                                          </m:r>
                                          <m:r>
                                            <a:rPr lang="en-US" altLang="zh-CN" sz="1600" i="1">
                                              <a:latin typeface="Cambria Math" panose="02040503050406030204" pitchFamily="18" charset="0"/>
                                              <a:ea typeface="Cambria Math" panose="02040503050406030204" pitchFamily="18" charset="0"/>
                                            </a:rPr>
                                            <m:t>)</m:t>
                                          </m:r>
                                        </m:sup>
                                      </m:sSubSup>
                                      <m:r>
                                        <a:rPr lang="en-US" altLang="zh-CN" sz="1600" i="1">
                                          <a:latin typeface="Cambria Math" panose="02040503050406030204" pitchFamily="18" charset="0"/>
                                          <a:ea typeface="Cambria Math" panose="02040503050406030204" pitchFamily="18" charset="0"/>
                                        </a:rPr>
                                        <m:t>, </m:t>
                                      </m:r>
                                      <m:sSub>
                                        <m:sSubPr>
                                          <m:ctrlPr>
                                            <a:rPr lang="en-US" altLang="zh-CN" sz="1600" i="1">
                                              <a:latin typeface="Cambria Math" panose="02040503050406030204" pitchFamily="18" charset="0"/>
                                              <a:ea typeface="Cambria Math" panose="02040503050406030204" pitchFamily="18" charset="0"/>
                                            </a:rPr>
                                          </m:ctrlPr>
                                        </m:sSubPr>
                                        <m:e>
                                          <m:r>
                                            <a:rPr lang="en-US" altLang="zh-CN" sz="1600" i="1">
                                              <a:latin typeface="Cambria Math" panose="02040503050406030204" pitchFamily="18" charset="0"/>
                                              <a:ea typeface="Cambria Math" panose="02040503050406030204" pitchFamily="18" charset="0"/>
                                            </a:rPr>
                                            <m:t>𝜃</m:t>
                                          </m:r>
                                        </m:e>
                                        <m:sub>
                                          <m:r>
                                            <a:rPr lang="en-US" altLang="zh-CN" sz="1600" i="1">
                                              <a:latin typeface="Cambria Math" panose="02040503050406030204" pitchFamily="18" charset="0"/>
                                              <a:ea typeface="Cambria Math" panose="02040503050406030204" pitchFamily="18" charset="0"/>
                                            </a:rPr>
                                            <m:t>𝑡</m:t>
                                          </m:r>
                                        </m:sub>
                                      </m:sSub>
                                      <m:r>
                                        <a:rPr lang="en-US" altLang="zh-CN" sz="1600" i="1">
                                          <a:latin typeface="Cambria Math" panose="02040503050406030204" pitchFamily="18" charset="0"/>
                                          <a:ea typeface="Cambria Math" panose="02040503050406030204" pitchFamily="18" charset="0"/>
                                        </a:rPr>
                                        <m:t> </m:t>
                                      </m:r>
                                    </m:e>
                                  </m:d>
                                </m:e>
                              </m:func>
                            </m:e>
                          </m:nary>
                        </m:e>
                      </m:func>
                      <m:r>
                        <a:rPr lang="en-US" altLang="zh-CN" sz="1600" i="1">
                          <a:latin typeface="Cambria Math" panose="02040503050406030204" pitchFamily="18" charset="0"/>
                          <a:ea typeface="Cambria Math" panose="02040503050406030204" pitchFamily="18" charset="0"/>
                        </a:rPr>
                        <m:t>, </m:t>
                      </m:r>
                    </m:oMath>
                  </m:oMathPara>
                </a14:m>
                <a:endParaRPr lang="en-US" altLang="zh-CN" sz="1600" i="1" dirty="0">
                  <a:latin typeface="Cambria Math" panose="02040503050406030204" pitchFamily="18" charset="0"/>
                  <a:ea typeface="Cambria Math" panose="02040503050406030204" pitchFamily="18" charset="0"/>
                </a:endParaRPr>
              </a:p>
              <a:p>
                <a:pPr marL="0" indent="0">
                  <a:spcBef>
                    <a:spcPts val="0"/>
                  </a:spcBef>
                  <a:buNone/>
                </a:pPr>
                <a14:m>
                  <m:oMathPara xmlns:m="http://schemas.openxmlformats.org/officeDocument/2006/math">
                    <m:oMathParaPr>
                      <m:jc m:val="left"/>
                    </m:oMathParaPr>
                    <m:oMath xmlns:m="http://schemas.openxmlformats.org/officeDocument/2006/math">
                      <m:r>
                        <a:rPr lang="en-US" altLang="zh-CN" sz="1600">
                          <a:latin typeface="Cambria Math" panose="02040503050406030204" pitchFamily="18" charset="0"/>
                        </a:rPr>
                        <m:t>       </m:t>
                      </m:r>
                      <m:r>
                        <a:rPr lang="en-US" altLang="zh-CN" sz="1600" b="0" i="0" smtClean="0">
                          <a:latin typeface="Cambria Math" panose="02040503050406030204" pitchFamily="18" charset="0"/>
                        </a:rPr>
                        <m:t>       </m:t>
                      </m:r>
                      <m:r>
                        <a:rPr lang="en-US" altLang="zh-CN" sz="1600">
                          <a:latin typeface="Cambria Math" panose="02040503050406030204" pitchFamily="18" charset="0"/>
                        </a:rPr>
                        <m:t>  </m:t>
                      </m:r>
                      <m:r>
                        <m:rPr>
                          <m:sty m:val="p"/>
                        </m:rPr>
                        <a:rPr lang="en-US" altLang="zh-CN" sz="1600">
                          <a:latin typeface="Cambria Math" panose="02040503050406030204" pitchFamily="18" charset="0"/>
                        </a:rPr>
                        <m:t>Δ</m:t>
                      </m:r>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𝜃</m:t>
                          </m:r>
                        </m:e>
                        <m:sub>
                          <m:r>
                            <a:rPr lang="en-US" altLang="zh-CN" sz="1600" i="1">
                              <a:latin typeface="Cambria Math" panose="02040503050406030204" pitchFamily="18" charset="0"/>
                            </a:rPr>
                            <m:t>𝑡</m:t>
                          </m:r>
                        </m:sub>
                      </m:sSub>
                      <m:r>
                        <a:rPr lang="en-US" altLang="zh-CN" sz="1600" i="1">
                          <a:latin typeface="Cambria Math" panose="02040503050406030204" pitchFamily="18" charset="0"/>
                        </a:rPr>
                        <m:t>=</m:t>
                      </m:r>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𝜖</m:t>
                          </m:r>
                        </m:e>
                        <m:sub>
                          <m:r>
                            <a:rPr lang="en-US" altLang="zh-CN" sz="1600" i="1">
                              <a:latin typeface="Cambria Math" panose="02040503050406030204" pitchFamily="18" charset="0"/>
                            </a:rPr>
                            <m:t>𝑡</m:t>
                          </m:r>
                        </m:sub>
                      </m:sSub>
                      <m:sSub>
                        <m:sSubPr>
                          <m:ctrlPr>
                            <a:rPr lang="en-US" altLang="zh-CN" sz="1600" i="1">
                              <a:latin typeface="Cambria Math" panose="02040503050406030204" pitchFamily="18" charset="0"/>
                              <a:ea typeface="Cambria Math" panose="02040503050406030204" pitchFamily="18" charset="0"/>
                            </a:rPr>
                          </m:ctrlPr>
                        </m:sSubPr>
                        <m:e>
                          <m:acc>
                            <m:accPr>
                              <m:chr m:val="̃"/>
                              <m:ctrlPr>
                                <a:rPr lang="en-US" altLang="zh-CN" sz="1600" i="1">
                                  <a:latin typeface="Cambria Math" panose="02040503050406030204" pitchFamily="18" charset="0"/>
                                  <a:ea typeface="Cambria Math" panose="02040503050406030204" pitchFamily="18" charset="0"/>
                                </a:rPr>
                              </m:ctrlPr>
                            </m:accPr>
                            <m:e>
                              <m:r>
                                <a:rPr lang="en-US" altLang="zh-CN" sz="1600" i="1">
                                  <a:latin typeface="Cambria Math" panose="02040503050406030204" pitchFamily="18" charset="0"/>
                                  <a:ea typeface="Cambria Math" panose="02040503050406030204" pitchFamily="18" charset="0"/>
                                </a:rPr>
                                <m:t>𝑔</m:t>
                              </m:r>
                            </m:e>
                          </m:acc>
                        </m:e>
                        <m:sub>
                          <m:r>
                            <a:rPr lang="en-US" altLang="zh-CN" sz="1600" i="1">
                              <a:latin typeface="Cambria Math" panose="02040503050406030204" pitchFamily="18" charset="0"/>
                              <a:ea typeface="Cambria Math" panose="02040503050406030204" pitchFamily="18" charset="0"/>
                            </a:rPr>
                            <m:t>𝑡</m:t>
                          </m:r>
                        </m:sub>
                      </m:sSub>
                      <m:r>
                        <a:rPr lang="en-US" altLang="zh-CN" sz="1600" i="1">
                          <a:solidFill>
                            <a:srgbClr val="FF0000"/>
                          </a:solidFill>
                          <a:latin typeface="Cambria Math" panose="02040503050406030204" pitchFamily="18" charset="0"/>
                        </a:rPr>
                        <m:t>+</m:t>
                      </m:r>
                      <m:sSub>
                        <m:sSubPr>
                          <m:ctrlPr>
                            <a:rPr lang="en-US" altLang="zh-CN" sz="1600" i="1">
                              <a:solidFill>
                                <a:srgbClr val="FF0000"/>
                              </a:solidFill>
                              <a:latin typeface="Cambria Math" panose="02040503050406030204" pitchFamily="18" charset="0"/>
                            </a:rPr>
                          </m:ctrlPr>
                        </m:sSubPr>
                        <m:e>
                          <m:r>
                            <a:rPr lang="en-US" altLang="zh-CN" sz="1600" i="1">
                              <a:solidFill>
                                <a:srgbClr val="FF0000"/>
                              </a:solidFill>
                              <a:latin typeface="Cambria Math" panose="02040503050406030204" pitchFamily="18" charset="0"/>
                            </a:rPr>
                            <m:t>𝜂</m:t>
                          </m:r>
                        </m:e>
                        <m:sub>
                          <m:r>
                            <a:rPr lang="en-US" altLang="zh-CN" sz="1600" i="1">
                              <a:solidFill>
                                <a:srgbClr val="FF0000"/>
                              </a:solidFill>
                              <a:latin typeface="Cambria Math" panose="02040503050406030204" pitchFamily="18" charset="0"/>
                            </a:rPr>
                            <m:t>𝑡</m:t>
                          </m:r>
                        </m:sub>
                      </m:sSub>
                      <m:r>
                        <a:rPr lang="en-US" altLang="zh-CN" sz="1600" i="1">
                          <a:solidFill>
                            <a:srgbClr val="FF0000"/>
                          </a:solidFill>
                          <a:latin typeface="Cambria Math" panose="02040503050406030204" pitchFamily="18" charset="0"/>
                        </a:rPr>
                        <m:t>,  </m:t>
                      </m:r>
                      <m:sSub>
                        <m:sSubPr>
                          <m:ctrlPr>
                            <a:rPr lang="en-US" altLang="zh-CN" sz="1600" i="1">
                              <a:solidFill>
                                <a:srgbClr val="FF0000"/>
                              </a:solidFill>
                              <a:latin typeface="Cambria Math" panose="02040503050406030204" pitchFamily="18" charset="0"/>
                            </a:rPr>
                          </m:ctrlPr>
                        </m:sSubPr>
                        <m:e>
                          <m:r>
                            <a:rPr lang="en-US" altLang="zh-CN" sz="1600" i="1">
                              <a:solidFill>
                                <a:srgbClr val="FF0000"/>
                              </a:solidFill>
                              <a:latin typeface="Cambria Math" panose="02040503050406030204" pitchFamily="18" charset="0"/>
                            </a:rPr>
                            <m:t>𝜂</m:t>
                          </m:r>
                        </m:e>
                        <m:sub>
                          <m:r>
                            <a:rPr lang="en-US" altLang="zh-CN" sz="1600" i="1">
                              <a:solidFill>
                                <a:srgbClr val="FF0000"/>
                              </a:solidFill>
                              <a:latin typeface="Cambria Math" panose="02040503050406030204" pitchFamily="18" charset="0"/>
                            </a:rPr>
                            <m:t>𝑡</m:t>
                          </m:r>
                        </m:sub>
                      </m:sSub>
                      <m:r>
                        <a:rPr lang="en-US" altLang="zh-CN" sz="1600" i="1">
                          <a:solidFill>
                            <a:srgbClr val="FF0000"/>
                          </a:solidFill>
                          <a:latin typeface="Cambria Math" panose="02040503050406030204" pitchFamily="18" charset="0"/>
                        </a:rPr>
                        <m:t>~</m:t>
                      </m:r>
                      <m:r>
                        <a:rPr lang="en-US" altLang="zh-CN" sz="1600" i="1">
                          <a:solidFill>
                            <a:srgbClr val="FF0000"/>
                          </a:solidFill>
                          <a:latin typeface="Cambria Math" panose="02040503050406030204" pitchFamily="18" charset="0"/>
                        </a:rPr>
                        <m:t>𝒩</m:t>
                      </m:r>
                      <m:d>
                        <m:dPr>
                          <m:ctrlPr>
                            <a:rPr lang="en-US" altLang="zh-CN" sz="1600" i="1">
                              <a:solidFill>
                                <a:srgbClr val="FF0000"/>
                              </a:solidFill>
                              <a:latin typeface="Cambria Math" panose="02040503050406030204" pitchFamily="18" charset="0"/>
                            </a:rPr>
                          </m:ctrlPr>
                        </m:dPr>
                        <m:e>
                          <m:r>
                            <a:rPr lang="en-US" altLang="zh-CN" sz="1600" i="1">
                              <a:solidFill>
                                <a:srgbClr val="FF0000"/>
                              </a:solidFill>
                              <a:latin typeface="Cambria Math" panose="02040503050406030204" pitchFamily="18" charset="0"/>
                            </a:rPr>
                            <m:t>0, 2</m:t>
                          </m:r>
                          <m:sSub>
                            <m:sSubPr>
                              <m:ctrlPr>
                                <a:rPr lang="en-US" altLang="zh-CN" sz="1600" i="1">
                                  <a:solidFill>
                                    <a:srgbClr val="FF0000"/>
                                  </a:solidFill>
                                  <a:latin typeface="Cambria Math" panose="02040503050406030204" pitchFamily="18" charset="0"/>
                                </a:rPr>
                              </m:ctrlPr>
                            </m:sSubPr>
                            <m:e>
                              <m:r>
                                <a:rPr lang="en-US" altLang="zh-CN" sz="1600" i="1">
                                  <a:solidFill>
                                    <a:srgbClr val="FF0000"/>
                                  </a:solidFill>
                                  <a:latin typeface="Cambria Math" panose="02040503050406030204" pitchFamily="18" charset="0"/>
                                </a:rPr>
                                <m:t>𝜖</m:t>
                              </m:r>
                            </m:e>
                            <m:sub>
                              <m:r>
                                <a:rPr lang="en-US" altLang="zh-CN" sz="1600" i="1">
                                  <a:solidFill>
                                    <a:srgbClr val="FF0000"/>
                                  </a:solidFill>
                                  <a:latin typeface="Cambria Math" panose="02040503050406030204" pitchFamily="18" charset="0"/>
                                </a:rPr>
                                <m:t>𝑡</m:t>
                              </m:r>
                            </m:sub>
                          </m:sSub>
                        </m:e>
                      </m:d>
                    </m:oMath>
                  </m:oMathPara>
                </a14:m>
                <a:endParaRPr lang="en-US" altLang="zh-CN" sz="1600" dirty="0" smtClean="0"/>
              </a:p>
              <a:p>
                <a:pPr marL="0" indent="0">
                  <a:spcBef>
                    <a:spcPts val="0"/>
                  </a:spcBef>
                  <a:buNone/>
                </a:pPr>
                <a:endParaRPr lang="en-US" altLang="zh-CN" sz="1600" dirty="0" smtClean="0"/>
              </a:p>
              <a:p>
                <a:pPr marL="0" indent="0" algn="just">
                  <a:lnSpc>
                    <a:spcPct val="150000"/>
                  </a:lnSpc>
                  <a:spcBef>
                    <a:spcPts val="0"/>
                  </a:spcBef>
                  <a:buNone/>
                </a:pPr>
                <a:r>
                  <a:rPr lang="en-US" altLang="zh-CN" sz="1600" dirty="0"/>
                  <a:t> </a:t>
                </a:r>
                <a:r>
                  <a:rPr lang="en-US" altLang="zh-CN" sz="1600" dirty="0" smtClean="0"/>
                  <a:t>       Compared </a:t>
                </a:r>
                <a:r>
                  <a:rPr lang="zh-CN" altLang="en-US" sz="1600" dirty="0" smtClean="0"/>
                  <a:t> </a:t>
                </a:r>
                <a:r>
                  <a:rPr lang="en-US" altLang="zh-CN" sz="1600" dirty="0" smtClean="0"/>
                  <a:t>to Stochastic </a:t>
                </a:r>
                <a:r>
                  <a:rPr lang="en-US" altLang="zh-CN" sz="1600" dirty="0"/>
                  <a:t>Gradient Descent:</a:t>
                </a:r>
              </a:p>
              <a:p>
                <a:pPr marL="0" indent="0" algn="just">
                  <a:spcBef>
                    <a:spcPts val="0"/>
                  </a:spcBef>
                  <a:buNone/>
                </a:pPr>
                <a14:m>
                  <m:oMathPara xmlns:m="http://schemas.openxmlformats.org/officeDocument/2006/math">
                    <m:oMathParaPr>
                      <m:jc m:val="left"/>
                    </m:oMathParaPr>
                    <m:oMath xmlns:m="http://schemas.openxmlformats.org/officeDocument/2006/math">
                      <m:r>
                        <a:rPr lang="en-US" altLang="zh-CN" sz="1600" i="1">
                          <a:latin typeface="Cambria Math" panose="02040503050406030204" pitchFamily="18" charset="0"/>
                          <a:ea typeface="Cambria Math" panose="02040503050406030204" pitchFamily="18" charset="0"/>
                        </a:rPr>
                        <m:t>     </m:t>
                      </m:r>
                      <m:r>
                        <a:rPr lang="en-US" altLang="zh-CN" sz="1600" i="1">
                          <a:latin typeface="Cambria Math" panose="02040503050406030204" pitchFamily="18" charset="0"/>
                          <a:ea typeface="Cambria Math" panose="02040503050406030204" pitchFamily="18" charset="0"/>
                        </a:rPr>
                        <m:t>       </m:t>
                      </m:r>
                      <m:r>
                        <a:rPr lang="en-US" altLang="zh-CN" sz="1600" i="1">
                          <a:latin typeface="Cambria Math" panose="02040503050406030204" pitchFamily="18" charset="0"/>
                          <a:ea typeface="Cambria Math" panose="02040503050406030204" pitchFamily="18" charset="0"/>
                        </a:rPr>
                        <m:t>    </m:t>
                      </m:r>
                      <m:sSub>
                        <m:sSubPr>
                          <m:ctrlPr>
                            <a:rPr lang="en-US" altLang="zh-CN" sz="1600" i="1">
                              <a:latin typeface="Cambria Math" panose="02040503050406030204" pitchFamily="18" charset="0"/>
                              <a:ea typeface="Cambria Math" panose="02040503050406030204" pitchFamily="18" charset="0"/>
                            </a:rPr>
                          </m:ctrlPr>
                        </m:sSubPr>
                        <m:e>
                          <m:acc>
                            <m:accPr>
                              <m:chr m:val="̃"/>
                              <m:ctrlPr>
                                <a:rPr lang="en-US" altLang="zh-CN" sz="1600" i="1">
                                  <a:latin typeface="Cambria Math" panose="02040503050406030204" pitchFamily="18" charset="0"/>
                                  <a:ea typeface="Cambria Math" panose="02040503050406030204" pitchFamily="18" charset="0"/>
                                </a:rPr>
                              </m:ctrlPr>
                            </m:accPr>
                            <m:e>
                              <m:r>
                                <a:rPr lang="en-US" altLang="zh-CN" sz="1600" i="1">
                                  <a:latin typeface="Cambria Math" panose="02040503050406030204" pitchFamily="18" charset="0"/>
                                  <a:ea typeface="Cambria Math" panose="02040503050406030204" pitchFamily="18" charset="0"/>
                                </a:rPr>
                                <m:t>𝑔</m:t>
                              </m:r>
                            </m:e>
                          </m:acc>
                        </m:e>
                        <m:sub>
                          <m:r>
                            <a:rPr lang="en-US" altLang="zh-CN" sz="1600" i="1">
                              <a:latin typeface="Cambria Math" panose="02040503050406030204" pitchFamily="18" charset="0"/>
                              <a:ea typeface="Cambria Math" panose="02040503050406030204" pitchFamily="18" charset="0"/>
                            </a:rPr>
                            <m:t>𝑡</m:t>
                          </m:r>
                        </m:sub>
                      </m:sSub>
                      <m:r>
                        <a:rPr lang="en-US" altLang="zh-CN" sz="1600" i="1">
                          <a:latin typeface="Cambria Math" panose="02040503050406030204" pitchFamily="18" charset="0"/>
                          <a:ea typeface="Cambria Math" panose="02040503050406030204" pitchFamily="18" charset="0"/>
                        </a:rPr>
                        <m:t>=</m:t>
                      </m:r>
                      <m:f>
                        <m:fPr>
                          <m:ctrlPr>
                            <a:rPr lang="en-US" altLang="zh-CN" sz="1600" i="1">
                              <a:latin typeface="Cambria Math" panose="02040503050406030204" pitchFamily="18" charset="0"/>
                              <a:ea typeface="Cambria Math" panose="02040503050406030204" pitchFamily="18" charset="0"/>
                            </a:rPr>
                          </m:ctrlPr>
                        </m:fPr>
                        <m:num>
                          <m:r>
                            <a:rPr lang="en-US" altLang="zh-CN" sz="1600" i="1">
                              <a:latin typeface="Cambria Math" panose="02040503050406030204" pitchFamily="18" charset="0"/>
                              <a:ea typeface="Cambria Math" panose="02040503050406030204" pitchFamily="18" charset="0"/>
                            </a:rPr>
                            <m:t>𝑁</m:t>
                          </m:r>
                        </m:num>
                        <m:den>
                          <m:r>
                            <a:rPr lang="en-US" altLang="zh-CN" sz="1600" i="1">
                              <a:latin typeface="Cambria Math" panose="02040503050406030204" pitchFamily="18" charset="0"/>
                              <a:ea typeface="Cambria Math" panose="02040503050406030204" pitchFamily="18" charset="0"/>
                            </a:rPr>
                            <m:t>𝑛</m:t>
                          </m:r>
                        </m:den>
                      </m:f>
                      <m:nary>
                        <m:naryPr>
                          <m:chr m:val="∑"/>
                          <m:ctrlPr>
                            <a:rPr lang="en-US" altLang="zh-CN" sz="1600" i="1">
                              <a:latin typeface="Cambria Math" panose="02040503050406030204" pitchFamily="18" charset="0"/>
                              <a:ea typeface="Cambria Math" panose="02040503050406030204" pitchFamily="18" charset="0"/>
                            </a:rPr>
                          </m:ctrlPr>
                        </m:naryPr>
                        <m:sub>
                          <m:r>
                            <a:rPr lang="en-US" altLang="zh-CN" sz="1600" i="1">
                              <a:latin typeface="Cambria Math" panose="02040503050406030204" pitchFamily="18" charset="0"/>
                              <a:ea typeface="Cambria Math" panose="02040503050406030204" pitchFamily="18" charset="0"/>
                            </a:rPr>
                            <m:t>𝑖</m:t>
                          </m:r>
                          <m:r>
                            <a:rPr lang="en-US" altLang="zh-CN" sz="1600" i="1">
                              <a:latin typeface="Cambria Math" panose="02040503050406030204" pitchFamily="18" charset="0"/>
                              <a:ea typeface="Cambria Math" panose="02040503050406030204" pitchFamily="18" charset="0"/>
                            </a:rPr>
                            <m:t>=1</m:t>
                          </m:r>
                        </m:sub>
                        <m:sup>
                          <m:r>
                            <a:rPr lang="en-US" altLang="zh-CN" sz="1600" i="1">
                              <a:latin typeface="Cambria Math" panose="02040503050406030204" pitchFamily="18" charset="0"/>
                              <a:ea typeface="Cambria Math" panose="02040503050406030204" pitchFamily="18" charset="0"/>
                            </a:rPr>
                            <m:t>𝑛</m:t>
                          </m:r>
                        </m:sup>
                        <m:e>
                          <m:r>
                            <a:rPr lang="en-US" altLang="zh-CN" sz="1600" i="1">
                              <a:latin typeface="Cambria Math" panose="02040503050406030204" pitchFamily="18" charset="0"/>
                              <a:ea typeface="Cambria Math" panose="02040503050406030204" pitchFamily="18" charset="0"/>
                            </a:rPr>
                            <m:t>𝛻</m:t>
                          </m:r>
                          <m:func>
                            <m:funcPr>
                              <m:ctrlPr>
                                <a:rPr lang="en-US" altLang="zh-CN" sz="1600" i="1">
                                  <a:latin typeface="Cambria Math" panose="02040503050406030204" pitchFamily="18" charset="0"/>
                                  <a:ea typeface="Cambria Math" panose="02040503050406030204" pitchFamily="18" charset="0"/>
                                </a:rPr>
                              </m:ctrlPr>
                            </m:funcPr>
                            <m:fName>
                              <m:r>
                                <m:rPr>
                                  <m:sty m:val="p"/>
                                </m:rPr>
                                <a:rPr lang="en-US" altLang="zh-CN" sz="1600">
                                  <a:latin typeface="Cambria Math" panose="02040503050406030204" pitchFamily="18" charset="0"/>
                                  <a:ea typeface="Cambria Math" panose="02040503050406030204" pitchFamily="18" charset="0"/>
                                </a:rPr>
                                <m:t>log</m:t>
                              </m:r>
                            </m:fName>
                            <m:e>
                              <m:r>
                                <a:rPr lang="en-US" altLang="zh-CN" sz="1600" i="1">
                                  <a:latin typeface="Cambria Math" panose="02040503050406030204" pitchFamily="18" charset="0"/>
                                  <a:ea typeface="Cambria Math" panose="02040503050406030204" pitchFamily="18" charset="0"/>
                                </a:rPr>
                                <m:t>𝑝</m:t>
                              </m:r>
                              <m:d>
                                <m:dPr>
                                  <m:ctrlPr>
                                    <a:rPr lang="en-US" altLang="zh-CN" sz="1600" i="1">
                                      <a:latin typeface="Cambria Math" panose="02040503050406030204" pitchFamily="18" charset="0"/>
                                      <a:ea typeface="Cambria Math" panose="02040503050406030204" pitchFamily="18" charset="0"/>
                                    </a:rPr>
                                  </m:ctrlPr>
                                </m:dPr>
                                <m:e>
                                  <m:sSubSup>
                                    <m:sSubSupPr>
                                      <m:ctrlPr>
                                        <a:rPr lang="en-US" altLang="zh-CN" sz="1600" i="1">
                                          <a:latin typeface="Cambria Math" panose="02040503050406030204" pitchFamily="18" charset="0"/>
                                          <a:ea typeface="Cambria Math" panose="02040503050406030204" pitchFamily="18" charset="0"/>
                                        </a:rPr>
                                      </m:ctrlPr>
                                    </m:sSubSupPr>
                                    <m:e>
                                      <m:r>
                                        <a:rPr lang="en-US" altLang="zh-CN" sz="1600" i="1">
                                          <a:latin typeface="Cambria Math" panose="02040503050406030204" pitchFamily="18" charset="0"/>
                                          <a:ea typeface="Cambria Math" panose="02040503050406030204" pitchFamily="18" charset="0"/>
                                        </a:rPr>
                                        <m:t>𝑦</m:t>
                                      </m:r>
                                    </m:e>
                                    <m:sub>
                                      <m:r>
                                        <a:rPr lang="en-US" altLang="zh-CN" sz="1600" i="1">
                                          <a:latin typeface="Cambria Math" panose="02040503050406030204" pitchFamily="18" charset="0"/>
                                          <a:ea typeface="Cambria Math" panose="02040503050406030204" pitchFamily="18" charset="0"/>
                                        </a:rPr>
                                        <m:t>𝑡</m:t>
                                      </m:r>
                                    </m:sub>
                                    <m:sup>
                                      <m:r>
                                        <a:rPr lang="en-US" altLang="zh-CN" sz="1600" i="1">
                                          <a:latin typeface="Cambria Math" panose="02040503050406030204" pitchFamily="18" charset="0"/>
                                          <a:ea typeface="Cambria Math" panose="02040503050406030204" pitchFamily="18" charset="0"/>
                                        </a:rPr>
                                        <m:t>(</m:t>
                                      </m:r>
                                      <m:r>
                                        <a:rPr lang="en-US" altLang="zh-CN" sz="1600" i="1">
                                          <a:latin typeface="Cambria Math" panose="02040503050406030204" pitchFamily="18" charset="0"/>
                                          <a:ea typeface="Cambria Math" panose="02040503050406030204" pitchFamily="18" charset="0"/>
                                        </a:rPr>
                                        <m:t>𝑖</m:t>
                                      </m:r>
                                      <m:r>
                                        <a:rPr lang="en-US" altLang="zh-CN" sz="1600" i="1">
                                          <a:latin typeface="Cambria Math" panose="02040503050406030204" pitchFamily="18" charset="0"/>
                                          <a:ea typeface="Cambria Math" panose="02040503050406030204" pitchFamily="18" charset="0"/>
                                        </a:rPr>
                                        <m:t>)</m:t>
                                      </m:r>
                                    </m:sup>
                                  </m:sSubSup>
                                </m:e>
                                <m:e>
                                  <m:sSubSup>
                                    <m:sSubSupPr>
                                      <m:ctrlPr>
                                        <a:rPr lang="en-US" altLang="zh-CN" sz="1600" i="1">
                                          <a:latin typeface="Cambria Math" panose="02040503050406030204" pitchFamily="18" charset="0"/>
                                          <a:ea typeface="Cambria Math" panose="02040503050406030204" pitchFamily="18" charset="0"/>
                                        </a:rPr>
                                      </m:ctrlPr>
                                    </m:sSubSupPr>
                                    <m:e>
                                      <m:r>
                                        <a:rPr lang="en-US" altLang="zh-CN" sz="1600" i="1">
                                          <a:latin typeface="Cambria Math" panose="02040503050406030204" pitchFamily="18" charset="0"/>
                                          <a:ea typeface="Cambria Math" panose="02040503050406030204" pitchFamily="18" charset="0"/>
                                        </a:rPr>
                                        <m:t>𝑥</m:t>
                                      </m:r>
                                    </m:e>
                                    <m:sub>
                                      <m:r>
                                        <a:rPr lang="en-US" altLang="zh-CN" sz="1600" i="1">
                                          <a:latin typeface="Cambria Math" panose="02040503050406030204" pitchFamily="18" charset="0"/>
                                          <a:ea typeface="Cambria Math" panose="02040503050406030204" pitchFamily="18" charset="0"/>
                                        </a:rPr>
                                        <m:t>𝑡</m:t>
                                      </m:r>
                                    </m:sub>
                                    <m:sup>
                                      <m:r>
                                        <a:rPr lang="en-US" altLang="zh-CN" sz="1600" i="1">
                                          <a:latin typeface="Cambria Math" panose="02040503050406030204" pitchFamily="18" charset="0"/>
                                          <a:ea typeface="Cambria Math" panose="02040503050406030204" pitchFamily="18" charset="0"/>
                                        </a:rPr>
                                        <m:t>(</m:t>
                                      </m:r>
                                      <m:r>
                                        <a:rPr lang="en-US" altLang="zh-CN" sz="1600" i="1">
                                          <a:latin typeface="Cambria Math" panose="02040503050406030204" pitchFamily="18" charset="0"/>
                                          <a:ea typeface="Cambria Math" panose="02040503050406030204" pitchFamily="18" charset="0"/>
                                        </a:rPr>
                                        <m:t>𝑖</m:t>
                                      </m:r>
                                      <m:r>
                                        <a:rPr lang="en-US" altLang="zh-CN" sz="1600" i="1">
                                          <a:latin typeface="Cambria Math" panose="02040503050406030204" pitchFamily="18" charset="0"/>
                                          <a:ea typeface="Cambria Math" panose="02040503050406030204" pitchFamily="18" charset="0"/>
                                        </a:rPr>
                                        <m:t>)</m:t>
                                      </m:r>
                                    </m:sup>
                                  </m:sSubSup>
                                  <m:r>
                                    <a:rPr lang="en-US" altLang="zh-CN" sz="1600" i="1">
                                      <a:latin typeface="Cambria Math" panose="02040503050406030204" pitchFamily="18" charset="0"/>
                                      <a:ea typeface="Cambria Math" panose="02040503050406030204" pitchFamily="18" charset="0"/>
                                    </a:rPr>
                                    <m:t>, </m:t>
                                  </m:r>
                                  <m:sSub>
                                    <m:sSubPr>
                                      <m:ctrlPr>
                                        <a:rPr lang="en-US" altLang="zh-CN" sz="1600" i="1">
                                          <a:latin typeface="Cambria Math" panose="02040503050406030204" pitchFamily="18" charset="0"/>
                                          <a:ea typeface="Cambria Math" panose="02040503050406030204" pitchFamily="18" charset="0"/>
                                        </a:rPr>
                                      </m:ctrlPr>
                                    </m:sSubPr>
                                    <m:e>
                                      <m:r>
                                        <a:rPr lang="en-US" altLang="zh-CN" sz="1600" i="1">
                                          <a:latin typeface="Cambria Math" panose="02040503050406030204" pitchFamily="18" charset="0"/>
                                          <a:ea typeface="Cambria Math" panose="02040503050406030204" pitchFamily="18" charset="0"/>
                                        </a:rPr>
                                        <m:t>𝜃</m:t>
                                      </m:r>
                                    </m:e>
                                    <m:sub>
                                      <m:r>
                                        <a:rPr lang="en-US" altLang="zh-CN" sz="1600" i="1">
                                          <a:latin typeface="Cambria Math" panose="02040503050406030204" pitchFamily="18" charset="0"/>
                                          <a:ea typeface="Cambria Math" panose="02040503050406030204" pitchFamily="18" charset="0"/>
                                        </a:rPr>
                                        <m:t>𝑡</m:t>
                                      </m:r>
                                    </m:sub>
                                  </m:sSub>
                                  <m:r>
                                    <a:rPr lang="en-US" altLang="zh-CN" sz="1600" i="1">
                                      <a:latin typeface="Cambria Math" panose="02040503050406030204" pitchFamily="18" charset="0"/>
                                      <a:ea typeface="Cambria Math" panose="02040503050406030204" pitchFamily="18" charset="0"/>
                                    </a:rPr>
                                    <m:t> </m:t>
                                  </m:r>
                                </m:e>
                              </m:d>
                            </m:e>
                          </m:func>
                        </m:e>
                      </m:nary>
                      <m:r>
                        <a:rPr lang="en-US" altLang="zh-CN" sz="1600">
                          <a:latin typeface="Cambria Math" panose="02040503050406030204" pitchFamily="18" charset="0"/>
                          <a:ea typeface="Cambria Math" panose="02040503050406030204" pitchFamily="18" charset="0"/>
                        </a:rPr>
                        <m:t>,  </m:t>
                      </m:r>
                    </m:oMath>
                  </m:oMathPara>
                </a14:m>
                <a:endParaRPr lang="en-US" altLang="zh-CN" sz="1600" dirty="0">
                  <a:latin typeface="Cambria Math" panose="02040503050406030204" pitchFamily="18" charset="0"/>
                  <a:ea typeface="Cambria Math" panose="02040503050406030204" pitchFamily="18" charset="0"/>
                </a:endParaRPr>
              </a:p>
              <a:p>
                <a:pPr marL="0" indent="0" algn="just">
                  <a:spcBef>
                    <a:spcPts val="0"/>
                  </a:spcBef>
                  <a:buNone/>
                </a:pPr>
                <a14:m>
                  <m:oMathPara xmlns:m="http://schemas.openxmlformats.org/officeDocument/2006/math">
                    <m:oMathParaPr>
                      <m:jc m:val="left"/>
                    </m:oMathParaPr>
                    <m:oMath xmlns:m="http://schemas.openxmlformats.org/officeDocument/2006/math">
                      <m:r>
                        <a:rPr lang="en-US" altLang="zh-CN" sz="1600">
                          <a:latin typeface="Cambria Math" panose="02040503050406030204" pitchFamily="18" charset="0"/>
                        </a:rPr>
                        <m:t>     </m:t>
                      </m:r>
                      <m:r>
                        <a:rPr lang="en-US" altLang="zh-CN" sz="1600">
                          <a:latin typeface="Cambria Math" panose="02040503050406030204" pitchFamily="18" charset="0"/>
                        </a:rPr>
                        <m:t>       </m:t>
                      </m:r>
                      <m:r>
                        <a:rPr lang="en-US" altLang="zh-CN" sz="1600">
                          <a:latin typeface="Cambria Math" panose="02040503050406030204" pitchFamily="18" charset="0"/>
                        </a:rPr>
                        <m:t>    </m:t>
                      </m:r>
                      <m:r>
                        <m:rPr>
                          <m:sty m:val="p"/>
                        </m:rPr>
                        <a:rPr lang="en-US" altLang="zh-CN" sz="1600">
                          <a:latin typeface="Cambria Math" panose="02040503050406030204" pitchFamily="18" charset="0"/>
                        </a:rPr>
                        <m:t>Δ</m:t>
                      </m:r>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𝜃</m:t>
                          </m:r>
                        </m:e>
                        <m:sub>
                          <m:r>
                            <a:rPr lang="en-US" altLang="zh-CN" sz="1600" i="1">
                              <a:latin typeface="Cambria Math" panose="02040503050406030204" pitchFamily="18" charset="0"/>
                            </a:rPr>
                            <m:t>𝑡</m:t>
                          </m:r>
                        </m:sub>
                      </m:sSub>
                      <m:r>
                        <a:rPr lang="en-US" altLang="zh-CN" sz="1600" i="1">
                          <a:latin typeface="Cambria Math" panose="02040503050406030204" pitchFamily="18" charset="0"/>
                        </a:rPr>
                        <m:t>=</m:t>
                      </m:r>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𝜖</m:t>
                          </m:r>
                        </m:e>
                        <m:sub>
                          <m:r>
                            <a:rPr lang="en-US" altLang="zh-CN" sz="1600" i="1">
                              <a:latin typeface="Cambria Math" panose="02040503050406030204" pitchFamily="18" charset="0"/>
                            </a:rPr>
                            <m:t>𝑡</m:t>
                          </m:r>
                        </m:sub>
                      </m:sSub>
                      <m:sSub>
                        <m:sSubPr>
                          <m:ctrlPr>
                            <a:rPr lang="en-US" altLang="zh-CN" sz="1600" i="1">
                              <a:latin typeface="Cambria Math" panose="02040503050406030204" pitchFamily="18" charset="0"/>
                              <a:ea typeface="Cambria Math" panose="02040503050406030204" pitchFamily="18" charset="0"/>
                            </a:rPr>
                          </m:ctrlPr>
                        </m:sSubPr>
                        <m:e>
                          <m:acc>
                            <m:accPr>
                              <m:chr m:val="̃"/>
                              <m:ctrlPr>
                                <a:rPr lang="en-US" altLang="zh-CN" sz="1600" i="1">
                                  <a:latin typeface="Cambria Math" panose="02040503050406030204" pitchFamily="18" charset="0"/>
                                  <a:ea typeface="Cambria Math" panose="02040503050406030204" pitchFamily="18" charset="0"/>
                                </a:rPr>
                              </m:ctrlPr>
                            </m:accPr>
                            <m:e>
                              <m:r>
                                <a:rPr lang="en-US" altLang="zh-CN" sz="1600" i="1">
                                  <a:latin typeface="Cambria Math" panose="02040503050406030204" pitchFamily="18" charset="0"/>
                                  <a:ea typeface="Cambria Math" panose="02040503050406030204" pitchFamily="18" charset="0"/>
                                </a:rPr>
                                <m:t>𝑔</m:t>
                              </m:r>
                            </m:e>
                          </m:acc>
                        </m:e>
                        <m:sub>
                          <m:r>
                            <a:rPr lang="en-US" altLang="zh-CN" sz="1600" i="1">
                              <a:latin typeface="Cambria Math" panose="02040503050406030204" pitchFamily="18" charset="0"/>
                              <a:ea typeface="Cambria Math" panose="02040503050406030204" pitchFamily="18" charset="0"/>
                            </a:rPr>
                            <m:t>𝑡</m:t>
                          </m:r>
                        </m:sub>
                      </m:sSub>
                    </m:oMath>
                  </m:oMathPara>
                </a14:m>
                <a:endParaRPr lang="en-US" altLang="zh-CN" sz="1600" dirty="0"/>
              </a:p>
            </p:txBody>
          </p:sp>
        </mc:Choice>
        <mc:Fallback>
          <p:sp>
            <p:nvSpPr>
              <p:cNvPr id="2" name="内容占位符 1"/>
              <p:cNvSpPr>
                <a:spLocks noGrp="1" noRot="1" noChangeAspect="1" noMove="1" noResize="1" noEditPoints="1" noAdjustHandles="1" noChangeArrowheads="1" noChangeShapeType="1" noTextEdit="1"/>
              </p:cNvSpPr>
              <p:nvPr>
                <p:ph idx="4294967295"/>
              </p:nvPr>
            </p:nvSpPr>
            <p:spPr>
              <a:xfrm>
                <a:off x="323528" y="1131590"/>
                <a:ext cx="8229600" cy="3816424"/>
              </a:xfrm>
              <a:blipFill>
                <a:blip r:embed="rId3"/>
                <a:stretch>
                  <a:fillRect l="-296" t="-8307"/>
                </a:stretch>
              </a:blipFill>
            </p:spPr>
            <p:txBody>
              <a:bodyPr/>
              <a:lstStyle/>
              <a:p>
                <a:r>
                  <a:rPr lang="zh-CN" altLang="en-US">
                    <a:noFill/>
                  </a:rPr>
                  <a:t> </a:t>
                </a:r>
              </a:p>
            </p:txBody>
          </p:sp>
        </mc:Fallback>
      </mc:AlternateContent>
      <p:sp>
        <p:nvSpPr>
          <p:cNvPr id="4" name="Rectangle 48"/>
          <p:cNvSpPr/>
          <p:nvPr/>
        </p:nvSpPr>
        <p:spPr>
          <a:xfrm>
            <a:off x="800098" y="339502"/>
            <a:ext cx="7948366" cy="4320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r>
              <a:rPr lang="en-US" altLang="zh-CN" sz="2000" b="1" dirty="0" smtClean="0">
                <a:solidFill>
                  <a:srgbClr val="002A6D"/>
                </a:solidFill>
                <a:latin typeface="微软雅黑" panose="020B0503020204020204" pitchFamily="34" charset="-122"/>
                <a:ea typeface="微软雅黑" panose="020B0503020204020204" pitchFamily="34" charset="-122"/>
              </a:rPr>
              <a:t>Training</a:t>
            </a:r>
            <a:r>
              <a:rPr lang="en-US" altLang="zh-CN" sz="2000" b="1" dirty="0">
                <a:solidFill>
                  <a:srgbClr val="002A6D"/>
                </a:solidFill>
                <a:latin typeface="微软雅黑" panose="020B0503020204020204" pitchFamily="34" charset="-122"/>
                <a:ea typeface="微软雅黑" panose="020B0503020204020204" pitchFamily="34" charset="-122"/>
              </a:rPr>
              <a:t>: SG-MCMC Sampling</a:t>
            </a:r>
            <a:endParaRPr lang="zh-CN" altLang="en-US" sz="2000" b="1" dirty="0">
              <a:solidFill>
                <a:srgbClr val="002A6D"/>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861312398"/>
      </p:ext>
    </p:extLst>
  </p:cSld>
  <p:clrMapOvr>
    <a:masterClrMapping/>
  </p:clrMapOvr>
  <mc:AlternateContent xmlns:mc="http://schemas.openxmlformats.org/markup-compatibility/2006" xmlns:p14="http://schemas.microsoft.com/office/powerpoint/2010/main">
    <mc:Choice Requires="p14">
      <p:transition p14:dur="250">
        <p:split orient="vert"/>
      </p:transition>
    </mc:Choice>
    <mc:Fallback xmlns="">
      <p:transition>
        <p:split orient="vert"/>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4294967295"/>
          </p:nvPr>
        </p:nvSpPr>
        <p:spPr>
          <a:xfrm>
            <a:off x="179512" y="1196957"/>
            <a:ext cx="8229600" cy="3394075"/>
          </a:xfrm>
        </p:spPr>
        <p:txBody>
          <a:bodyPr>
            <a:normAutofit/>
          </a:bodyPr>
          <a:lstStyle/>
          <a:p>
            <a:r>
              <a:rPr lang="en-US" altLang="zh-CN" sz="2000" dirty="0" smtClean="0"/>
              <a:t>Pruning of Fully-connected Neural Networks</a:t>
            </a:r>
            <a:endParaRPr lang="zh-CN" altLang="en-US" sz="2000" dirty="0"/>
          </a:p>
        </p:txBody>
      </p:sp>
      <p:sp>
        <p:nvSpPr>
          <p:cNvPr id="5" name="椭圆 4"/>
          <p:cNvSpPr/>
          <p:nvPr/>
        </p:nvSpPr>
        <p:spPr bwMode="auto">
          <a:xfrm>
            <a:off x="1891842" y="2155826"/>
            <a:ext cx="323788" cy="323788"/>
          </a:xfrm>
          <a:prstGeom prst="ellipse">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82296" tIns="41148" rIns="82296" bIns="41148" numCol="1" rtlCol="0" anchor="ctr" anchorCtr="0" compatLnSpc="1">
            <a:prstTxWarp prst="textNoShape">
              <a:avLst/>
            </a:prstTxWarp>
          </a:bodyPr>
          <a:lstStyle/>
          <a:p>
            <a:pPr marL="1429" indent="-1429" defTabSz="822960" fontAlgn="base">
              <a:spcBef>
                <a:spcPct val="50000"/>
              </a:spcBef>
              <a:spcAft>
                <a:spcPct val="0"/>
              </a:spcAft>
              <a:buClr>
                <a:schemeClr val="tx2"/>
              </a:buClr>
              <a:buSzPct val="60000"/>
            </a:pPr>
            <a:endParaRPr lang="zh-CN" altLang="en-US">
              <a:solidFill>
                <a:schemeClr val="tx1"/>
              </a:solidFill>
              <a:latin typeface="Arial" charset="0"/>
              <a:cs typeface="Arial" charset="0"/>
            </a:endParaRPr>
          </a:p>
        </p:txBody>
      </p:sp>
      <p:sp>
        <p:nvSpPr>
          <p:cNvPr id="10" name="椭圆 9"/>
          <p:cNvSpPr/>
          <p:nvPr/>
        </p:nvSpPr>
        <p:spPr bwMode="auto">
          <a:xfrm>
            <a:off x="1891842" y="1784382"/>
            <a:ext cx="323788" cy="323788"/>
          </a:xfrm>
          <a:prstGeom prst="ellipse">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82296" tIns="41148" rIns="82296" bIns="41148" numCol="1" rtlCol="0" anchor="ctr" anchorCtr="0" compatLnSpc="1">
            <a:prstTxWarp prst="textNoShape">
              <a:avLst/>
            </a:prstTxWarp>
          </a:bodyPr>
          <a:lstStyle/>
          <a:p>
            <a:pPr marL="1429" indent="-1429" defTabSz="822960" fontAlgn="base">
              <a:spcBef>
                <a:spcPct val="50000"/>
              </a:spcBef>
              <a:spcAft>
                <a:spcPct val="0"/>
              </a:spcAft>
              <a:buClr>
                <a:schemeClr val="tx2"/>
              </a:buClr>
              <a:buSzPct val="60000"/>
            </a:pPr>
            <a:endParaRPr lang="zh-CN" altLang="en-US">
              <a:solidFill>
                <a:schemeClr val="tx1"/>
              </a:solidFill>
              <a:latin typeface="Arial" charset="0"/>
              <a:cs typeface="Arial" charset="0"/>
            </a:endParaRPr>
          </a:p>
        </p:txBody>
      </p:sp>
      <p:sp>
        <p:nvSpPr>
          <p:cNvPr id="11" name="椭圆 10"/>
          <p:cNvSpPr/>
          <p:nvPr/>
        </p:nvSpPr>
        <p:spPr bwMode="auto">
          <a:xfrm>
            <a:off x="900244" y="2151107"/>
            <a:ext cx="323788" cy="323788"/>
          </a:xfrm>
          <a:prstGeom prst="ellipse">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82296" tIns="41148" rIns="82296" bIns="41148" numCol="1" rtlCol="0" anchor="ctr" anchorCtr="0" compatLnSpc="1">
            <a:prstTxWarp prst="textNoShape">
              <a:avLst/>
            </a:prstTxWarp>
          </a:bodyPr>
          <a:lstStyle/>
          <a:p>
            <a:pPr marL="1429" indent="-1429" defTabSz="822960" fontAlgn="base">
              <a:spcBef>
                <a:spcPct val="50000"/>
              </a:spcBef>
              <a:spcAft>
                <a:spcPct val="0"/>
              </a:spcAft>
              <a:buClr>
                <a:schemeClr val="tx2"/>
              </a:buClr>
              <a:buSzPct val="60000"/>
            </a:pPr>
            <a:endParaRPr lang="zh-CN" altLang="en-US">
              <a:solidFill>
                <a:schemeClr val="tx1"/>
              </a:solidFill>
              <a:latin typeface="Arial" charset="0"/>
              <a:cs typeface="Arial" charset="0"/>
            </a:endParaRPr>
          </a:p>
        </p:txBody>
      </p:sp>
      <p:sp>
        <p:nvSpPr>
          <p:cNvPr id="12" name="椭圆 11"/>
          <p:cNvSpPr/>
          <p:nvPr/>
        </p:nvSpPr>
        <p:spPr bwMode="auto">
          <a:xfrm>
            <a:off x="899592" y="2898715"/>
            <a:ext cx="323788" cy="323788"/>
          </a:xfrm>
          <a:prstGeom prst="ellipse">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82296" tIns="41148" rIns="82296" bIns="41148" numCol="1" rtlCol="0" anchor="ctr" anchorCtr="0" compatLnSpc="1">
            <a:prstTxWarp prst="textNoShape">
              <a:avLst/>
            </a:prstTxWarp>
          </a:bodyPr>
          <a:lstStyle/>
          <a:p>
            <a:pPr marL="1429" indent="-1429" defTabSz="822960" fontAlgn="base">
              <a:spcBef>
                <a:spcPct val="50000"/>
              </a:spcBef>
              <a:spcAft>
                <a:spcPct val="0"/>
              </a:spcAft>
              <a:buClr>
                <a:schemeClr val="tx2"/>
              </a:buClr>
              <a:buSzPct val="60000"/>
            </a:pPr>
            <a:endParaRPr lang="zh-CN" altLang="en-US">
              <a:solidFill>
                <a:schemeClr val="tx1"/>
              </a:solidFill>
              <a:latin typeface="Arial" charset="0"/>
              <a:cs typeface="Arial" charset="0"/>
            </a:endParaRPr>
          </a:p>
        </p:txBody>
      </p:sp>
      <p:pic>
        <p:nvPicPr>
          <p:cNvPr id="2053" name="Picture 5"/>
          <p:cNvPicPr>
            <a:picLocks noChangeAspect="1" noChangeArrowheads="1"/>
          </p:cNvPicPr>
          <p:nvPr/>
        </p:nvPicPr>
        <p:blipFill rotWithShape="1">
          <a:blip r:embed="rId3">
            <a:extLst>
              <a:ext uri="{28A0092B-C50C-407E-A947-70E740481C1C}">
                <a14:useLocalDpi xmlns:a14="http://schemas.microsoft.com/office/drawing/2010/main" val="0"/>
              </a:ext>
            </a:extLst>
          </a:blip>
          <a:srcRect t="53142" r="20773"/>
          <a:stretch/>
        </p:blipFill>
        <p:spPr bwMode="auto">
          <a:xfrm>
            <a:off x="3563888" y="3775210"/>
            <a:ext cx="2802123" cy="11458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椭圆 18"/>
          <p:cNvSpPr/>
          <p:nvPr/>
        </p:nvSpPr>
        <p:spPr bwMode="auto">
          <a:xfrm>
            <a:off x="1891842" y="2527271"/>
            <a:ext cx="323788" cy="323788"/>
          </a:xfrm>
          <a:prstGeom prst="ellipse">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82296" tIns="41148" rIns="82296" bIns="41148" numCol="1" rtlCol="0" anchor="ctr" anchorCtr="0" compatLnSpc="1">
            <a:prstTxWarp prst="textNoShape">
              <a:avLst/>
            </a:prstTxWarp>
          </a:bodyPr>
          <a:lstStyle/>
          <a:p>
            <a:pPr marL="1429" indent="-1429" defTabSz="822960" fontAlgn="base">
              <a:spcBef>
                <a:spcPct val="50000"/>
              </a:spcBef>
              <a:spcAft>
                <a:spcPct val="0"/>
              </a:spcAft>
              <a:buClr>
                <a:schemeClr val="tx2"/>
              </a:buClr>
              <a:buSzPct val="60000"/>
            </a:pPr>
            <a:endParaRPr lang="zh-CN" altLang="en-US">
              <a:solidFill>
                <a:schemeClr val="tx1"/>
              </a:solidFill>
              <a:latin typeface="Arial" charset="0"/>
              <a:cs typeface="Arial" charset="0"/>
            </a:endParaRPr>
          </a:p>
        </p:txBody>
      </p:sp>
      <p:sp>
        <p:nvSpPr>
          <p:cNvPr id="20" name="椭圆 19"/>
          <p:cNvSpPr/>
          <p:nvPr/>
        </p:nvSpPr>
        <p:spPr bwMode="auto">
          <a:xfrm>
            <a:off x="1891842" y="2898715"/>
            <a:ext cx="323788" cy="323788"/>
          </a:xfrm>
          <a:prstGeom prst="ellipse">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82296" tIns="41148" rIns="82296" bIns="41148" numCol="1" rtlCol="0" anchor="ctr" anchorCtr="0" compatLnSpc="1">
            <a:prstTxWarp prst="textNoShape">
              <a:avLst/>
            </a:prstTxWarp>
          </a:bodyPr>
          <a:lstStyle/>
          <a:p>
            <a:pPr marL="1429" indent="-1429" defTabSz="822960" fontAlgn="base">
              <a:spcBef>
                <a:spcPct val="50000"/>
              </a:spcBef>
              <a:spcAft>
                <a:spcPct val="0"/>
              </a:spcAft>
              <a:buClr>
                <a:schemeClr val="tx2"/>
              </a:buClr>
              <a:buSzPct val="60000"/>
            </a:pPr>
            <a:endParaRPr lang="zh-CN" altLang="en-US">
              <a:solidFill>
                <a:schemeClr val="tx1"/>
              </a:solidFill>
              <a:latin typeface="Arial" charset="0"/>
              <a:cs typeface="Arial" charset="0"/>
            </a:endParaRPr>
          </a:p>
        </p:txBody>
      </p:sp>
      <p:sp>
        <p:nvSpPr>
          <p:cNvPr id="23" name="椭圆 22"/>
          <p:cNvSpPr/>
          <p:nvPr/>
        </p:nvSpPr>
        <p:spPr bwMode="auto">
          <a:xfrm>
            <a:off x="1891842" y="3267902"/>
            <a:ext cx="323788" cy="323788"/>
          </a:xfrm>
          <a:prstGeom prst="ellipse">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82296" tIns="41148" rIns="82296" bIns="41148" numCol="1" rtlCol="0" anchor="ctr" anchorCtr="0" compatLnSpc="1">
            <a:prstTxWarp prst="textNoShape">
              <a:avLst/>
            </a:prstTxWarp>
          </a:bodyPr>
          <a:lstStyle/>
          <a:p>
            <a:pPr marL="1429" indent="-1429" defTabSz="822960" fontAlgn="base">
              <a:spcBef>
                <a:spcPct val="50000"/>
              </a:spcBef>
              <a:spcAft>
                <a:spcPct val="0"/>
              </a:spcAft>
              <a:buClr>
                <a:schemeClr val="tx2"/>
              </a:buClr>
              <a:buSzPct val="60000"/>
            </a:pPr>
            <a:endParaRPr lang="zh-CN" altLang="en-US">
              <a:solidFill>
                <a:schemeClr val="tx1"/>
              </a:solidFill>
              <a:latin typeface="Arial" charset="0"/>
              <a:cs typeface="Arial" charset="0"/>
            </a:endParaRPr>
          </a:p>
        </p:txBody>
      </p:sp>
      <p:cxnSp>
        <p:nvCxnSpPr>
          <p:cNvPr id="62" name="直接箭头连接符 61"/>
          <p:cNvCxnSpPr>
            <a:stCxn id="11" idx="6"/>
            <a:endCxn id="10" idx="2"/>
          </p:cNvCxnSpPr>
          <p:nvPr/>
        </p:nvCxnSpPr>
        <p:spPr bwMode="auto">
          <a:xfrm flipV="1">
            <a:off x="1224032" y="1946276"/>
            <a:ext cx="667810" cy="366725"/>
          </a:xfrm>
          <a:prstGeom prst="straightConnector1">
            <a:avLst/>
          </a:prstGeom>
          <a:ln>
            <a:headEnd type="none" w="med" len="med"/>
            <a:tailEnd type="triangle"/>
          </a:ln>
        </p:spPr>
        <p:style>
          <a:lnRef idx="1">
            <a:schemeClr val="accent2"/>
          </a:lnRef>
          <a:fillRef idx="0">
            <a:schemeClr val="accent2"/>
          </a:fillRef>
          <a:effectRef idx="0">
            <a:schemeClr val="accent2"/>
          </a:effectRef>
          <a:fontRef idx="minor">
            <a:schemeClr val="tx1"/>
          </a:fontRef>
        </p:style>
      </p:cxnSp>
      <p:cxnSp>
        <p:nvCxnSpPr>
          <p:cNvPr id="65" name="直接箭头连接符 64"/>
          <p:cNvCxnSpPr>
            <a:stCxn id="11" idx="6"/>
            <a:endCxn id="5" idx="2"/>
          </p:cNvCxnSpPr>
          <p:nvPr/>
        </p:nvCxnSpPr>
        <p:spPr bwMode="auto">
          <a:xfrm>
            <a:off x="1224032" y="2313000"/>
            <a:ext cx="667810" cy="4720"/>
          </a:xfrm>
          <a:prstGeom prst="straightConnector1">
            <a:avLst/>
          </a:prstGeom>
          <a:ln>
            <a:headEnd type="none" w="med" len="med"/>
            <a:tailEnd type="triangle"/>
          </a:ln>
        </p:spPr>
        <p:style>
          <a:lnRef idx="1">
            <a:schemeClr val="accent2"/>
          </a:lnRef>
          <a:fillRef idx="0">
            <a:schemeClr val="accent2"/>
          </a:fillRef>
          <a:effectRef idx="0">
            <a:schemeClr val="accent2"/>
          </a:effectRef>
          <a:fontRef idx="minor">
            <a:schemeClr val="tx1"/>
          </a:fontRef>
        </p:style>
      </p:cxnSp>
      <p:cxnSp>
        <p:nvCxnSpPr>
          <p:cNvPr id="68" name="直接箭头连接符 67"/>
          <p:cNvCxnSpPr>
            <a:stCxn id="12" idx="6"/>
            <a:endCxn id="19" idx="2"/>
          </p:cNvCxnSpPr>
          <p:nvPr/>
        </p:nvCxnSpPr>
        <p:spPr bwMode="auto">
          <a:xfrm flipV="1">
            <a:off x="1223380" y="2689165"/>
            <a:ext cx="668462" cy="371444"/>
          </a:xfrm>
          <a:prstGeom prst="straightConnector1">
            <a:avLst/>
          </a:prstGeom>
          <a:ln>
            <a:headEnd type="none" w="med" len="med"/>
            <a:tailEnd type="triangle"/>
          </a:ln>
        </p:spPr>
        <p:style>
          <a:lnRef idx="1">
            <a:schemeClr val="accent2"/>
          </a:lnRef>
          <a:fillRef idx="0">
            <a:schemeClr val="accent2"/>
          </a:fillRef>
          <a:effectRef idx="0">
            <a:schemeClr val="accent2"/>
          </a:effectRef>
          <a:fontRef idx="minor">
            <a:schemeClr val="tx1"/>
          </a:fontRef>
        </p:style>
      </p:cxnSp>
      <p:cxnSp>
        <p:nvCxnSpPr>
          <p:cNvPr id="76" name="直接箭头连接符 75"/>
          <p:cNvCxnSpPr>
            <a:stCxn id="12" idx="6"/>
            <a:endCxn id="5" idx="2"/>
          </p:cNvCxnSpPr>
          <p:nvPr/>
        </p:nvCxnSpPr>
        <p:spPr bwMode="auto">
          <a:xfrm flipV="1">
            <a:off x="1223380" y="2317720"/>
            <a:ext cx="668462" cy="742889"/>
          </a:xfrm>
          <a:prstGeom prst="straightConnector1">
            <a:avLst/>
          </a:prstGeom>
          <a:ln>
            <a:headEnd type="none" w="med" len="med"/>
            <a:tailEnd type="triangle"/>
          </a:ln>
        </p:spPr>
        <p:style>
          <a:lnRef idx="1">
            <a:schemeClr val="accent2"/>
          </a:lnRef>
          <a:fillRef idx="0">
            <a:schemeClr val="accent2"/>
          </a:fillRef>
          <a:effectRef idx="0">
            <a:schemeClr val="accent2"/>
          </a:effectRef>
          <a:fontRef idx="minor">
            <a:schemeClr val="tx1"/>
          </a:fontRef>
        </p:style>
      </p:cxnSp>
      <p:pic>
        <p:nvPicPr>
          <p:cNvPr id="85" name="图片 84"/>
          <p:cNvPicPr>
            <a:picLocks noChangeAspect="1"/>
          </p:cNvPicPr>
          <p:nvPr/>
        </p:nvPicPr>
        <p:blipFill rotWithShape="1">
          <a:blip r:embed="rId4"/>
          <a:srcRect r="19140"/>
          <a:stretch/>
        </p:blipFill>
        <p:spPr>
          <a:xfrm>
            <a:off x="395536" y="3763780"/>
            <a:ext cx="2675652" cy="1157288"/>
          </a:xfrm>
          <a:prstGeom prst="rect">
            <a:avLst/>
          </a:prstGeom>
        </p:spPr>
      </p:pic>
      <p:cxnSp>
        <p:nvCxnSpPr>
          <p:cNvPr id="88" name="直接箭头连接符 87"/>
          <p:cNvCxnSpPr>
            <a:stCxn id="11" idx="6"/>
            <a:endCxn id="23" idx="2"/>
          </p:cNvCxnSpPr>
          <p:nvPr/>
        </p:nvCxnSpPr>
        <p:spPr bwMode="auto">
          <a:xfrm>
            <a:off x="1224032" y="2313000"/>
            <a:ext cx="667810" cy="1116796"/>
          </a:xfrm>
          <a:prstGeom prst="straightConnector1">
            <a:avLst/>
          </a:prstGeom>
          <a:ln>
            <a:headEnd type="none" w="med" len="med"/>
            <a:tailEnd type="triangle"/>
          </a:ln>
        </p:spPr>
        <p:style>
          <a:lnRef idx="1">
            <a:schemeClr val="accent2"/>
          </a:lnRef>
          <a:fillRef idx="0">
            <a:schemeClr val="accent2"/>
          </a:fillRef>
          <a:effectRef idx="0">
            <a:schemeClr val="accent2"/>
          </a:effectRef>
          <a:fontRef idx="minor">
            <a:schemeClr val="tx1"/>
          </a:fontRef>
        </p:style>
      </p:cxnSp>
      <p:cxnSp>
        <p:nvCxnSpPr>
          <p:cNvPr id="93" name="直接箭头连接符 92"/>
          <p:cNvCxnSpPr>
            <a:stCxn id="10" idx="6"/>
          </p:cNvCxnSpPr>
          <p:nvPr/>
        </p:nvCxnSpPr>
        <p:spPr bwMode="auto">
          <a:xfrm>
            <a:off x="2215630" y="1946276"/>
            <a:ext cx="359439" cy="0"/>
          </a:xfrm>
          <a:prstGeom prst="straightConnector1">
            <a:avLst/>
          </a:prstGeom>
          <a:ln>
            <a:headEnd type="none" w="med" len="med"/>
            <a:tailEnd type="triangle"/>
          </a:ln>
        </p:spPr>
        <p:style>
          <a:lnRef idx="1">
            <a:schemeClr val="accent2"/>
          </a:lnRef>
          <a:fillRef idx="0">
            <a:schemeClr val="accent2"/>
          </a:fillRef>
          <a:effectRef idx="0">
            <a:schemeClr val="accent2"/>
          </a:effectRef>
          <a:fontRef idx="minor">
            <a:schemeClr val="tx1"/>
          </a:fontRef>
        </p:style>
      </p:cxnSp>
      <p:cxnSp>
        <p:nvCxnSpPr>
          <p:cNvPr id="103" name="直接箭头连接符 102"/>
          <p:cNvCxnSpPr>
            <a:stCxn id="5" idx="6"/>
          </p:cNvCxnSpPr>
          <p:nvPr/>
        </p:nvCxnSpPr>
        <p:spPr bwMode="auto">
          <a:xfrm>
            <a:off x="2215630" y="2317720"/>
            <a:ext cx="359439" cy="5423"/>
          </a:xfrm>
          <a:prstGeom prst="straightConnector1">
            <a:avLst/>
          </a:prstGeom>
          <a:ln>
            <a:headEnd type="none" w="med" len="med"/>
            <a:tailEnd type="triangle"/>
          </a:ln>
        </p:spPr>
        <p:style>
          <a:lnRef idx="1">
            <a:schemeClr val="accent2"/>
          </a:lnRef>
          <a:fillRef idx="0">
            <a:schemeClr val="accent2"/>
          </a:fillRef>
          <a:effectRef idx="0">
            <a:schemeClr val="accent2"/>
          </a:effectRef>
          <a:fontRef idx="minor">
            <a:schemeClr val="tx1"/>
          </a:fontRef>
        </p:style>
      </p:cxnSp>
      <p:cxnSp>
        <p:nvCxnSpPr>
          <p:cNvPr id="105" name="直接箭头连接符 104"/>
          <p:cNvCxnSpPr>
            <a:stCxn id="19" idx="6"/>
          </p:cNvCxnSpPr>
          <p:nvPr/>
        </p:nvCxnSpPr>
        <p:spPr bwMode="auto">
          <a:xfrm>
            <a:off x="2215630" y="2689165"/>
            <a:ext cx="359439" cy="0"/>
          </a:xfrm>
          <a:prstGeom prst="straightConnector1">
            <a:avLst/>
          </a:prstGeom>
          <a:ln>
            <a:headEnd type="none" w="med" len="med"/>
            <a:tailEnd type="triangle"/>
          </a:ln>
        </p:spPr>
        <p:style>
          <a:lnRef idx="1">
            <a:schemeClr val="accent2"/>
          </a:lnRef>
          <a:fillRef idx="0">
            <a:schemeClr val="accent2"/>
          </a:fillRef>
          <a:effectRef idx="0">
            <a:schemeClr val="accent2"/>
          </a:effectRef>
          <a:fontRef idx="minor">
            <a:schemeClr val="tx1"/>
          </a:fontRef>
        </p:style>
      </p:cxnSp>
      <p:cxnSp>
        <p:nvCxnSpPr>
          <p:cNvPr id="108" name="直接箭头连接符 107"/>
          <p:cNvCxnSpPr>
            <a:stCxn id="20" idx="6"/>
          </p:cNvCxnSpPr>
          <p:nvPr/>
        </p:nvCxnSpPr>
        <p:spPr bwMode="auto">
          <a:xfrm>
            <a:off x="2215630" y="3060609"/>
            <a:ext cx="359439" cy="0"/>
          </a:xfrm>
          <a:prstGeom prst="straightConnector1">
            <a:avLst/>
          </a:prstGeom>
          <a:ln>
            <a:headEnd type="none" w="med" len="med"/>
            <a:tailEnd type="triangle"/>
          </a:ln>
        </p:spPr>
        <p:style>
          <a:lnRef idx="1">
            <a:schemeClr val="accent2"/>
          </a:lnRef>
          <a:fillRef idx="0">
            <a:schemeClr val="accent2"/>
          </a:fillRef>
          <a:effectRef idx="0">
            <a:schemeClr val="accent2"/>
          </a:effectRef>
          <a:fontRef idx="minor">
            <a:schemeClr val="tx1"/>
          </a:fontRef>
        </p:style>
      </p:cxnSp>
      <p:cxnSp>
        <p:nvCxnSpPr>
          <p:cNvPr id="112" name="直接箭头连接符 111"/>
          <p:cNvCxnSpPr>
            <a:stCxn id="23" idx="6"/>
          </p:cNvCxnSpPr>
          <p:nvPr/>
        </p:nvCxnSpPr>
        <p:spPr bwMode="auto">
          <a:xfrm>
            <a:off x="2215630" y="3429796"/>
            <a:ext cx="359439" cy="0"/>
          </a:xfrm>
          <a:prstGeom prst="straightConnector1">
            <a:avLst/>
          </a:prstGeom>
          <a:ln>
            <a:headEnd type="none" w="med" len="med"/>
            <a:tailEnd type="triangle"/>
          </a:ln>
        </p:spPr>
        <p:style>
          <a:lnRef idx="1">
            <a:schemeClr val="accent2"/>
          </a:lnRef>
          <a:fillRef idx="0">
            <a:schemeClr val="accent2"/>
          </a:fillRef>
          <a:effectRef idx="0">
            <a:schemeClr val="accent2"/>
          </a:effectRef>
          <a:fontRef idx="minor">
            <a:schemeClr val="tx1"/>
          </a:fontRef>
        </p:style>
      </p:cxnSp>
      <p:sp>
        <p:nvSpPr>
          <p:cNvPr id="132" name="椭圆 131"/>
          <p:cNvSpPr/>
          <p:nvPr/>
        </p:nvSpPr>
        <p:spPr bwMode="auto">
          <a:xfrm>
            <a:off x="5440054" y="2151107"/>
            <a:ext cx="323788" cy="323788"/>
          </a:xfrm>
          <a:prstGeom prst="ellipse">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82296" tIns="41148" rIns="82296" bIns="41148" numCol="1" rtlCol="0" anchor="ctr" anchorCtr="0" compatLnSpc="1">
            <a:prstTxWarp prst="textNoShape">
              <a:avLst/>
            </a:prstTxWarp>
          </a:bodyPr>
          <a:lstStyle/>
          <a:p>
            <a:pPr marL="1429" indent="-1429" defTabSz="822960" fontAlgn="base">
              <a:spcBef>
                <a:spcPct val="50000"/>
              </a:spcBef>
              <a:spcAft>
                <a:spcPct val="0"/>
              </a:spcAft>
              <a:buClr>
                <a:schemeClr val="tx2"/>
              </a:buClr>
              <a:buSzPct val="60000"/>
            </a:pPr>
            <a:endParaRPr lang="zh-CN" altLang="en-US">
              <a:solidFill>
                <a:schemeClr val="tx1"/>
              </a:solidFill>
              <a:latin typeface="Arial" charset="0"/>
              <a:cs typeface="Arial" charset="0"/>
            </a:endParaRPr>
          </a:p>
        </p:txBody>
      </p:sp>
      <p:sp>
        <p:nvSpPr>
          <p:cNvPr id="133" name="椭圆 132"/>
          <p:cNvSpPr/>
          <p:nvPr/>
        </p:nvSpPr>
        <p:spPr bwMode="auto">
          <a:xfrm>
            <a:off x="5440054" y="1779662"/>
            <a:ext cx="323788" cy="323788"/>
          </a:xfrm>
          <a:prstGeom prst="ellipse">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82296" tIns="41148" rIns="82296" bIns="41148" numCol="1" rtlCol="0" anchor="ctr" anchorCtr="0" compatLnSpc="1">
            <a:prstTxWarp prst="textNoShape">
              <a:avLst/>
            </a:prstTxWarp>
          </a:bodyPr>
          <a:lstStyle/>
          <a:p>
            <a:pPr marL="1429" indent="-1429" defTabSz="822960" fontAlgn="base">
              <a:spcBef>
                <a:spcPct val="50000"/>
              </a:spcBef>
              <a:spcAft>
                <a:spcPct val="0"/>
              </a:spcAft>
              <a:buClr>
                <a:schemeClr val="tx2"/>
              </a:buClr>
              <a:buSzPct val="60000"/>
            </a:pPr>
            <a:endParaRPr lang="zh-CN" altLang="en-US">
              <a:solidFill>
                <a:schemeClr val="tx1"/>
              </a:solidFill>
              <a:latin typeface="Arial" charset="0"/>
              <a:cs typeface="Arial" charset="0"/>
            </a:endParaRPr>
          </a:p>
        </p:txBody>
      </p:sp>
      <p:sp>
        <p:nvSpPr>
          <p:cNvPr id="134" name="椭圆 133"/>
          <p:cNvSpPr/>
          <p:nvPr/>
        </p:nvSpPr>
        <p:spPr bwMode="auto">
          <a:xfrm>
            <a:off x="4448457" y="2146387"/>
            <a:ext cx="323788" cy="323788"/>
          </a:xfrm>
          <a:prstGeom prst="ellipse">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82296" tIns="41148" rIns="82296" bIns="41148" numCol="1" rtlCol="0" anchor="ctr" anchorCtr="0" compatLnSpc="1">
            <a:prstTxWarp prst="textNoShape">
              <a:avLst/>
            </a:prstTxWarp>
          </a:bodyPr>
          <a:lstStyle/>
          <a:p>
            <a:pPr marL="1429" indent="-1429" defTabSz="822960" fontAlgn="base">
              <a:spcBef>
                <a:spcPct val="50000"/>
              </a:spcBef>
              <a:spcAft>
                <a:spcPct val="0"/>
              </a:spcAft>
              <a:buClr>
                <a:schemeClr val="tx2"/>
              </a:buClr>
              <a:buSzPct val="60000"/>
            </a:pPr>
            <a:endParaRPr lang="zh-CN" altLang="en-US">
              <a:solidFill>
                <a:schemeClr val="tx1"/>
              </a:solidFill>
              <a:latin typeface="Arial" charset="0"/>
              <a:cs typeface="Arial" charset="0"/>
            </a:endParaRPr>
          </a:p>
        </p:txBody>
      </p:sp>
      <p:sp>
        <p:nvSpPr>
          <p:cNvPr id="135" name="椭圆 134"/>
          <p:cNvSpPr/>
          <p:nvPr/>
        </p:nvSpPr>
        <p:spPr bwMode="auto">
          <a:xfrm>
            <a:off x="4447804" y="2893995"/>
            <a:ext cx="323788" cy="323788"/>
          </a:xfrm>
          <a:prstGeom prst="ellipse">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82296" tIns="41148" rIns="82296" bIns="41148" numCol="1" rtlCol="0" anchor="ctr" anchorCtr="0" compatLnSpc="1">
            <a:prstTxWarp prst="textNoShape">
              <a:avLst/>
            </a:prstTxWarp>
          </a:bodyPr>
          <a:lstStyle/>
          <a:p>
            <a:pPr marL="1429" indent="-1429" defTabSz="822960" fontAlgn="base">
              <a:spcBef>
                <a:spcPct val="50000"/>
              </a:spcBef>
              <a:spcAft>
                <a:spcPct val="0"/>
              </a:spcAft>
              <a:buClr>
                <a:schemeClr val="tx2"/>
              </a:buClr>
              <a:buSzPct val="60000"/>
            </a:pPr>
            <a:endParaRPr lang="zh-CN" altLang="en-US">
              <a:solidFill>
                <a:schemeClr val="tx1"/>
              </a:solidFill>
              <a:latin typeface="Arial" charset="0"/>
              <a:cs typeface="Arial" charset="0"/>
            </a:endParaRPr>
          </a:p>
        </p:txBody>
      </p:sp>
      <p:sp>
        <p:nvSpPr>
          <p:cNvPr id="136" name="椭圆 135"/>
          <p:cNvSpPr/>
          <p:nvPr/>
        </p:nvSpPr>
        <p:spPr bwMode="auto">
          <a:xfrm>
            <a:off x="5440054" y="2522551"/>
            <a:ext cx="323788" cy="323788"/>
          </a:xfrm>
          <a:prstGeom prst="ellipse">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82296" tIns="41148" rIns="82296" bIns="41148" numCol="1" rtlCol="0" anchor="ctr" anchorCtr="0" compatLnSpc="1">
            <a:prstTxWarp prst="textNoShape">
              <a:avLst/>
            </a:prstTxWarp>
          </a:bodyPr>
          <a:lstStyle/>
          <a:p>
            <a:pPr marL="1429" indent="-1429" defTabSz="822960" fontAlgn="base">
              <a:spcBef>
                <a:spcPct val="50000"/>
              </a:spcBef>
              <a:spcAft>
                <a:spcPct val="0"/>
              </a:spcAft>
              <a:buClr>
                <a:schemeClr val="tx2"/>
              </a:buClr>
              <a:buSzPct val="60000"/>
            </a:pPr>
            <a:endParaRPr lang="zh-CN" altLang="en-US">
              <a:solidFill>
                <a:schemeClr val="tx1"/>
              </a:solidFill>
              <a:latin typeface="Arial" charset="0"/>
              <a:cs typeface="Arial" charset="0"/>
            </a:endParaRPr>
          </a:p>
        </p:txBody>
      </p:sp>
      <p:sp>
        <p:nvSpPr>
          <p:cNvPr id="137" name="椭圆 136"/>
          <p:cNvSpPr/>
          <p:nvPr/>
        </p:nvSpPr>
        <p:spPr bwMode="auto">
          <a:xfrm>
            <a:off x="5440054" y="2893995"/>
            <a:ext cx="323788" cy="323788"/>
          </a:xfrm>
          <a:prstGeom prst="ellipse">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82296" tIns="41148" rIns="82296" bIns="41148" numCol="1" rtlCol="0" anchor="ctr" anchorCtr="0" compatLnSpc="1">
            <a:prstTxWarp prst="textNoShape">
              <a:avLst/>
            </a:prstTxWarp>
          </a:bodyPr>
          <a:lstStyle/>
          <a:p>
            <a:pPr marL="1429" indent="-1429" defTabSz="822960" fontAlgn="base">
              <a:spcBef>
                <a:spcPct val="50000"/>
              </a:spcBef>
              <a:spcAft>
                <a:spcPct val="0"/>
              </a:spcAft>
              <a:buClr>
                <a:schemeClr val="tx2"/>
              </a:buClr>
              <a:buSzPct val="60000"/>
            </a:pPr>
            <a:endParaRPr lang="zh-CN" altLang="en-US">
              <a:solidFill>
                <a:schemeClr val="tx1"/>
              </a:solidFill>
              <a:latin typeface="Arial" charset="0"/>
              <a:cs typeface="Arial" charset="0"/>
            </a:endParaRPr>
          </a:p>
        </p:txBody>
      </p:sp>
      <p:sp>
        <p:nvSpPr>
          <p:cNvPr id="138" name="椭圆 137"/>
          <p:cNvSpPr/>
          <p:nvPr/>
        </p:nvSpPr>
        <p:spPr bwMode="auto">
          <a:xfrm>
            <a:off x="5440054" y="3263183"/>
            <a:ext cx="323788" cy="323788"/>
          </a:xfrm>
          <a:prstGeom prst="ellipse">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82296" tIns="41148" rIns="82296" bIns="41148" numCol="1" rtlCol="0" anchor="ctr" anchorCtr="0" compatLnSpc="1">
            <a:prstTxWarp prst="textNoShape">
              <a:avLst/>
            </a:prstTxWarp>
          </a:bodyPr>
          <a:lstStyle/>
          <a:p>
            <a:pPr marL="1429" indent="-1429" defTabSz="822960" fontAlgn="base">
              <a:spcBef>
                <a:spcPct val="50000"/>
              </a:spcBef>
              <a:spcAft>
                <a:spcPct val="0"/>
              </a:spcAft>
              <a:buClr>
                <a:schemeClr val="tx2"/>
              </a:buClr>
              <a:buSzPct val="60000"/>
            </a:pPr>
            <a:endParaRPr lang="zh-CN" altLang="en-US">
              <a:solidFill>
                <a:schemeClr val="tx1"/>
              </a:solidFill>
              <a:latin typeface="Arial" charset="0"/>
              <a:cs typeface="Arial" charset="0"/>
            </a:endParaRPr>
          </a:p>
        </p:txBody>
      </p:sp>
      <p:cxnSp>
        <p:nvCxnSpPr>
          <p:cNvPr id="139" name="直接箭头连接符 138"/>
          <p:cNvCxnSpPr>
            <a:stCxn id="135" idx="6"/>
            <a:endCxn id="133" idx="2"/>
          </p:cNvCxnSpPr>
          <p:nvPr/>
        </p:nvCxnSpPr>
        <p:spPr bwMode="auto">
          <a:xfrm flipV="1">
            <a:off x="4771592" y="1941556"/>
            <a:ext cx="668462" cy="1114333"/>
          </a:xfrm>
          <a:prstGeom prst="straightConnector1">
            <a:avLst/>
          </a:prstGeom>
          <a:ln>
            <a:headEnd type="none" w="med" len="med"/>
            <a:tailEnd type="triangle"/>
          </a:ln>
        </p:spPr>
        <p:style>
          <a:lnRef idx="1">
            <a:schemeClr val="accent2"/>
          </a:lnRef>
          <a:fillRef idx="0">
            <a:schemeClr val="accent2"/>
          </a:fillRef>
          <a:effectRef idx="0">
            <a:schemeClr val="accent2"/>
          </a:effectRef>
          <a:fontRef idx="minor">
            <a:schemeClr val="tx1"/>
          </a:fontRef>
        </p:style>
      </p:cxnSp>
      <p:cxnSp>
        <p:nvCxnSpPr>
          <p:cNvPr id="140" name="直接箭头连接符 139"/>
          <p:cNvCxnSpPr>
            <a:stCxn id="135" idx="6"/>
            <a:endCxn id="137" idx="2"/>
          </p:cNvCxnSpPr>
          <p:nvPr/>
        </p:nvCxnSpPr>
        <p:spPr bwMode="auto">
          <a:xfrm>
            <a:off x="4771592" y="3055889"/>
            <a:ext cx="668462" cy="0"/>
          </a:xfrm>
          <a:prstGeom prst="straightConnector1">
            <a:avLst/>
          </a:prstGeom>
          <a:ln>
            <a:headEnd type="none" w="med" len="med"/>
            <a:tailEnd type="triangle"/>
          </a:ln>
        </p:spPr>
        <p:style>
          <a:lnRef idx="1">
            <a:schemeClr val="accent2"/>
          </a:lnRef>
          <a:fillRef idx="0">
            <a:schemeClr val="accent2"/>
          </a:fillRef>
          <a:effectRef idx="0">
            <a:schemeClr val="accent2"/>
          </a:effectRef>
          <a:fontRef idx="minor">
            <a:schemeClr val="tx1"/>
          </a:fontRef>
        </p:style>
      </p:cxnSp>
      <p:cxnSp>
        <p:nvCxnSpPr>
          <p:cNvPr id="141" name="直接箭头连接符 140"/>
          <p:cNvCxnSpPr>
            <a:stCxn id="135" idx="6"/>
            <a:endCxn id="136" idx="2"/>
          </p:cNvCxnSpPr>
          <p:nvPr/>
        </p:nvCxnSpPr>
        <p:spPr bwMode="auto">
          <a:xfrm flipV="1">
            <a:off x="4771592" y="2684445"/>
            <a:ext cx="668462" cy="371444"/>
          </a:xfrm>
          <a:prstGeom prst="straightConnector1">
            <a:avLst/>
          </a:prstGeom>
          <a:ln>
            <a:headEnd type="none" w="med" len="med"/>
            <a:tailEnd type="triangle"/>
          </a:ln>
        </p:spPr>
        <p:style>
          <a:lnRef idx="1">
            <a:schemeClr val="accent2"/>
          </a:lnRef>
          <a:fillRef idx="0">
            <a:schemeClr val="accent2"/>
          </a:fillRef>
          <a:effectRef idx="0">
            <a:schemeClr val="accent2"/>
          </a:effectRef>
          <a:fontRef idx="minor">
            <a:schemeClr val="tx1"/>
          </a:fontRef>
        </p:style>
      </p:cxnSp>
      <p:cxnSp>
        <p:nvCxnSpPr>
          <p:cNvPr id="142" name="直接箭头连接符 141"/>
          <p:cNvCxnSpPr>
            <a:stCxn id="135" idx="6"/>
            <a:endCxn id="132" idx="2"/>
          </p:cNvCxnSpPr>
          <p:nvPr/>
        </p:nvCxnSpPr>
        <p:spPr bwMode="auto">
          <a:xfrm flipV="1">
            <a:off x="4771592" y="2313000"/>
            <a:ext cx="668462" cy="742889"/>
          </a:xfrm>
          <a:prstGeom prst="straightConnector1">
            <a:avLst/>
          </a:prstGeom>
          <a:ln>
            <a:headEnd type="none" w="med" len="med"/>
            <a:tailEnd type="triangle"/>
          </a:ln>
        </p:spPr>
        <p:style>
          <a:lnRef idx="1">
            <a:schemeClr val="accent2"/>
          </a:lnRef>
          <a:fillRef idx="0">
            <a:schemeClr val="accent2"/>
          </a:fillRef>
          <a:effectRef idx="0">
            <a:schemeClr val="accent2"/>
          </a:effectRef>
          <a:fontRef idx="minor">
            <a:schemeClr val="tx1"/>
          </a:fontRef>
        </p:style>
      </p:cxnSp>
      <p:cxnSp>
        <p:nvCxnSpPr>
          <p:cNvPr id="143" name="直接箭头连接符 142"/>
          <p:cNvCxnSpPr>
            <a:stCxn id="135" idx="6"/>
            <a:endCxn id="138" idx="2"/>
          </p:cNvCxnSpPr>
          <p:nvPr/>
        </p:nvCxnSpPr>
        <p:spPr bwMode="auto">
          <a:xfrm>
            <a:off x="4771592" y="3055889"/>
            <a:ext cx="668462" cy="369187"/>
          </a:xfrm>
          <a:prstGeom prst="straightConnector1">
            <a:avLst/>
          </a:prstGeom>
          <a:ln>
            <a:headEnd type="none" w="med" len="med"/>
            <a:tailEnd type="triangle"/>
          </a:ln>
        </p:spPr>
        <p:style>
          <a:lnRef idx="1">
            <a:schemeClr val="accent2"/>
          </a:lnRef>
          <a:fillRef idx="0">
            <a:schemeClr val="accent2"/>
          </a:fillRef>
          <a:effectRef idx="0">
            <a:schemeClr val="accent2"/>
          </a:effectRef>
          <a:fontRef idx="minor">
            <a:schemeClr val="tx1"/>
          </a:fontRef>
        </p:style>
      </p:cxnSp>
      <p:cxnSp>
        <p:nvCxnSpPr>
          <p:cNvPr id="144" name="直接箭头连接符 143"/>
          <p:cNvCxnSpPr>
            <a:stCxn id="133" idx="6"/>
          </p:cNvCxnSpPr>
          <p:nvPr/>
        </p:nvCxnSpPr>
        <p:spPr bwMode="auto">
          <a:xfrm>
            <a:off x="5763843" y="1941556"/>
            <a:ext cx="359439" cy="0"/>
          </a:xfrm>
          <a:prstGeom prst="straightConnector1">
            <a:avLst/>
          </a:prstGeom>
          <a:ln>
            <a:headEnd type="none" w="med" len="med"/>
            <a:tailEnd type="triangle"/>
          </a:ln>
        </p:spPr>
        <p:style>
          <a:lnRef idx="1">
            <a:schemeClr val="accent2"/>
          </a:lnRef>
          <a:fillRef idx="0">
            <a:schemeClr val="accent2"/>
          </a:fillRef>
          <a:effectRef idx="0">
            <a:schemeClr val="accent2"/>
          </a:effectRef>
          <a:fontRef idx="minor">
            <a:schemeClr val="tx1"/>
          </a:fontRef>
        </p:style>
      </p:cxnSp>
      <p:cxnSp>
        <p:nvCxnSpPr>
          <p:cNvPr id="145" name="直接箭头连接符 144"/>
          <p:cNvCxnSpPr>
            <a:stCxn id="132" idx="6"/>
          </p:cNvCxnSpPr>
          <p:nvPr/>
        </p:nvCxnSpPr>
        <p:spPr bwMode="auto">
          <a:xfrm>
            <a:off x="5763843" y="2313001"/>
            <a:ext cx="359439" cy="5423"/>
          </a:xfrm>
          <a:prstGeom prst="straightConnector1">
            <a:avLst/>
          </a:prstGeom>
          <a:ln>
            <a:headEnd type="none" w="med" len="med"/>
            <a:tailEnd type="triangle"/>
          </a:ln>
        </p:spPr>
        <p:style>
          <a:lnRef idx="1">
            <a:schemeClr val="accent2"/>
          </a:lnRef>
          <a:fillRef idx="0">
            <a:schemeClr val="accent2"/>
          </a:fillRef>
          <a:effectRef idx="0">
            <a:schemeClr val="accent2"/>
          </a:effectRef>
          <a:fontRef idx="minor">
            <a:schemeClr val="tx1"/>
          </a:fontRef>
        </p:style>
      </p:cxnSp>
      <p:cxnSp>
        <p:nvCxnSpPr>
          <p:cNvPr id="146" name="直接箭头连接符 145"/>
          <p:cNvCxnSpPr>
            <a:stCxn id="136" idx="6"/>
          </p:cNvCxnSpPr>
          <p:nvPr/>
        </p:nvCxnSpPr>
        <p:spPr bwMode="auto">
          <a:xfrm>
            <a:off x="5763843" y="2684445"/>
            <a:ext cx="359439" cy="0"/>
          </a:xfrm>
          <a:prstGeom prst="straightConnector1">
            <a:avLst/>
          </a:prstGeom>
          <a:ln>
            <a:headEnd type="none" w="med" len="med"/>
            <a:tailEnd type="triangle"/>
          </a:ln>
        </p:spPr>
        <p:style>
          <a:lnRef idx="1">
            <a:schemeClr val="accent2"/>
          </a:lnRef>
          <a:fillRef idx="0">
            <a:schemeClr val="accent2"/>
          </a:fillRef>
          <a:effectRef idx="0">
            <a:schemeClr val="accent2"/>
          </a:effectRef>
          <a:fontRef idx="minor">
            <a:schemeClr val="tx1"/>
          </a:fontRef>
        </p:style>
      </p:cxnSp>
      <p:cxnSp>
        <p:nvCxnSpPr>
          <p:cNvPr id="147" name="直接箭头连接符 146"/>
          <p:cNvCxnSpPr>
            <a:stCxn id="137" idx="6"/>
          </p:cNvCxnSpPr>
          <p:nvPr/>
        </p:nvCxnSpPr>
        <p:spPr bwMode="auto">
          <a:xfrm>
            <a:off x="5763843" y="3055889"/>
            <a:ext cx="359439" cy="0"/>
          </a:xfrm>
          <a:prstGeom prst="straightConnector1">
            <a:avLst/>
          </a:prstGeom>
          <a:ln>
            <a:headEnd type="none" w="med" len="med"/>
            <a:tailEnd type="triangle"/>
          </a:ln>
        </p:spPr>
        <p:style>
          <a:lnRef idx="1">
            <a:schemeClr val="accent2"/>
          </a:lnRef>
          <a:fillRef idx="0">
            <a:schemeClr val="accent2"/>
          </a:fillRef>
          <a:effectRef idx="0">
            <a:schemeClr val="accent2"/>
          </a:effectRef>
          <a:fontRef idx="minor">
            <a:schemeClr val="tx1"/>
          </a:fontRef>
        </p:style>
      </p:cxnSp>
      <p:cxnSp>
        <p:nvCxnSpPr>
          <p:cNvPr id="148" name="直接箭头连接符 147"/>
          <p:cNvCxnSpPr>
            <a:stCxn id="138" idx="6"/>
          </p:cNvCxnSpPr>
          <p:nvPr/>
        </p:nvCxnSpPr>
        <p:spPr bwMode="auto">
          <a:xfrm>
            <a:off x="5763843" y="3425077"/>
            <a:ext cx="359439" cy="0"/>
          </a:xfrm>
          <a:prstGeom prst="straightConnector1">
            <a:avLst/>
          </a:prstGeom>
          <a:ln>
            <a:headEnd type="none" w="med" len="med"/>
            <a:tailEnd type="triangle"/>
          </a:ln>
        </p:spPr>
        <p:style>
          <a:lnRef idx="1">
            <a:schemeClr val="accent2"/>
          </a:lnRef>
          <a:fillRef idx="0">
            <a:schemeClr val="accent2"/>
          </a:fillRef>
          <a:effectRef idx="0">
            <a:schemeClr val="accent2"/>
          </a:effectRef>
          <a:fontRef idx="minor">
            <a:schemeClr val="tx1"/>
          </a:fontRef>
        </p:style>
      </p:cxnSp>
      <p:sp>
        <p:nvSpPr>
          <p:cNvPr id="153" name="乘号 152"/>
          <p:cNvSpPr/>
          <p:nvPr/>
        </p:nvSpPr>
        <p:spPr bwMode="auto">
          <a:xfrm>
            <a:off x="4314065" y="2024761"/>
            <a:ext cx="580995" cy="580995"/>
          </a:xfrm>
          <a:prstGeom prst="mathMultiply">
            <a:avLst>
              <a:gd name="adj1" fmla="val 4943"/>
            </a:avLst>
          </a:prstGeom>
          <a:solidFill>
            <a:srgbClr val="FF0000"/>
          </a:solidFill>
          <a:ln w="28575" cap="flat" cmpd="sng" algn="ctr">
            <a:solidFill>
              <a:srgbClr val="FF0000"/>
            </a:solidFill>
            <a:prstDash val="solid"/>
            <a:round/>
            <a:headEnd type="none" w="med" len="med"/>
            <a:tailEnd type="none" w="med" len="med"/>
          </a:ln>
          <a:effectLst/>
        </p:spPr>
        <p:txBody>
          <a:bodyPr vert="horz" wrap="square" lIns="82296" tIns="41148" rIns="82296" bIns="41148" numCol="1" rtlCol="0" anchor="ctr" anchorCtr="0" compatLnSpc="1">
            <a:prstTxWarp prst="textNoShape">
              <a:avLst/>
            </a:prstTxWarp>
          </a:bodyPr>
          <a:lstStyle/>
          <a:p>
            <a:pPr marL="1429" indent="-1429" defTabSz="822960" fontAlgn="base">
              <a:spcBef>
                <a:spcPct val="50000"/>
              </a:spcBef>
              <a:spcAft>
                <a:spcPct val="0"/>
              </a:spcAft>
              <a:buClr>
                <a:schemeClr val="tx2"/>
              </a:buClr>
              <a:buSzPct val="60000"/>
            </a:pPr>
            <a:endParaRPr lang="zh-CN" altLang="en-US">
              <a:latin typeface="Arial" charset="0"/>
              <a:cs typeface="Arial" charset="0"/>
            </a:endParaRPr>
          </a:p>
        </p:txBody>
      </p:sp>
      <p:sp>
        <p:nvSpPr>
          <p:cNvPr id="41" name="Rectangle 48"/>
          <p:cNvSpPr/>
          <p:nvPr/>
        </p:nvSpPr>
        <p:spPr>
          <a:xfrm>
            <a:off x="800098" y="339502"/>
            <a:ext cx="7948366" cy="4320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r>
              <a:rPr lang="en-US" altLang="zh-CN" sz="2000" b="1" dirty="0" smtClean="0">
                <a:solidFill>
                  <a:srgbClr val="002A6D"/>
                </a:solidFill>
                <a:latin typeface="微软雅黑" panose="020B0503020204020204" pitchFamily="34" charset="-122"/>
                <a:ea typeface="微软雅黑" panose="020B0503020204020204" pitchFamily="34" charset="-122"/>
              </a:rPr>
              <a:t>Sparse </a:t>
            </a:r>
            <a:r>
              <a:rPr lang="en-US" altLang="zh-CN" sz="2000" b="1" dirty="0">
                <a:solidFill>
                  <a:srgbClr val="002A6D"/>
                </a:solidFill>
                <a:latin typeface="微软雅黑" panose="020B0503020204020204" pitchFamily="34" charset="-122"/>
                <a:ea typeface="微软雅黑" panose="020B0503020204020204" pitchFamily="34" charset="-122"/>
              </a:rPr>
              <a:t>Structured FNN</a:t>
            </a:r>
            <a:endParaRPr lang="zh-CN" altLang="en-US" sz="2000" b="1" dirty="0">
              <a:solidFill>
                <a:srgbClr val="002A6D"/>
              </a:solidFill>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a:blip r:embed="rId5"/>
          <a:stretch>
            <a:fillRect/>
          </a:stretch>
        </p:blipFill>
        <p:spPr>
          <a:xfrm>
            <a:off x="6919860" y="3984523"/>
            <a:ext cx="495300" cy="771525"/>
          </a:xfrm>
          <a:prstGeom prst="rect">
            <a:avLst/>
          </a:prstGeom>
        </p:spPr>
      </p:pic>
      <p:sp>
        <p:nvSpPr>
          <p:cNvPr id="6" name="文本框 5"/>
          <p:cNvSpPr txBox="1"/>
          <p:nvPr/>
        </p:nvSpPr>
        <p:spPr>
          <a:xfrm>
            <a:off x="7425121" y="4077899"/>
            <a:ext cx="1967981" cy="584775"/>
          </a:xfrm>
          <a:prstGeom prst="rect">
            <a:avLst/>
          </a:prstGeom>
          <a:noFill/>
        </p:spPr>
        <p:txBody>
          <a:bodyPr wrap="square" rtlCol="0">
            <a:spAutoFit/>
          </a:bodyPr>
          <a:lstStyle/>
          <a:p>
            <a:r>
              <a:rPr lang="en-US" altLang="zh-CN" sz="1600" dirty="0" smtClean="0"/>
              <a:t>Zero weight</a:t>
            </a:r>
          </a:p>
          <a:p>
            <a:r>
              <a:rPr lang="en-US" altLang="zh-CN" sz="1600" dirty="0" smtClean="0"/>
              <a:t>Non-zero weight</a:t>
            </a:r>
            <a:endParaRPr lang="zh-CN" altLang="en-US" sz="1600" dirty="0"/>
          </a:p>
        </p:txBody>
      </p:sp>
    </p:spTree>
    <p:extLst>
      <p:ext uri="{BB962C8B-B14F-4D97-AF65-F5344CB8AC3E}">
        <p14:creationId xmlns:p14="http://schemas.microsoft.com/office/powerpoint/2010/main" val="2772006365"/>
      </p:ext>
    </p:extLst>
  </p:cSld>
  <p:clrMapOvr>
    <a:masterClrMapping/>
  </p:clrMapOvr>
  <mc:AlternateContent xmlns:mc="http://schemas.openxmlformats.org/markup-compatibility/2006" xmlns:p14="http://schemas.microsoft.com/office/powerpoint/2010/main">
    <mc:Choice Requires="p14">
      <p:transition p14:dur="250">
        <p:split orient="vert"/>
      </p:transition>
    </mc:Choice>
    <mc:Fallback xmlns="">
      <p:transition>
        <p:split orient="vert"/>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4294967295"/>
          </p:nvPr>
        </p:nvSpPr>
        <p:spPr>
          <a:xfrm>
            <a:off x="179512" y="1203598"/>
            <a:ext cx="8229600" cy="3394075"/>
          </a:xfrm>
        </p:spPr>
        <p:txBody>
          <a:bodyPr/>
          <a:lstStyle/>
          <a:p>
            <a:r>
              <a:rPr lang="en-US" altLang="zh-CN" sz="2000" dirty="0"/>
              <a:t>Pruning of </a:t>
            </a:r>
            <a:r>
              <a:rPr lang="en-US" altLang="zh-CN" sz="2000" dirty="0" smtClean="0"/>
              <a:t>LSTMs</a:t>
            </a:r>
            <a:endParaRPr lang="zh-CN" altLang="en-US" sz="2000" dirty="0"/>
          </a:p>
          <a:p>
            <a:endParaRPr lang="zh-CN" altLang="en-US" dirty="0"/>
          </a:p>
        </p:txBody>
      </p:sp>
      <p:pic>
        <p:nvPicPr>
          <p:cNvPr id="9" name="图片 8"/>
          <p:cNvPicPr>
            <a:picLocks noChangeAspect="1"/>
          </p:cNvPicPr>
          <p:nvPr/>
        </p:nvPicPr>
        <p:blipFill>
          <a:blip r:embed="rId3"/>
          <a:stretch>
            <a:fillRect/>
          </a:stretch>
        </p:blipFill>
        <p:spPr>
          <a:xfrm>
            <a:off x="539552" y="1709108"/>
            <a:ext cx="2797009" cy="1916953"/>
          </a:xfrm>
          <a:prstGeom prst="rect">
            <a:avLst/>
          </a:prstGeom>
        </p:spPr>
      </p:pic>
      <p:pic>
        <p:nvPicPr>
          <p:cNvPr id="4" name="图片 3" descr="屏幕剪辑"/>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89246" y="1173809"/>
            <a:ext cx="4183964" cy="1809050"/>
          </a:xfrm>
          <a:prstGeom prst="rect">
            <a:avLst/>
          </a:prstGeom>
        </p:spPr>
      </p:pic>
      <p:pic>
        <p:nvPicPr>
          <p:cNvPr id="7" name="图片 6" descr="屏幕剪辑"/>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787138" y="2900635"/>
            <a:ext cx="2906483" cy="1423234"/>
          </a:xfrm>
          <a:prstGeom prst="rect">
            <a:avLst/>
          </a:prstGeom>
        </p:spPr>
      </p:pic>
      <p:sp>
        <p:nvSpPr>
          <p:cNvPr id="5" name="文本框 4"/>
          <p:cNvSpPr txBox="1"/>
          <p:nvPr/>
        </p:nvSpPr>
        <p:spPr>
          <a:xfrm>
            <a:off x="5292080" y="4526007"/>
            <a:ext cx="2592288" cy="307777"/>
          </a:xfrm>
          <a:prstGeom prst="rect">
            <a:avLst/>
          </a:prstGeom>
          <a:noFill/>
        </p:spPr>
        <p:txBody>
          <a:bodyPr wrap="square" rtlCol="0">
            <a:spAutoFit/>
          </a:bodyPr>
          <a:lstStyle/>
          <a:p>
            <a:r>
              <a:rPr lang="en-US" altLang="zh-CN" sz="1400" dirty="0"/>
              <a:t>Figure from Wei Wen et al. 2017</a:t>
            </a:r>
            <a:endParaRPr lang="zh-CN" altLang="en-US" sz="1400" dirty="0"/>
          </a:p>
        </p:txBody>
      </p:sp>
      <p:sp>
        <p:nvSpPr>
          <p:cNvPr id="8" name="Rectangle 48"/>
          <p:cNvSpPr/>
          <p:nvPr/>
        </p:nvSpPr>
        <p:spPr>
          <a:xfrm>
            <a:off x="800098" y="339502"/>
            <a:ext cx="7948366" cy="4320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r>
              <a:rPr lang="en-US" altLang="zh-CN" sz="2000" b="1" dirty="0" smtClean="0">
                <a:solidFill>
                  <a:srgbClr val="002A6D"/>
                </a:solidFill>
                <a:latin typeface="微软雅黑" panose="020B0503020204020204" pitchFamily="34" charset="-122"/>
                <a:ea typeface="微软雅黑" panose="020B0503020204020204" pitchFamily="34" charset="-122"/>
              </a:rPr>
              <a:t>Sparse </a:t>
            </a:r>
            <a:r>
              <a:rPr lang="en-US" altLang="zh-CN" sz="2000" b="1" dirty="0">
                <a:solidFill>
                  <a:srgbClr val="002A6D"/>
                </a:solidFill>
                <a:latin typeface="微软雅黑" panose="020B0503020204020204" pitchFamily="34" charset="-122"/>
                <a:ea typeface="微软雅黑" panose="020B0503020204020204" pitchFamily="34" charset="-122"/>
              </a:rPr>
              <a:t>Structured </a:t>
            </a:r>
            <a:r>
              <a:rPr lang="en-US" altLang="zh-CN" sz="2000" b="1" dirty="0" smtClean="0">
                <a:solidFill>
                  <a:srgbClr val="002A6D"/>
                </a:solidFill>
                <a:latin typeface="微软雅黑" panose="020B0503020204020204" pitchFamily="34" charset="-122"/>
                <a:ea typeface="微软雅黑" panose="020B0503020204020204" pitchFamily="34" charset="-122"/>
              </a:rPr>
              <a:t>LSTM</a:t>
            </a:r>
            <a:endParaRPr lang="zh-CN" altLang="en-US" sz="2000" b="1" dirty="0">
              <a:solidFill>
                <a:srgbClr val="002A6D"/>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70029143"/>
      </p:ext>
    </p:extLst>
  </p:cSld>
  <p:clrMapOvr>
    <a:masterClrMapping/>
  </p:clrMapOvr>
  <mc:AlternateContent xmlns:mc="http://schemas.openxmlformats.org/markup-compatibility/2006" xmlns:p14="http://schemas.microsoft.com/office/powerpoint/2010/main">
    <mc:Choice Requires="p14">
      <p:transition p14:dur="250">
        <p:split orient="vert"/>
      </p:transition>
    </mc:Choice>
    <mc:Fallback xmlns="">
      <p:transition>
        <p:split orient="vert"/>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3"/>
          <a:stretch>
            <a:fillRect/>
          </a:stretch>
        </p:blipFill>
        <p:spPr>
          <a:xfrm>
            <a:off x="1077468" y="1403664"/>
            <a:ext cx="2797009" cy="1916953"/>
          </a:xfrm>
          <a:prstGeom prst="rect">
            <a:avLst/>
          </a:prstGeom>
        </p:spPr>
      </p:pic>
      <p:pic>
        <p:nvPicPr>
          <p:cNvPr id="11" name="图片 10" descr="屏幕剪辑"/>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4283" y="1203597"/>
            <a:ext cx="3778975" cy="3738702"/>
          </a:xfrm>
          <a:prstGeom prst="rect">
            <a:avLst/>
          </a:prstGeom>
        </p:spPr>
      </p:pic>
      <p:graphicFrame>
        <p:nvGraphicFramePr>
          <p:cNvPr id="8" name="内容占位符 4"/>
          <p:cNvGraphicFramePr>
            <a:graphicFrameLocks/>
          </p:cNvGraphicFramePr>
          <p:nvPr>
            <p:extLst>
              <p:ext uri="{D42A27DB-BD31-4B8C-83A1-F6EECF244321}">
                <p14:modId xmlns:p14="http://schemas.microsoft.com/office/powerpoint/2010/main" val="3572814157"/>
              </p:ext>
            </p:extLst>
          </p:nvPr>
        </p:nvGraphicFramePr>
        <p:xfrm>
          <a:off x="4932040" y="1563638"/>
          <a:ext cx="3450362" cy="1267263"/>
        </p:xfrm>
        <a:graphic>
          <a:graphicData uri="http://schemas.openxmlformats.org/drawingml/2006/table">
            <a:tbl>
              <a:tblPr/>
              <a:tblGrid>
                <a:gridCol w="795641">
                  <a:extLst>
                    <a:ext uri="{9D8B030D-6E8A-4147-A177-3AD203B41FA5}">
                      <a16:colId xmlns:a16="http://schemas.microsoft.com/office/drawing/2014/main" val="3937648233"/>
                    </a:ext>
                  </a:extLst>
                </a:gridCol>
                <a:gridCol w="1266206">
                  <a:extLst>
                    <a:ext uri="{9D8B030D-6E8A-4147-A177-3AD203B41FA5}">
                      <a16:colId xmlns:a16="http://schemas.microsoft.com/office/drawing/2014/main" val="2188901535"/>
                    </a:ext>
                  </a:extLst>
                </a:gridCol>
                <a:gridCol w="734195">
                  <a:extLst>
                    <a:ext uri="{9D8B030D-6E8A-4147-A177-3AD203B41FA5}">
                      <a16:colId xmlns:a16="http://schemas.microsoft.com/office/drawing/2014/main" val="1803641389"/>
                    </a:ext>
                  </a:extLst>
                </a:gridCol>
                <a:gridCol w="654320">
                  <a:extLst>
                    <a:ext uri="{9D8B030D-6E8A-4147-A177-3AD203B41FA5}">
                      <a16:colId xmlns:a16="http://schemas.microsoft.com/office/drawing/2014/main" val="2016594525"/>
                    </a:ext>
                  </a:extLst>
                </a:gridCol>
              </a:tblGrid>
              <a:tr h="392295">
                <a:tc>
                  <a:txBody>
                    <a:bodyPr/>
                    <a:lstStyle/>
                    <a:p>
                      <a:pPr marL="0" marR="0" algn="ctr" fontAlgn="t">
                        <a:spcBef>
                          <a:spcPts val="0"/>
                        </a:spcBef>
                        <a:spcAft>
                          <a:spcPts val="0"/>
                        </a:spcAft>
                      </a:pPr>
                      <a:r>
                        <a:rPr lang="en-US" sz="1200" dirty="0">
                          <a:effectLst/>
                          <a:latin typeface="Arial" panose="020B0604020202020204" pitchFamily="34" charset="0"/>
                          <a:ea typeface="Microsoft YaHei" panose="020B0503020204020204" pitchFamily="34" charset="-122"/>
                          <a:cs typeface="Arial" panose="020B0604020202020204" pitchFamily="34" charset="0"/>
                        </a:rPr>
                        <a:t> </a:t>
                      </a:r>
                    </a:p>
                  </a:txBody>
                  <a:tcPr marL="35862" marR="35862" marT="35862" marB="35862" anchor="ctr">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chemeClr val="bg1"/>
                    </a:solidFill>
                  </a:tcPr>
                </a:tc>
                <a:tc>
                  <a:txBody>
                    <a:bodyPr/>
                    <a:lstStyle/>
                    <a:p>
                      <a:pPr marL="0" marR="0" algn="ctr" fontAlgn="t">
                        <a:spcBef>
                          <a:spcPts val="0"/>
                        </a:spcBef>
                        <a:spcAft>
                          <a:spcPts val="0"/>
                        </a:spcAft>
                      </a:pPr>
                      <a:r>
                        <a:rPr lang="en-US" sz="1200" dirty="0" smtClean="0">
                          <a:effectLst/>
                          <a:latin typeface="Arial" panose="020B0604020202020204" pitchFamily="34" charset="0"/>
                          <a:ea typeface="Microsoft YaHei" panose="020B0503020204020204" pitchFamily="34" charset="-122"/>
                          <a:cs typeface="Arial" panose="020B0604020202020204" pitchFamily="34" charset="0"/>
                        </a:rPr>
                        <a:t>Structure</a:t>
                      </a:r>
                      <a:endParaRPr lang="en-US" sz="1200" dirty="0">
                        <a:effectLst/>
                        <a:latin typeface="Arial" panose="020B0604020202020204" pitchFamily="34" charset="0"/>
                        <a:ea typeface="Microsoft YaHei" panose="020B0503020204020204" pitchFamily="34" charset="-122"/>
                        <a:cs typeface="Arial" panose="020B0604020202020204" pitchFamily="34" charset="0"/>
                      </a:endParaRPr>
                    </a:p>
                  </a:txBody>
                  <a:tcPr marL="35862" marR="35862" marT="35862" marB="35862" anchor="ctr">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chemeClr val="bg1"/>
                    </a:solidFill>
                  </a:tcPr>
                </a:tc>
                <a:tc>
                  <a:txBody>
                    <a:bodyPr/>
                    <a:lstStyle/>
                    <a:p>
                      <a:pPr marL="0" marR="0" algn="ctr" fontAlgn="t">
                        <a:spcBef>
                          <a:spcPts val="0"/>
                        </a:spcBef>
                        <a:spcAft>
                          <a:spcPts val="0"/>
                        </a:spcAft>
                      </a:pPr>
                      <a:r>
                        <a:rPr lang="en-US" altLang="zh-CN" sz="1200" dirty="0" err="1" smtClean="0">
                          <a:effectLst/>
                          <a:latin typeface="Arial" panose="020B0604020202020204" pitchFamily="34" charset="0"/>
                          <a:ea typeface="Microsoft YaHei" panose="020B0503020204020204" pitchFamily="34" charset="-122"/>
                          <a:cs typeface="Arial" panose="020B0604020202020204" pitchFamily="34" charset="0"/>
                        </a:rPr>
                        <a:t>Params</a:t>
                      </a:r>
                      <a:endParaRPr lang="zh-CN" sz="1200" dirty="0">
                        <a:effectLst/>
                        <a:latin typeface="Arial" panose="020B0604020202020204" pitchFamily="34" charset="0"/>
                        <a:ea typeface="Microsoft YaHei" panose="020B0503020204020204" pitchFamily="34" charset="-122"/>
                        <a:cs typeface="Arial" panose="020B0604020202020204" pitchFamily="34" charset="0"/>
                      </a:endParaRPr>
                    </a:p>
                  </a:txBody>
                  <a:tcPr marL="35862" marR="35862" marT="35862" marB="35862" anchor="ctr">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chemeClr val="bg1"/>
                    </a:solidFill>
                  </a:tcPr>
                </a:tc>
                <a:tc>
                  <a:txBody>
                    <a:bodyPr/>
                    <a:lstStyle/>
                    <a:p>
                      <a:pPr marL="0" marR="0" algn="ctr" fontAlgn="t">
                        <a:spcBef>
                          <a:spcPts val="0"/>
                        </a:spcBef>
                        <a:spcAft>
                          <a:spcPts val="0"/>
                        </a:spcAft>
                      </a:pPr>
                      <a:r>
                        <a:rPr lang="en-US" sz="1200" dirty="0" smtClean="0">
                          <a:effectLst/>
                          <a:latin typeface="Arial" panose="020B0604020202020204" pitchFamily="34" charset="0"/>
                          <a:ea typeface="Microsoft YaHei" panose="020B0503020204020204" pitchFamily="34" charset="-122"/>
                          <a:cs typeface="Arial" panose="020B0604020202020204" pitchFamily="34" charset="0"/>
                        </a:rPr>
                        <a:t>FLOPs</a:t>
                      </a:r>
                      <a:endParaRPr lang="zh-CN" sz="1200" dirty="0">
                        <a:effectLst/>
                        <a:latin typeface="Arial" panose="020B0604020202020204" pitchFamily="34" charset="0"/>
                        <a:ea typeface="Microsoft YaHei" panose="020B0503020204020204" pitchFamily="34" charset="-122"/>
                        <a:cs typeface="Arial" panose="020B0604020202020204" pitchFamily="34" charset="0"/>
                      </a:endParaRPr>
                    </a:p>
                  </a:txBody>
                  <a:tcPr marL="35862" marR="35862" marT="35862" marB="35862" anchor="ctr">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chemeClr val="bg1"/>
                    </a:solidFill>
                  </a:tcPr>
                </a:tc>
                <a:extLst>
                  <a:ext uri="{0D108BD9-81ED-4DB2-BD59-A6C34878D82A}">
                    <a16:rowId xmlns:a16="http://schemas.microsoft.com/office/drawing/2014/main" val="814283128"/>
                  </a:ext>
                </a:extLst>
              </a:tr>
              <a:tr h="428341">
                <a:tc>
                  <a:txBody>
                    <a:bodyPr/>
                    <a:lstStyle/>
                    <a:p>
                      <a:pPr marL="0" marR="0" algn="ctr" fontAlgn="t">
                        <a:spcBef>
                          <a:spcPts val="0"/>
                        </a:spcBef>
                        <a:spcAft>
                          <a:spcPts val="0"/>
                        </a:spcAft>
                      </a:pPr>
                      <a:r>
                        <a:rPr lang="en-US" sz="1200" dirty="0" smtClean="0">
                          <a:effectLst/>
                          <a:latin typeface="Arial" panose="020B0604020202020204" pitchFamily="34" charset="0"/>
                          <a:ea typeface="Microsoft YaHei" panose="020B0503020204020204" pitchFamily="34" charset="-122"/>
                          <a:cs typeface="Arial" panose="020B0604020202020204" pitchFamily="34" charset="0"/>
                        </a:rPr>
                        <a:t>Original </a:t>
                      </a:r>
                      <a:r>
                        <a:rPr lang="en-US" sz="1200" dirty="0">
                          <a:effectLst/>
                          <a:latin typeface="Arial" panose="020B0604020202020204" pitchFamily="34" charset="0"/>
                          <a:ea typeface="Microsoft YaHei" panose="020B0503020204020204" pitchFamily="34" charset="-122"/>
                          <a:cs typeface="Arial" panose="020B0604020202020204" pitchFamily="34" charset="0"/>
                        </a:rPr>
                        <a:t>model</a:t>
                      </a:r>
                    </a:p>
                  </a:txBody>
                  <a:tcPr marL="35862" marR="35862" marT="35862" marB="35862" anchor="ctr">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chemeClr val="bg1"/>
                    </a:solidFill>
                  </a:tcPr>
                </a:tc>
                <a:tc>
                  <a:txBody>
                    <a:bodyPr/>
                    <a:lstStyle/>
                    <a:p>
                      <a:pPr marL="0" marR="0" algn="ctr" fontAlgn="t">
                        <a:spcBef>
                          <a:spcPts val="0"/>
                        </a:spcBef>
                        <a:spcAft>
                          <a:spcPts val="0"/>
                        </a:spcAft>
                      </a:pPr>
                      <a:r>
                        <a:rPr lang="en-US" sz="1200" dirty="0">
                          <a:effectLst/>
                          <a:latin typeface="Arial" panose="020B0604020202020204" pitchFamily="34" charset="0"/>
                          <a:ea typeface="Microsoft YaHei" panose="020B0503020204020204" pitchFamily="34" charset="-122"/>
                          <a:cs typeface="Arial" panose="020B0604020202020204" pitchFamily="34" charset="0"/>
                        </a:rPr>
                        <a:t>1500-1500-1500</a:t>
                      </a:r>
                    </a:p>
                  </a:txBody>
                  <a:tcPr marL="35862" marR="35862" marT="35862" marB="35862" anchor="ctr">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chemeClr val="bg1"/>
                    </a:solidFill>
                  </a:tcPr>
                </a:tc>
                <a:tc>
                  <a:txBody>
                    <a:bodyPr/>
                    <a:lstStyle/>
                    <a:p>
                      <a:pPr marL="0" marR="0" algn="ctr" fontAlgn="t">
                        <a:spcBef>
                          <a:spcPts val="0"/>
                        </a:spcBef>
                        <a:spcAft>
                          <a:spcPts val="0"/>
                        </a:spcAft>
                      </a:pPr>
                      <a:r>
                        <a:rPr lang="en-US" sz="1200" dirty="0" smtClean="0">
                          <a:effectLst/>
                          <a:latin typeface="Arial" panose="020B0604020202020204" pitchFamily="34" charset="0"/>
                          <a:ea typeface="Microsoft YaHei" panose="020B0503020204020204" pitchFamily="34" charset="-122"/>
                          <a:cs typeface="Arial" panose="020B0604020202020204" pitchFamily="34" charset="0"/>
                        </a:rPr>
                        <a:t>51M</a:t>
                      </a:r>
                      <a:endParaRPr lang="en-US" sz="1200" dirty="0">
                        <a:effectLst/>
                        <a:latin typeface="Arial" panose="020B0604020202020204" pitchFamily="34" charset="0"/>
                        <a:ea typeface="Microsoft YaHei" panose="020B0503020204020204" pitchFamily="34" charset="-122"/>
                        <a:cs typeface="Arial" panose="020B0604020202020204" pitchFamily="34" charset="0"/>
                      </a:endParaRPr>
                    </a:p>
                  </a:txBody>
                  <a:tcPr marL="35862" marR="35862" marT="35862" marB="35862" anchor="ctr">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chemeClr val="bg1"/>
                    </a:solidFill>
                  </a:tcPr>
                </a:tc>
                <a:tc>
                  <a:txBody>
                    <a:bodyPr/>
                    <a:lstStyle/>
                    <a:p>
                      <a:pPr marL="0" marR="0" algn="ctr" fontAlgn="t">
                        <a:spcBef>
                          <a:spcPts val="0"/>
                        </a:spcBef>
                        <a:spcAft>
                          <a:spcPts val="0"/>
                        </a:spcAft>
                      </a:pPr>
                      <a:r>
                        <a:rPr lang="en-US" sz="1200" dirty="0">
                          <a:effectLst/>
                          <a:latin typeface="Arial" panose="020B0604020202020204" pitchFamily="34" charset="0"/>
                          <a:ea typeface="Microsoft YaHei" panose="020B0503020204020204" pitchFamily="34" charset="-122"/>
                          <a:cs typeface="Arial" panose="020B0604020202020204" pitchFamily="34" charset="0"/>
                        </a:rPr>
                        <a:t>100%</a:t>
                      </a:r>
                    </a:p>
                  </a:txBody>
                  <a:tcPr marL="35862" marR="35862" marT="35862" marB="35862" anchor="ctr">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chemeClr val="bg1"/>
                    </a:solidFill>
                  </a:tcPr>
                </a:tc>
                <a:extLst>
                  <a:ext uri="{0D108BD9-81ED-4DB2-BD59-A6C34878D82A}">
                    <a16:rowId xmlns:a16="http://schemas.microsoft.com/office/drawing/2014/main" val="912286764"/>
                  </a:ext>
                </a:extLst>
              </a:tr>
              <a:tr h="428341">
                <a:tc>
                  <a:txBody>
                    <a:bodyPr/>
                    <a:lstStyle/>
                    <a:p>
                      <a:pPr marL="0" marR="0" algn="ctr" fontAlgn="t">
                        <a:spcBef>
                          <a:spcPts val="0"/>
                        </a:spcBef>
                        <a:spcAft>
                          <a:spcPts val="0"/>
                        </a:spcAft>
                      </a:pPr>
                      <a:r>
                        <a:rPr lang="en-US" sz="1200" dirty="0">
                          <a:effectLst/>
                          <a:latin typeface="Arial" panose="020B0604020202020204" pitchFamily="34" charset="0"/>
                          <a:ea typeface="Microsoft YaHei" panose="020B0503020204020204" pitchFamily="34" charset="-122"/>
                          <a:cs typeface="Arial" panose="020B0604020202020204" pitchFamily="34" charset="0"/>
                        </a:rPr>
                        <a:t>Pruned model</a:t>
                      </a:r>
                    </a:p>
                  </a:txBody>
                  <a:tcPr marL="35862" marR="35862" marT="35862" marB="35862" anchor="ctr">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chemeClr val="bg1"/>
                    </a:solidFill>
                  </a:tcPr>
                </a:tc>
                <a:tc>
                  <a:txBody>
                    <a:bodyPr/>
                    <a:lstStyle/>
                    <a:p>
                      <a:pPr marL="0" marR="0" algn="ctr" fontAlgn="t">
                        <a:spcBef>
                          <a:spcPts val="0"/>
                        </a:spcBef>
                        <a:spcAft>
                          <a:spcPts val="0"/>
                        </a:spcAft>
                      </a:pPr>
                      <a:r>
                        <a:rPr lang="en-US" sz="1200" dirty="0">
                          <a:effectLst/>
                          <a:latin typeface="Arial" panose="020B0604020202020204" pitchFamily="34" charset="0"/>
                          <a:ea typeface="Microsoft YaHei" panose="020B0503020204020204" pitchFamily="34" charset="-122"/>
                          <a:cs typeface="Arial" panose="020B0604020202020204" pitchFamily="34" charset="0"/>
                        </a:rPr>
                        <a:t>533-425-533</a:t>
                      </a:r>
                    </a:p>
                  </a:txBody>
                  <a:tcPr marL="35862" marR="35862" marT="35862" marB="35862" anchor="ctr">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chemeClr val="bg1"/>
                    </a:solidFill>
                  </a:tcPr>
                </a:tc>
                <a:tc>
                  <a:txBody>
                    <a:bodyPr/>
                    <a:lstStyle/>
                    <a:p>
                      <a:pPr marL="0" marR="0" algn="ctr" fontAlgn="t">
                        <a:spcBef>
                          <a:spcPts val="0"/>
                        </a:spcBef>
                        <a:spcAft>
                          <a:spcPts val="0"/>
                        </a:spcAft>
                      </a:pPr>
                      <a:r>
                        <a:rPr lang="en-US" sz="1200" dirty="0" smtClean="0">
                          <a:effectLst/>
                          <a:latin typeface="Arial" panose="020B0604020202020204" pitchFamily="34" charset="0"/>
                          <a:ea typeface="Microsoft YaHei" panose="020B0503020204020204" pitchFamily="34" charset="-122"/>
                          <a:cs typeface="Arial" panose="020B0604020202020204" pitchFamily="34" charset="0"/>
                        </a:rPr>
                        <a:t>9M(18%)</a:t>
                      </a:r>
                      <a:endParaRPr lang="en-US" sz="1200" dirty="0">
                        <a:effectLst/>
                        <a:latin typeface="Arial" panose="020B0604020202020204" pitchFamily="34" charset="0"/>
                        <a:ea typeface="Microsoft YaHei" panose="020B0503020204020204" pitchFamily="34" charset="-122"/>
                        <a:cs typeface="Arial" panose="020B0604020202020204" pitchFamily="34" charset="0"/>
                      </a:endParaRPr>
                    </a:p>
                  </a:txBody>
                  <a:tcPr marL="35862" marR="35862" marT="35862" marB="35862" anchor="ctr">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chemeClr val="bg1"/>
                    </a:solidFill>
                  </a:tcPr>
                </a:tc>
                <a:tc>
                  <a:txBody>
                    <a:bodyPr/>
                    <a:lstStyle/>
                    <a:p>
                      <a:pPr marL="0" marR="0" algn="ctr" fontAlgn="t">
                        <a:spcBef>
                          <a:spcPts val="0"/>
                        </a:spcBef>
                        <a:spcAft>
                          <a:spcPts val="0"/>
                        </a:spcAft>
                      </a:pPr>
                      <a:r>
                        <a:rPr lang="en-US" sz="1200" dirty="0">
                          <a:effectLst/>
                          <a:latin typeface="Arial" panose="020B0604020202020204" pitchFamily="34" charset="0"/>
                          <a:ea typeface="Microsoft YaHei" panose="020B0503020204020204" pitchFamily="34" charset="-122"/>
                          <a:cs typeface="Arial" panose="020B0604020202020204" pitchFamily="34" charset="0"/>
                        </a:rPr>
                        <a:t>18%</a:t>
                      </a:r>
                    </a:p>
                  </a:txBody>
                  <a:tcPr marL="35862" marR="35862" marT="35862" marB="35862" anchor="ctr">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chemeClr val="bg1"/>
                    </a:solidFill>
                  </a:tcPr>
                </a:tc>
                <a:extLst>
                  <a:ext uri="{0D108BD9-81ED-4DB2-BD59-A6C34878D82A}">
                    <a16:rowId xmlns:a16="http://schemas.microsoft.com/office/drawing/2014/main" val="4055859087"/>
                  </a:ext>
                </a:extLst>
              </a:tr>
            </a:tbl>
          </a:graphicData>
        </a:graphic>
      </p:graphicFrame>
      <p:sp>
        <p:nvSpPr>
          <p:cNvPr id="7" name="Rectangle 48"/>
          <p:cNvSpPr/>
          <p:nvPr/>
        </p:nvSpPr>
        <p:spPr>
          <a:xfrm>
            <a:off x="800098" y="339502"/>
            <a:ext cx="7948366" cy="4320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r>
              <a:rPr lang="en-US" altLang="zh-CN" sz="2000" b="1" dirty="0" smtClean="0">
                <a:solidFill>
                  <a:srgbClr val="002A6D"/>
                </a:solidFill>
                <a:latin typeface="微软雅黑" panose="020B0503020204020204" pitchFamily="34" charset="-122"/>
                <a:ea typeface="微软雅黑" panose="020B0503020204020204" pitchFamily="34" charset="-122"/>
              </a:rPr>
              <a:t>Sparse </a:t>
            </a:r>
            <a:r>
              <a:rPr lang="en-US" altLang="zh-CN" sz="2000" b="1" dirty="0">
                <a:solidFill>
                  <a:srgbClr val="002A6D"/>
                </a:solidFill>
                <a:latin typeface="微软雅黑" panose="020B0503020204020204" pitchFamily="34" charset="-122"/>
                <a:ea typeface="微软雅黑" panose="020B0503020204020204" pitchFamily="34" charset="-122"/>
              </a:rPr>
              <a:t>Structured </a:t>
            </a:r>
            <a:r>
              <a:rPr lang="en-US" altLang="zh-CN" sz="2000" b="1" dirty="0" smtClean="0">
                <a:solidFill>
                  <a:srgbClr val="002A6D"/>
                </a:solidFill>
                <a:latin typeface="微软雅黑" panose="020B0503020204020204" pitchFamily="34" charset="-122"/>
                <a:ea typeface="微软雅黑" panose="020B0503020204020204" pitchFamily="34" charset="-122"/>
              </a:rPr>
              <a:t>LSTM</a:t>
            </a:r>
            <a:endParaRPr lang="zh-CN" altLang="en-US" sz="2000" b="1" dirty="0">
              <a:solidFill>
                <a:srgbClr val="002A6D"/>
              </a:solidFill>
              <a:latin typeface="微软雅黑" panose="020B0503020204020204" pitchFamily="34" charset="-122"/>
              <a:ea typeface="微软雅黑" panose="020B0503020204020204" pitchFamily="34" charset="-122"/>
            </a:endParaRPr>
          </a:p>
        </p:txBody>
      </p:sp>
      <p:sp>
        <p:nvSpPr>
          <p:cNvPr id="2" name="矩形 1"/>
          <p:cNvSpPr/>
          <p:nvPr/>
        </p:nvSpPr>
        <p:spPr>
          <a:xfrm>
            <a:off x="4753317" y="3435846"/>
            <a:ext cx="4099259" cy="1200329"/>
          </a:xfrm>
          <a:prstGeom prst="rect">
            <a:avLst/>
          </a:prstGeom>
        </p:spPr>
        <p:txBody>
          <a:bodyPr wrap="square">
            <a:spAutoFit/>
          </a:bodyPr>
          <a:lstStyle/>
          <a:p>
            <a:r>
              <a:rPr lang="en-US" altLang="zh-CN" dirty="0"/>
              <a:t>FLOPs for a matrix </a:t>
            </a:r>
            <a:r>
              <a:rPr lang="en-US" altLang="zh-CN" i="1" dirty="0"/>
              <a:t>W </a:t>
            </a:r>
            <a:r>
              <a:rPr lang="en-US" altLang="zh-CN" dirty="0"/>
              <a:t>is calculated as the size of the smallest sub-matrix formed by such rows and columns that contain all non-zero elements in </a:t>
            </a:r>
            <a:r>
              <a:rPr lang="en-US" altLang="zh-CN" i="1" dirty="0"/>
              <a:t>W.</a:t>
            </a:r>
            <a:endParaRPr lang="en-US" altLang="zh-CN" i="1" dirty="0"/>
          </a:p>
        </p:txBody>
      </p:sp>
    </p:spTree>
    <p:extLst>
      <p:ext uri="{BB962C8B-B14F-4D97-AF65-F5344CB8AC3E}">
        <p14:creationId xmlns:p14="http://schemas.microsoft.com/office/powerpoint/2010/main" val="3494914343"/>
      </p:ext>
    </p:extLst>
  </p:cSld>
  <p:clrMapOvr>
    <a:masterClrMapping/>
  </p:clrMapOvr>
  <mc:AlternateContent xmlns:mc="http://schemas.openxmlformats.org/markup-compatibility/2006" xmlns:p14="http://schemas.microsoft.com/office/powerpoint/2010/main">
    <mc:Choice Requires="p14">
      <p:transition p14:dur="250">
        <p:split orient="vert"/>
      </p:transition>
    </mc:Choice>
    <mc:Fallback xmlns="">
      <p:transition>
        <p:split orient="vert"/>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1373737" y="1654048"/>
            <a:ext cx="5985166" cy="2717902"/>
          </a:xfrm>
          <a:prstGeom prst="rect">
            <a:avLst/>
          </a:prstGeom>
        </p:spPr>
      </p:pic>
      <p:sp>
        <p:nvSpPr>
          <p:cNvPr id="6" name="文本框 5"/>
          <p:cNvSpPr txBox="1"/>
          <p:nvPr/>
        </p:nvSpPr>
        <p:spPr>
          <a:xfrm>
            <a:off x="336162" y="4714889"/>
            <a:ext cx="8876237" cy="341632"/>
          </a:xfrm>
          <a:prstGeom prst="rect">
            <a:avLst/>
          </a:prstGeom>
          <a:noFill/>
        </p:spPr>
        <p:txBody>
          <a:bodyPr wrap="square" rtlCol="0">
            <a:spAutoFit/>
          </a:bodyPr>
          <a:lstStyle/>
          <a:p>
            <a:r>
              <a:rPr lang="en-US" altLang="zh-CN" sz="1620" dirty="0"/>
              <a:t>Ref</a:t>
            </a:r>
            <a:r>
              <a:rPr lang="zh-CN" altLang="en-US" sz="1620" dirty="0"/>
              <a:t>：</a:t>
            </a:r>
            <a:r>
              <a:rPr lang="en-US" altLang="zh-CN" sz="1620" dirty="0"/>
              <a:t> [10] </a:t>
            </a:r>
            <a:r>
              <a:rPr lang="en-US" altLang="zh-CN" sz="1620" dirty="0" err="1"/>
              <a:t>Wojciech</a:t>
            </a:r>
            <a:r>
              <a:rPr lang="en-US" altLang="zh-CN" sz="1620" dirty="0"/>
              <a:t> </a:t>
            </a:r>
            <a:r>
              <a:rPr lang="en-US" altLang="zh-CN" sz="1620" dirty="0" err="1"/>
              <a:t>Zaremba</a:t>
            </a:r>
            <a:r>
              <a:rPr lang="en-US" altLang="zh-CN" sz="1620" dirty="0"/>
              <a:t> et al. 2014; [11] </a:t>
            </a:r>
            <a:r>
              <a:rPr lang="en-US" altLang="zh-CN" sz="1620" dirty="0" err="1"/>
              <a:t>Hakan</a:t>
            </a:r>
            <a:r>
              <a:rPr lang="en-US" altLang="zh-CN" sz="1620" dirty="0"/>
              <a:t> </a:t>
            </a:r>
            <a:r>
              <a:rPr lang="en-US" altLang="zh-CN" sz="1620" dirty="0" err="1"/>
              <a:t>Inan</a:t>
            </a:r>
            <a:r>
              <a:rPr lang="en-US" altLang="zh-CN" sz="1620" dirty="0"/>
              <a:t> et al. 2017; [24] </a:t>
            </a:r>
            <a:r>
              <a:rPr lang="en-US" altLang="zh-CN" sz="1620" dirty="0" err="1"/>
              <a:t>Yarin</a:t>
            </a:r>
            <a:r>
              <a:rPr lang="en-US" altLang="zh-CN" sz="1620" dirty="0"/>
              <a:t> Gal et al. 2016</a:t>
            </a:r>
            <a:endParaRPr lang="zh-CN" altLang="en-US" sz="1620" dirty="0"/>
          </a:p>
        </p:txBody>
      </p:sp>
      <p:sp>
        <p:nvSpPr>
          <p:cNvPr id="7" name="Rectangle 48"/>
          <p:cNvSpPr/>
          <p:nvPr/>
        </p:nvSpPr>
        <p:spPr>
          <a:xfrm>
            <a:off x="800098" y="339502"/>
            <a:ext cx="7948366" cy="4320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r>
              <a:rPr lang="en-US" altLang="zh-CN" sz="2000" b="1" dirty="0">
                <a:solidFill>
                  <a:srgbClr val="002A6D"/>
                </a:solidFill>
                <a:latin typeface="微软雅黑" panose="020B0503020204020204" pitchFamily="34" charset="-122"/>
                <a:ea typeface="微软雅黑" panose="020B0503020204020204" pitchFamily="34" charset="-122"/>
              </a:rPr>
              <a:t>Language Modeling Experiment</a:t>
            </a:r>
            <a:endParaRPr lang="zh-CN" altLang="en-US" sz="2000" b="1" dirty="0">
              <a:solidFill>
                <a:srgbClr val="002A6D"/>
              </a:solidFill>
              <a:latin typeface="微软雅黑" panose="020B0503020204020204" pitchFamily="34" charset="-122"/>
              <a:ea typeface="微软雅黑" panose="020B0503020204020204" pitchFamily="34" charset="-122"/>
            </a:endParaRPr>
          </a:p>
        </p:txBody>
      </p:sp>
      <p:sp>
        <p:nvSpPr>
          <p:cNvPr id="8" name="内容占位符 1"/>
          <p:cNvSpPr txBox="1">
            <a:spLocks/>
          </p:cNvSpPr>
          <p:nvPr/>
        </p:nvSpPr>
        <p:spPr>
          <a:xfrm>
            <a:off x="251520" y="1131590"/>
            <a:ext cx="8229600" cy="3394075"/>
          </a:xfrm>
          <a:prstGeom prst="rect">
            <a:avLst/>
          </a:prstGeom>
        </p:spPr>
        <p:txBody>
          <a:bodyPr vert="horz" lIns="91428" tIns="45714" rIns="91428" bIns="45714" rtlCol="0">
            <a:normAutofit/>
          </a:bodyPr>
          <a:lstStyle>
            <a:lvl1pPr marL="342900" indent="-342900" algn="l" defTabSz="9137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3765"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3765"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39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3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5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altLang="zh-CN" sz="1600" dirty="0" smtClean="0"/>
              <a:t>Perplexity on PTB dataset</a:t>
            </a:r>
            <a:endParaRPr lang="en-US" altLang="zh-CN" sz="1600" dirty="0"/>
          </a:p>
        </p:txBody>
      </p:sp>
    </p:spTree>
    <p:extLst>
      <p:ext uri="{BB962C8B-B14F-4D97-AF65-F5344CB8AC3E}">
        <p14:creationId xmlns:p14="http://schemas.microsoft.com/office/powerpoint/2010/main" val="386824036"/>
      </p:ext>
    </p:extLst>
  </p:cSld>
  <p:clrMapOvr>
    <a:masterClrMapping/>
  </p:clrMapOvr>
  <mc:AlternateContent xmlns:mc="http://schemas.openxmlformats.org/markup-compatibility/2006" xmlns:p14="http://schemas.microsoft.com/office/powerpoint/2010/main">
    <mc:Choice Requires="p14">
      <p:transition p14:dur="250">
        <p:split orient="vert"/>
      </p:transition>
    </mc:Choice>
    <mc:Fallback xmlns="">
      <p:transition>
        <p:split orient="vert"/>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1373737" y="1635646"/>
            <a:ext cx="5985166" cy="2717902"/>
          </a:xfrm>
          <a:prstGeom prst="rect">
            <a:avLst/>
          </a:prstGeom>
        </p:spPr>
      </p:pic>
      <p:sp>
        <p:nvSpPr>
          <p:cNvPr id="6" name="文本框 5"/>
          <p:cNvSpPr txBox="1"/>
          <p:nvPr/>
        </p:nvSpPr>
        <p:spPr>
          <a:xfrm>
            <a:off x="336162" y="4714889"/>
            <a:ext cx="8876237" cy="341632"/>
          </a:xfrm>
          <a:prstGeom prst="rect">
            <a:avLst/>
          </a:prstGeom>
          <a:noFill/>
        </p:spPr>
        <p:txBody>
          <a:bodyPr wrap="square" rtlCol="0">
            <a:spAutoFit/>
          </a:bodyPr>
          <a:lstStyle/>
          <a:p>
            <a:r>
              <a:rPr lang="en-US" altLang="zh-CN" sz="1620" dirty="0"/>
              <a:t>Ref</a:t>
            </a:r>
            <a:r>
              <a:rPr lang="zh-CN" altLang="en-US" sz="1620" dirty="0"/>
              <a:t>：</a:t>
            </a:r>
            <a:r>
              <a:rPr lang="en-US" altLang="zh-CN" sz="1620" dirty="0"/>
              <a:t> [10] </a:t>
            </a:r>
            <a:r>
              <a:rPr lang="en-US" altLang="zh-CN" sz="1620" dirty="0" err="1"/>
              <a:t>Wojciech</a:t>
            </a:r>
            <a:r>
              <a:rPr lang="en-US" altLang="zh-CN" sz="1620" dirty="0"/>
              <a:t> </a:t>
            </a:r>
            <a:r>
              <a:rPr lang="en-US" altLang="zh-CN" sz="1620" dirty="0" err="1"/>
              <a:t>Zaremba</a:t>
            </a:r>
            <a:r>
              <a:rPr lang="en-US" altLang="zh-CN" sz="1620" dirty="0"/>
              <a:t> et al. 2014; [11] </a:t>
            </a:r>
            <a:r>
              <a:rPr lang="en-US" altLang="zh-CN" sz="1620" dirty="0" err="1"/>
              <a:t>Hakan</a:t>
            </a:r>
            <a:r>
              <a:rPr lang="en-US" altLang="zh-CN" sz="1620" dirty="0"/>
              <a:t> </a:t>
            </a:r>
            <a:r>
              <a:rPr lang="en-US" altLang="zh-CN" sz="1620" dirty="0" err="1"/>
              <a:t>Inan</a:t>
            </a:r>
            <a:r>
              <a:rPr lang="en-US" altLang="zh-CN" sz="1620" dirty="0"/>
              <a:t> et al. 2017; [24] </a:t>
            </a:r>
            <a:r>
              <a:rPr lang="en-US" altLang="zh-CN" sz="1620" dirty="0" err="1"/>
              <a:t>Yarin</a:t>
            </a:r>
            <a:r>
              <a:rPr lang="en-US" altLang="zh-CN" sz="1620" dirty="0"/>
              <a:t> Gal et al. 2016</a:t>
            </a:r>
            <a:endParaRPr lang="zh-CN" altLang="en-US" sz="1620" dirty="0"/>
          </a:p>
        </p:txBody>
      </p:sp>
      <p:sp>
        <p:nvSpPr>
          <p:cNvPr id="7" name="Rectangle 48"/>
          <p:cNvSpPr/>
          <p:nvPr/>
        </p:nvSpPr>
        <p:spPr>
          <a:xfrm>
            <a:off x="800098" y="339502"/>
            <a:ext cx="7948366" cy="4320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r>
              <a:rPr lang="en-US" altLang="zh-CN" sz="2000" b="1" dirty="0">
                <a:solidFill>
                  <a:srgbClr val="002A6D"/>
                </a:solidFill>
                <a:latin typeface="微软雅黑" panose="020B0503020204020204" pitchFamily="34" charset="-122"/>
                <a:ea typeface="微软雅黑" panose="020B0503020204020204" pitchFamily="34" charset="-122"/>
              </a:rPr>
              <a:t>Language Modeling Experiment</a:t>
            </a:r>
            <a:endParaRPr lang="zh-CN" altLang="en-US" sz="2000" b="1" dirty="0">
              <a:solidFill>
                <a:srgbClr val="002A6D"/>
              </a:solidFill>
              <a:latin typeface="微软雅黑" panose="020B0503020204020204" pitchFamily="34" charset="-122"/>
              <a:ea typeface="微软雅黑" panose="020B0503020204020204" pitchFamily="34" charset="-122"/>
            </a:endParaRPr>
          </a:p>
        </p:txBody>
      </p:sp>
      <p:sp>
        <p:nvSpPr>
          <p:cNvPr id="8" name="内容占位符 1"/>
          <p:cNvSpPr txBox="1">
            <a:spLocks/>
          </p:cNvSpPr>
          <p:nvPr/>
        </p:nvSpPr>
        <p:spPr>
          <a:xfrm>
            <a:off x="251520" y="1131590"/>
            <a:ext cx="8229600" cy="3394075"/>
          </a:xfrm>
          <a:prstGeom prst="rect">
            <a:avLst/>
          </a:prstGeom>
        </p:spPr>
        <p:txBody>
          <a:bodyPr vert="horz" lIns="91428" tIns="45714" rIns="91428" bIns="45714" rtlCol="0">
            <a:normAutofit/>
          </a:bodyPr>
          <a:lstStyle>
            <a:lvl1pPr marL="342900" indent="-342900" algn="l" defTabSz="9137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3765"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3765"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39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3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5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altLang="zh-CN" sz="1600" dirty="0" smtClean="0"/>
              <a:t>Perplexity on PTB dataset</a:t>
            </a:r>
            <a:endParaRPr lang="en-US" altLang="zh-CN" sz="1600" dirty="0"/>
          </a:p>
        </p:txBody>
      </p:sp>
      <p:sp>
        <p:nvSpPr>
          <p:cNvPr id="9" name="矩形 8"/>
          <p:cNvSpPr/>
          <p:nvPr/>
        </p:nvSpPr>
        <p:spPr bwMode="auto">
          <a:xfrm>
            <a:off x="1475656" y="2376000"/>
            <a:ext cx="5760640" cy="504715"/>
          </a:xfrm>
          <a:prstGeom prst="rect">
            <a:avLst/>
          </a:prstGeom>
          <a:solidFill>
            <a:schemeClr val="lt1">
              <a:alpha val="0"/>
            </a:schemeClr>
          </a:solidFill>
          <a:ln w="12700">
            <a:solidFill>
              <a:srgbClr val="C00000"/>
            </a:solidFill>
            <a:prstDash val="dash"/>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1588" marR="0" indent="-1588" algn="l" defTabSz="914400" rtl="0" eaLnBrk="1" fontAlgn="base" latinLnBrk="0" hangingPunct="1">
              <a:lnSpc>
                <a:spcPct val="100000"/>
              </a:lnSpc>
              <a:spcBef>
                <a:spcPct val="50000"/>
              </a:spcBef>
              <a:spcAft>
                <a:spcPct val="0"/>
              </a:spcAft>
              <a:buClr>
                <a:schemeClr val="tx2"/>
              </a:buClr>
              <a:buSzPct val="60000"/>
              <a:buFont typeface="Wingdings" pitchFamily="2" charset="2"/>
              <a:buNone/>
              <a:tabLst/>
            </a:pPr>
            <a:endParaRPr kumimoji="0" lang="zh-CN" altLang="en-US" sz="2000" b="0" i="0" u="none" strike="noStrike" cap="none" normalizeH="0" baseline="0" smtClean="0">
              <a:ln>
                <a:noFill/>
              </a:ln>
              <a:solidFill>
                <a:srgbClr val="92D050"/>
              </a:solidFill>
              <a:effectLst/>
              <a:latin typeface="Arial" charset="0"/>
              <a:cs typeface="Arial" charset="0"/>
            </a:endParaRPr>
          </a:p>
        </p:txBody>
      </p:sp>
      <p:sp>
        <p:nvSpPr>
          <p:cNvPr id="10" name="矩形 9"/>
          <p:cNvSpPr/>
          <p:nvPr/>
        </p:nvSpPr>
        <p:spPr bwMode="auto">
          <a:xfrm>
            <a:off x="1475656" y="3219822"/>
            <a:ext cx="5760640" cy="267099"/>
          </a:xfrm>
          <a:prstGeom prst="rect">
            <a:avLst/>
          </a:prstGeom>
          <a:solidFill>
            <a:schemeClr val="lt1">
              <a:alpha val="0"/>
            </a:schemeClr>
          </a:solidFill>
          <a:ln w="12700">
            <a:solidFill>
              <a:srgbClr val="C00000"/>
            </a:solidFill>
            <a:prstDash val="dash"/>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1588" marR="0" indent="-1588" algn="l" defTabSz="914400" rtl="0" eaLnBrk="1" fontAlgn="base" latinLnBrk="0" hangingPunct="1">
              <a:lnSpc>
                <a:spcPct val="100000"/>
              </a:lnSpc>
              <a:spcBef>
                <a:spcPct val="50000"/>
              </a:spcBef>
              <a:spcAft>
                <a:spcPct val="0"/>
              </a:spcAft>
              <a:buClr>
                <a:schemeClr val="tx2"/>
              </a:buClr>
              <a:buSzPct val="60000"/>
              <a:buFont typeface="Wingdings" pitchFamily="2" charset="2"/>
              <a:buNone/>
              <a:tabLst/>
            </a:pPr>
            <a:endParaRPr kumimoji="0" lang="zh-CN" altLang="en-US" sz="2000" b="0" i="0" u="none" strike="noStrike" cap="none" normalizeH="0" baseline="0" smtClean="0">
              <a:ln>
                <a:noFill/>
              </a:ln>
              <a:solidFill>
                <a:srgbClr val="92D050"/>
              </a:solidFill>
              <a:effectLst/>
              <a:latin typeface="Arial" charset="0"/>
              <a:cs typeface="Arial" charset="0"/>
            </a:endParaRPr>
          </a:p>
        </p:txBody>
      </p:sp>
    </p:spTree>
    <p:extLst>
      <p:ext uri="{BB962C8B-B14F-4D97-AF65-F5344CB8AC3E}">
        <p14:creationId xmlns:p14="http://schemas.microsoft.com/office/powerpoint/2010/main" val="4259049169"/>
      </p:ext>
    </p:extLst>
  </p:cSld>
  <p:clrMapOvr>
    <a:masterClrMapping/>
  </p:clrMapOvr>
  <mc:AlternateContent xmlns:mc="http://schemas.openxmlformats.org/markup-compatibility/2006" xmlns:p14="http://schemas.microsoft.com/office/powerpoint/2010/main">
    <mc:Choice Requires="p14">
      <p:transition p14:dur="250">
        <p:split orient="vert"/>
      </p:transition>
    </mc:Choice>
    <mc:Fallback xmlns="">
      <p:transition>
        <p:split orient="vert"/>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1373737" y="1635646"/>
            <a:ext cx="5985166" cy="2717902"/>
          </a:xfrm>
          <a:prstGeom prst="rect">
            <a:avLst/>
          </a:prstGeom>
        </p:spPr>
      </p:pic>
      <p:sp>
        <p:nvSpPr>
          <p:cNvPr id="6" name="文本框 5"/>
          <p:cNvSpPr txBox="1"/>
          <p:nvPr/>
        </p:nvSpPr>
        <p:spPr>
          <a:xfrm>
            <a:off x="336162" y="4714889"/>
            <a:ext cx="8876237" cy="341632"/>
          </a:xfrm>
          <a:prstGeom prst="rect">
            <a:avLst/>
          </a:prstGeom>
          <a:noFill/>
        </p:spPr>
        <p:txBody>
          <a:bodyPr wrap="square" rtlCol="0">
            <a:spAutoFit/>
          </a:bodyPr>
          <a:lstStyle/>
          <a:p>
            <a:r>
              <a:rPr lang="en-US" altLang="zh-CN" sz="1620" dirty="0"/>
              <a:t>Ref</a:t>
            </a:r>
            <a:r>
              <a:rPr lang="zh-CN" altLang="en-US" sz="1620" dirty="0"/>
              <a:t>：</a:t>
            </a:r>
            <a:r>
              <a:rPr lang="en-US" altLang="zh-CN" sz="1620" dirty="0"/>
              <a:t> [10] </a:t>
            </a:r>
            <a:r>
              <a:rPr lang="en-US" altLang="zh-CN" sz="1620" dirty="0" err="1"/>
              <a:t>Wojciech</a:t>
            </a:r>
            <a:r>
              <a:rPr lang="en-US" altLang="zh-CN" sz="1620" dirty="0"/>
              <a:t> </a:t>
            </a:r>
            <a:r>
              <a:rPr lang="en-US" altLang="zh-CN" sz="1620" dirty="0" err="1"/>
              <a:t>Zaremba</a:t>
            </a:r>
            <a:r>
              <a:rPr lang="en-US" altLang="zh-CN" sz="1620" dirty="0"/>
              <a:t> et al. 2014; [11] </a:t>
            </a:r>
            <a:r>
              <a:rPr lang="en-US" altLang="zh-CN" sz="1620" dirty="0" err="1"/>
              <a:t>Hakan</a:t>
            </a:r>
            <a:r>
              <a:rPr lang="en-US" altLang="zh-CN" sz="1620" dirty="0"/>
              <a:t> </a:t>
            </a:r>
            <a:r>
              <a:rPr lang="en-US" altLang="zh-CN" sz="1620" dirty="0" err="1"/>
              <a:t>Inan</a:t>
            </a:r>
            <a:r>
              <a:rPr lang="en-US" altLang="zh-CN" sz="1620" dirty="0"/>
              <a:t> et al. 2017; [24] </a:t>
            </a:r>
            <a:r>
              <a:rPr lang="en-US" altLang="zh-CN" sz="1620" dirty="0" err="1"/>
              <a:t>Yarin</a:t>
            </a:r>
            <a:r>
              <a:rPr lang="en-US" altLang="zh-CN" sz="1620" dirty="0"/>
              <a:t> Gal et al. 2016</a:t>
            </a:r>
            <a:endParaRPr lang="zh-CN" altLang="en-US" sz="1620" dirty="0"/>
          </a:p>
        </p:txBody>
      </p:sp>
      <p:sp>
        <p:nvSpPr>
          <p:cNvPr id="7" name="Rectangle 48"/>
          <p:cNvSpPr/>
          <p:nvPr/>
        </p:nvSpPr>
        <p:spPr>
          <a:xfrm>
            <a:off x="800098" y="339502"/>
            <a:ext cx="7948366" cy="4320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r>
              <a:rPr lang="en-US" altLang="zh-CN" sz="2000" b="1" dirty="0">
                <a:solidFill>
                  <a:srgbClr val="002A6D"/>
                </a:solidFill>
                <a:latin typeface="微软雅黑" panose="020B0503020204020204" pitchFamily="34" charset="-122"/>
                <a:ea typeface="微软雅黑" panose="020B0503020204020204" pitchFamily="34" charset="-122"/>
              </a:rPr>
              <a:t>Language Modeling Experiment</a:t>
            </a:r>
            <a:endParaRPr lang="zh-CN" altLang="en-US" sz="2000" b="1" dirty="0">
              <a:solidFill>
                <a:srgbClr val="002A6D"/>
              </a:solidFill>
              <a:latin typeface="微软雅黑" panose="020B0503020204020204" pitchFamily="34" charset="-122"/>
              <a:ea typeface="微软雅黑" panose="020B0503020204020204" pitchFamily="34" charset="-122"/>
            </a:endParaRPr>
          </a:p>
        </p:txBody>
      </p:sp>
      <p:sp>
        <p:nvSpPr>
          <p:cNvPr id="8" name="内容占位符 1"/>
          <p:cNvSpPr txBox="1">
            <a:spLocks/>
          </p:cNvSpPr>
          <p:nvPr/>
        </p:nvSpPr>
        <p:spPr>
          <a:xfrm>
            <a:off x="251520" y="1131590"/>
            <a:ext cx="8229600" cy="3394075"/>
          </a:xfrm>
          <a:prstGeom prst="rect">
            <a:avLst/>
          </a:prstGeom>
        </p:spPr>
        <p:txBody>
          <a:bodyPr vert="horz" lIns="91428" tIns="45714" rIns="91428" bIns="45714" rtlCol="0">
            <a:normAutofit/>
          </a:bodyPr>
          <a:lstStyle>
            <a:lvl1pPr marL="342900" indent="-342900" algn="l" defTabSz="9137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3765"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3765"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39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3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5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altLang="zh-CN" sz="1600" dirty="0" smtClean="0"/>
              <a:t>Perplexity on PTB dataset</a:t>
            </a:r>
            <a:endParaRPr lang="en-US" altLang="zh-CN" sz="1600" dirty="0"/>
          </a:p>
        </p:txBody>
      </p:sp>
      <p:sp>
        <p:nvSpPr>
          <p:cNvPr id="9" name="矩形 8"/>
          <p:cNvSpPr/>
          <p:nvPr/>
        </p:nvSpPr>
        <p:spPr bwMode="auto">
          <a:xfrm>
            <a:off x="1475656" y="2139702"/>
            <a:ext cx="5760640" cy="267758"/>
          </a:xfrm>
          <a:prstGeom prst="rect">
            <a:avLst/>
          </a:prstGeom>
          <a:solidFill>
            <a:schemeClr val="lt1">
              <a:alpha val="0"/>
            </a:schemeClr>
          </a:solidFill>
          <a:ln w="12700">
            <a:solidFill>
              <a:srgbClr val="C00000"/>
            </a:solidFill>
            <a:prstDash val="dash"/>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1588" marR="0" indent="-1588" algn="l" defTabSz="914400" rtl="0" eaLnBrk="1" fontAlgn="base" latinLnBrk="0" hangingPunct="1">
              <a:lnSpc>
                <a:spcPct val="100000"/>
              </a:lnSpc>
              <a:spcBef>
                <a:spcPct val="50000"/>
              </a:spcBef>
              <a:spcAft>
                <a:spcPct val="0"/>
              </a:spcAft>
              <a:buClr>
                <a:schemeClr val="tx2"/>
              </a:buClr>
              <a:buSzPct val="60000"/>
              <a:buFont typeface="Wingdings" pitchFamily="2" charset="2"/>
              <a:buNone/>
              <a:tabLst/>
            </a:pPr>
            <a:endParaRPr kumimoji="0" lang="zh-CN" altLang="en-US" sz="2000" b="0" i="0" u="none" strike="noStrike" cap="none" normalizeH="0" baseline="0" smtClean="0">
              <a:ln>
                <a:noFill/>
              </a:ln>
              <a:solidFill>
                <a:schemeClr val="tx1"/>
              </a:solidFill>
              <a:effectLst/>
              <a:latin typeface="Arial" charset="0"/>
              <a:cs typeface="Arial" charset="0"/>
            </a:endParaRPr>
          </a:p>
        </p:txBody>
      </p:sp>
      <p:sp>
        <p:nvSpPr>
          <p:cNvPr id="10" name="矩形 9"/>
          <p:cNvSpPr/>
          <p:nvPr/>
        </p:nvSpPr>
        <p:spPr bwMode="auto">
          <a:xfrm>
            <a:off x="1475656" y="3456779"/>
            <a:ext cx="5760640" cy="267099"/>
          </a:xfrm>
          <a:prstGeom prst="rect">
            <a:avLst/>
          </a:prstGeom>
          <a:solidFill>
            <a:schemeClr val="lt1">
              <a:alpha val="0"/>
            </a:schemeClr>
          </a:solidFill>
          <a:ln w="12700">
            <a:solidFill>
              <a:srgbClr val="C00000"/>
            </a:solidFill>
            <a:prstDash val="dash"/>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1588" marR="0" indent="-1588" algn="l" defTabSz="914400" rtl="0" eaLnBrk="1" fontAlgn="base" latinLnBrk="0" hangingPunct="1">
              <a:lnSpc>
                <a:spcPct val="100000"/>
              </a:lnSpc>
              <a:spcBef>
                <a:spcPct val="50000"/>
              </a:spcBef>
              <a:spcAft>
                <a:spcPct val="0"/>
              </a:spcAft>
              <a:buClr>
                <a:schemeClr val="tx2"/>
              </a:buClr>
              <a:buSzPct val="60000"/>
              <a:buFont typeface="Wingdings" pitchFamily="2" charset="2"/>
              <a:buNone/>
              <a:tabLst/>
            </a:pPr>
            <a:endParaRPr kumimoji="0" lang="zh-CN" altLang="en-US" sz="2000" b="0" i="0" u="none" strike="noStrike" cap="none" normalizeH="0" baseline="0" smtClean="0">
              <a:ln>
                <a:noFill/>
              </a:ln>
              <a:solidFill>
                <a:schemeClr val="tx1"/>
              </a:solidFill>
              <a:effectLst/>
              <a:latin typeface="Arial" charset="0"/>
              <a:cs typeface="Arial" charset="0"/>
            </a:endParaRPr>
          </a:p>
        </p:txBody>
      </p:sp>
    </p:spTree>
    <p:extLst>
      <p:ext uri="{BB962C8B-B14F-4D97-AF65-F5344CB8AC3E}">
        <p14:creationId xmlns:p14="http://schemas.microsoft.com/office/powerpoint/2010/main" val="2433123313"/>
      </p:ext>
    </p:extLst>
  </p:cSld>
  <p:clrMapOvr>
    <a:masterClrMapping/>
  </p:clrMapOvr>
  <mc:AlternateContent xmlns:mc="http://schemas.openxmlformats.org/markup-compatibility/2006" xmlns:p14="http://schemas.microsoft.com/office/powerpoint/2010/main">
    <mc:Choice Requires="p14">
      <p:transition p14:dur="250">
        <p:split orient="vert"/>
      </p:transition>
    </mc:Choice>
    <mc:Fallback xmlns="">
      <p:transition>
        <p:split orient="vert"/>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1373737" y="1635646"/>
            <a:ext cx="5985166" cy="2717902"/>
          </a:xfrm>
          <a:prstGeom prst="rect">
            <a:avLst/>
          </a:prstGeom>
        </p:spPr>
      </p:pic>
      <p:sp>
        <p:nvSpPr>
          <p:cNvPr id="6" name="文本框 5"/>
          <p:cNvSpPr txBox="1"/>
          <p:nvPr/>
        </p:nvSpPr>
        <p:spPr>
          <a:xfrm>
            <a:off x="336162" y="4714889"/>
            <a:ext cx="8876237" cy="341632"/>
          </a:xfrm>
          <a:prstGeom prst="rect">
            <a:avLst/>
          </a:prstGeom>
          <a:noFill/>
        </p:spPr>
        <p:txBody>
          <a:bodyPr wrap="square" rtlCol="0">
            <a:spAutoFit/>
          </a:bodyPr>
          <a:lstStyle/>
          <a:p>
            <a:r>
              <a:rPr lang="en-US" altLang="zh-CN" sz="1620" dirty="0"/>
              <a:t>Ref</a:t>
            </a:r>
            <a:r>
              <a:rPr lang="zh-CN" altLang="en-US" sz="1620" dirty="0"/>
              <a:t>：</a:t>
            </a:r>
            <a:r>
              <a:rPr lang="en-US" altLang="zh-CN" sz="1620" dirty="0"/>
              <a:t> [10] </a:t>
            </a:r>
            <a:r>
              <a:rPr lang="en-US" altLang="zh-CN" sz="1620" dirty="0" err="1"/>
              <a:t>Wojciech</a:t>
            </a:r>
            <a:r>
              <a:rPr lang="en-US" altLang="zh-CN" sz="1620" dirty="0"/>
              <a:t> </a:t>
            </a:r>
            <a:r>
              <a:rPr lang="en-US" altLang="zh-CN" sz="1620" dirty="0" err="1"/>
              <a:t>Zaremba</a:t>
            </a:r>
            <a:r>
              <a:rPr lang="en-US" altLang="zh-CN" sz="1620" dirty="0"/>
              <a:t> et al. 2014; [11] </a:t>
            </a:r>
            <a:r>
              <a:rPr lang="en-US" altLang="zh-CN" sz="1620" dirty="0" err="1"/>
              <a:t>Hakan</a:t>
            </a:r>
            <a:r>
              <a:rPr lang="en-US" altLang="zh-CN" sz="1620" dirty="0"/>
              <a:t> </a:t>
            </a:r>
            <a:r>
              <a:rPr lang="en-US" altLang="zh-CN" sz="1620" dirty="0" err="1"/>
              <a:t>Inan</a:t>
            </a:r>
            <a:r>
              <a:rPr lang="en-US" altLang="zh-CN" sz="1620" dirty="0"/>
              <a:t> et al. 2017; [24] </a:t>
            </a:r>
            <a:r>
              <a:rPr lang="en-US" altLang="zh-CN" sz="1620" dirty="0" err="1"/>
              <a:t>Yarin</a:t>
            </a:r>
            <a:r>
              <a:rPr lang="en-US" altLang="zh-CN" sz="1620" dirty="0"/>
              <a:t> Gal et al. 2016</a:t>
            </a:r>
            <a:endParaRPr lang="zh-CN" altLang="en-US" sz="1620" dirty="0"/>
          </a:p>
        </p:txBody>
      </p:sp>
      <p:sp>
        <p:nvSpPr>
          <p:cNvPr id="7" name="Rectangle 48"/>
          <p:cNvSpPr/>
          <p:nvPr/>
        </p:nvSpPr>
        <p:spPr>
          <a:xfrm>
            <a:off x="800098" y="339502"/>
            <a:ext cx="7948366" cy="4320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r>
              <a:rPr lang="en-US" altLang="zh-CN" sz="2000" b="1" dirty="0">
                <a:solidFill>
                  <a:srgbClr val="002A6D"/>
                </a:solidFill>
                <a:latin typeface="微软雅黑" panose="020B0503020204020204" pitchFamily="34" charset="-122"/>
                <a:ea typeface="微软雅黑" panose="020B0503020204020204" pitchFamily="34" charset="-122"/>
              </a:rPr>
              <a:t>Language Modeling Experiment</a:t>
            </a:r>
            <a:endParaRPr lang="zh-CN" altLang="en-US" sz="2000" b="1" dirty="0">
              <a:solidFill>
                <a:srgbClr val="002A6D"/>
              </a:solidFill>
              <a:latin typeface="微软雅黑" panose="020B0503020204020204" pitchFamily="34" charset="-122"/>
              <a:ea typeface="微软雅黑" panose="020B0503020204020204" pitchFamily="34" charset="-122"/>
            </a:endParaRPr>
          </a:p>
        </p:txBody>
      </p:sp>
      <p:sp>
        <p:nvSpPr>
          <p:cNvPr id="8" name="内容占位符 1"/>
          <p:cNvSpPr txBox="1">
            <a:spLocks/>
          </p:cNvSpPr>
          <p:nvPr/>
        </p:nvSpPr>
        <p:spPr>
          <a:xfrm>
            <a:off x="251520" y="1131590"/>
            <a:ext cx="8229600" cy="3394075"/>
          </a:xfrm>
          <a:prstGeom prst="rect">
            <a:avLst/>
          </a:prstGeom>
        </p:spPr>
        <p:txBody>
          <a:bodyPr vert="horz" lIns="91428" tIns="45714" rIns="91428" bIns="45714" rtlCol="0">
            <a:normAutofit/>
          </a:bodyPr>
          <a:lstStyle>
            <a:lvl1pPr marL="342900" indent="-342900" algn="l" defTabSz="9137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3765"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3765"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39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3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5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altLang="zh-CN" sz="1600" dirty="0" smtClean="0"/>
              <a:t>Perplexity on PTB dataset</a:t>
            </a:r>
            <a:endParaRPr lang="en-US" altLang="zh-CN" sz="1600" dirty="0"/>
          </a:p>
        </p:txBody>
      </p:sp>
      <p:sp>
        <p:nvSpPr>
          <p:cNvPr id="9" name="矩形 8"/>
          <p:cNvSpPr/>
          <p:nvPr/>
        </p:nvSpPr>
        <p:spPr bwMode="auto">
          <a:xfrm>
            <a:off x="1475656" y="2880056"/>
            <a:ext cx="5760640" cy="267758"/>
          </a:xfrm>
          <a:prstGeom prst="rect">
            <a:avLst/>
          </a:prstGeom>
          <a:solidFill>
            <a:schemeClr val="lt1">
              <a:alpha val="0"/>
            </a:schemeClr>
          </a:solidFill>
          <a:ln w="12700">
            <a:solidFill>
              <a:srgbClr val="C00000"/>
            </a:solidFill>
            <a:prstDash val="dash"/>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1588" marR="0" indent="-1588" algn="l" defTabSz="914400" rtl="0" eaLnBrk="1" fontAlgn="base" latinLnBrk="0" hangingPunct="1">
              <a:lnSpc>
                <a:spcPct val="100000"/>
              </a:lnSpc>
              <a:spcBef>
                <a:spcPct val="50000"/>
              </a:spcBef>
              <a:spcAft>
                <a:spcPct val="0"/>
              </a:spcAft>
              <a:buClr>
                <a:schemeClr val="tx2"/>
              </a:buClr>
              <a:buSzPct val="60000"/>
              <a:buFont typeface="Wingdings" pitchFamily="2" charset="2"/>
              <a:buNone/>
              <a:tabLst/>
            </a:pPr>
            <a:endParaRPr kumimoji="0" lang="zh-CN" altLang="en-US" sz="2000" b="0" i="0" u="none" strike="noStrike" cap="none" normalizeH="0" baseline="0" smtClean="0">
              <a:ln>
                <a:noFill/>
              </a:ln>
              <a:solidFill>
                <a:schemeClr val="tx1"/>
              </a:solidFill>
              <a:effectLst/>
              <a:latin typeface="Arial" charset="0"/>
              <a:cs typeface="Arial" charset="0"/>
            </a:endParaRPr>
          </a:p>
        </p:txBody>
      </p:sp>
      <p:sp>
        <p:nvSpPr>
          <p:cNvPr id="10" name="矩形 9"/>
          <p:cNvSpPr/>
          <p:nvPr/>
        </p:nvSpPr>
        <p:spPr bwMode="auto">
          <a:xfrm>
            <a:off x="1475656" y="3723878"/>
            <a:ext cx="5760640" cy="267099"/>
          </a:xfrm>
          <a:prstGeom prst="rect">
            <a:avLst/>
          </a:prstGeom>
          <a:solidFill>
            <a:schemeClr val="lt1">
              <a:alpha val="0"/>
            </a:schemeClr>
          </a:solidFill>
          <a:ln w="12700">
            <a:solidFill>
              <a:srgbClr val="C00000"/>
            </a:solidFill>
            <a:prstDash val="dash"/>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1588" marR="0" indent="-1588" algn="l" defTabSz="914400" rtl="0" eaLnBrk="1" fontAlgn="base" latinLnBrk="0" hangingPunct="1">
              <a:lnSpc>
                <a:spcPct val="100000"/>
              </a:lnSpc>
              <a:spcBef>
                <a:spcPct val="50000"/>
              </a:spcBef>
              <a:spcAft>
                <a:spcPct val="0"/>
              </a:spcAft>
              <a:buClr>
                <a:schemeClr val="tx2"/>
              </a:buClr>
              <a:buSzPct val="60000"/>
              <a:buFont typeface="Wingdings" pitchFamily="2" charset="2"/>
              <a:buNone/>
              <a:tabLst/>
            </a:pPr>
            <a:endParaRPr kumimoji="0" lang="zh-CN" altLang="en-US" sz="2000" b="0" i="0" u="none" strike="noStrike" cap="none" normalizeH="0" baseline="0" smtClean="0">
              <a:ln>
                <a:noFill/>
              </a:ln>
              <a:solidFill>
                <a:schemeClr val="tx1"/>
              </a:solidFill>
              <a:effectLst/>
              <a:latin typeface="Arial" charset="0"/>
              <a:cs typeface="Arial" charset="0"/>
            </a:endParaRPr>
          </a:p>
        </p:txBody>
      </p:sp>
    </p:spTree>
    <p:extLst>
      <p:ext uri="{BB962C8B-B14F-4D97-AF65-F5344CB8AC3E}">
        <p14:creationId xmlns:p14="http://schemas.microsoft.com/office/powerpoint/2010/main" val="3462980783"/>
      </p:ext>
    </p:extLst>
  </p:cSld>
  <p:clrMapOvr>
    <a:masterClrMapping/>
  </p:clrMapOvr>
  <mc:AlternateContent xmlns:mc="http://schemas.openxmlformats.org/markup-compatibility/2006" xmlns:p14="http://schemas.microsoft.com/office/powerpoint/2010/main">
    <mc:Choice Requires="p14">
      <p:transition p14:dur="250">
        <p:split orient="vert"/>
      </p:transition>
    </mc:Choice>
    <mc:Fallback xmlns="">
      <p:transition>
        <p:split orient="vert"/>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4294967295"/>
          </p:nvPr>
        </p:nvSpPr>
        <p:spPr>
          <a:xfrm>
            <a:off x="251520" y="1131590"/>
            <a:ext cx="8496944" cy="3394075"/>
          </a:xfrm>
        </p:spPr>
        <p:txBody>
          <a:bodyPr>
            <a:normAutofit fontScale="62500" lnSpcReduction="20000"/>
          </a:bodyPr>
          <a:lstStyle/>
          <a:p>
            <a:pPr marL="0" indent="0">
              <a:buNone/>
            </a:pPr>
            <a:r>
              <a:rPr lang="en-US" altLang="zh-CN" dirty="0" smtClean="0"/>
              <a:t>Conclusion:</a:t>
            </a:r>
          </a:p>
          <a:p>
            <a:r>
              <a:rPr lang="en-US" altLang="zh-CN" dirty="0" smtClean="0"/>
              <a:t>Propose a novel approach for learning ensembles of neural networks.</a:t>
            </a:r>
          </a:p>
          <a:p>
            <a:r>
              <a:rPr lang="en-US" altLang="zh-CN" dirty="0" smtClean="0"/>
              <a:t>Combination of SG-MCMC sampling, group sparse prior and network pruning.</a:t>
            </a:r>
          </a:p>
          <a:p>
            <a:r>
              <a:rPr lang="en-US" altLang="zh-CN" dirty="0" smtClean="0"/>
              <a:t>Experimental verifications for sparse structure learning for LSTM models.</a:t>
            </a:r>
            <a:endParaRPr lang="en-US" altLang="zh-CN" dirty="0"/>
          </a:p>
          <a:p>
            <a:pPr marL="0" indent="0">
              <a:buNone/>
            </a:pPr>
            <a:endParaRPr lang="en-US" altLang="zh-CN" dirty="0" smtClean="0"/>
          </a:p>
          <a:p>
            <a:pPr marL="0" indent="0">
              <a:buNone/>
            </a:pPr>
            <a:endParaRPr lang="en-US" altLang="zh-CN" dirty="0" smtClean="0"/>
          </a:p>
          <a:p>
            <a:pPr marL="0" indent="0">
              <a:buNone/>
            </a:pPr>
            <a:r>
              <a:rPr lang="en-US" altLang="zh-CN" dirty="0" smtClean="0"/>
              <a:t>Future work:</a:t>
            </a:r>
          </a:p>
          <a:p>
            <a:r>
              <a:rPr lang="en-US" altLang="zh-CN" dirty="0" smtClean="0"/>
              <a:t>Interleaving </a:t>
            </a:r>
            <a:r>
              <a:rPr lang="en-US" altLang="zh-CN" dirty="0"/>
              <a:t>model </a:t>
            </a:r>
            <a:r>
              <a:rPr lang="en-US" altLang="zh-CN" dirty="0" smtClean="0"/>
              <a:t>sampling and </a:t>
            </a:r>
            <a:r>
              <a:rPr lang="en-US" altLang="zh-CN" dirty="0"/>
              <a:t>model </a:t>
            </a:r>
            <a:r>
              <a:rPr lang="en-US" altLang="zh-CN" dirty="0" smtClean="0"/>
              <a:t>pruning.</a:t>
            </a:r>
          </a:p>
          <a:p>
            <a:r>
              <a:rPr lang="en-US" altLang="zh-CN" dirty="0" smtClean="0"/>
              <a:t>Expand to </a:t>
            </a:r>
            <a:r>
              <a:rPr lang="en-US" altLang="zh-CN" dirty="0"/>
              <a:t>more </a:t>
            </a:r>
            <a:r>
              <a:rPr lang="en-US" altLang="zh-CN" dirty="0" smtClean="0"/>
              <a:t>tasks.</a:t>
            </a:r>
            <a:endParaRPr lang="zh-CN" altLang="en-US" dirty="0"/>
          </a:p>
        </p:txBody>
      </p:sp>
      <p:sp>
        <p:nvSpPr>
          <p:cNvPr id="4" name="Rectangle 48"/>
          <p:cNvSpPr/>
          <p:nvPr/>
        </p:nvSpPr>
        <p:spPr>
          <a:xfrm>
            <a:off x="800098" y="339502"/>
            <a:ext cx="7948366" cy="4320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r>
              <a:rPr lang="en-US" altLang="zh-CN" sz="2000" b="1" dirty="0" smtClean="0">
                <a:solidFill>
                  <a:srgbClr val="002A6D"/>
                </a:solidFill>
                <a:latin typeface="微软雅黑" panose="020B0503020204020204" pitchFamily="34" charset="-122"/>
                <a:ea typeface="微软雅黑" panose="020B0503020204020204" pitchFamily="34" charset="-122"/>
              </a:rPr>
              <a:t>Conclusion &amp; </a:t>
            </a:r>
            <a:r>
              <a:rPr lang="en-US" altLang="zh-CN" sz="2000" b="1" dirty="0">
                <a:solidFill>
                  <a:srgbClr val="002A6D"/>
                </a:solidFill>
                <a:latin typeface="微软雅黑" panose="020B0503020204020204" pitchFamily="34" charset="-122"/>
                <a:ea typeface="微软雅黑" panose="020B0503020204020204" pitchFamily="34" charset="-122"/>
              </a:rPr>
              <a:t>Future Work</a:t>
            </a:r>
            <a:endParaRPr lang="zh-CN" altLang="en-US" sz="2000" b="1" dirty="0">
              <a:solidFill>
                <a:srgbClr val="002A6D"/>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995939508"/>
      </p:ext>
    </p:extLst>
  </p:cSld>
  <p:clrMapOvr>
    <a:masterClrMapping/>
  </p:clrMapOvr>
  <mc:AlternateContent xmlns:mc="http://schemas.openxmlformats.org/markup-compatibility/2006" xmlns:p14="http://schemas.microsoft.com/office/powerpoint/2010/main">
    <mc:Choice Requires="p14">
      <p:transition p14:dur="250">
        <p:split orient="vert"/>
      </p:transition>
    </mc:Choice>
    <mc:Fallback xmlns="">
      <p:transition>
        <p:split orient="vert"/>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rotWithShape="1">
          <a:blip r:embed="rId3">
            <a:extLst>
              <a:ext uri="{28A0092B-C50C-407E-A947-70E740481C1C}">
                <a14:useLocalDpi xmlns:a14="http://schemas.microsoft.com/office/drawing/2010/main" val="0"/>
              </a:ext>
            </a:extLst>
          </a:blip>
          <a:srcRect t="4708" b="11058"/>
          <a:stretch>
            <a:fillRect/>
          </a:stretch>
        </p:blipFill>
        <p:spPr>
          <a:xfrm>
            <a:off x="0" y="0"/>
            <a:ext cx="9144000" cy="3008744"/>
          </a:xfrm>
          <a:prstGeom prst="rect">
            <a:avLst/>
          </a:prstGeom>
        </p:spPr>
      </p:pic>
      <p:sp>
        <p:nvSpPr>
          <p:cNvPr id="14" name="矩形 259"/>
          <p:cNvSpPr>
            <a:spLocks noChangeArrowheads="1"/>
          </p:cNvSpPr>
          <p:nvPr/>
        </p:nvSpPr>
        <p:spPr bwMode="auto">
          <a:xfrm>
            <a:off x="1619672" y="3579862"/>
            <a:ext cx="5904656" cy="393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a:buNone/>
            </a:pPr>
            <a:r>
              <a:rPr lang="en-US" altLang="zh-CN" sz="2560" b="1" cap="all" spc="300" dirty="0" smtClean="0">
                <a:solidFill>
                  <a:schemeClr val="tx1">
                    <a:lumMod val="95000"/>
                    <a:lumOff val="5000"/>
                  </a:schemeClr>
                </a:solidFill>
                <a:latin typeface="造字工房悦黑演示版常规体" pitchFamily="50" charset="-122"/>
                <a:ea typeface="造字工房悦黑演示版常规体" pitchFamily="50" charset="-122"/>
                <a:cs typeface="Arial" panose="020B0604020202020204" pitchFamily="34" charset="0"/>
              </a:rPr>
              <a:t>Thank you for your attention</a:t>
            </a:r>
            <a:endParaRPr lang="zh-CN" altLang="en-US" sz="2560" b="1" cap="all" spc="300" dirty="0">
              <a:solidFill>
                <a:schemeClr val="tx1">
                  <a:lumMod val="95000"/>
                  <a:lumOff val="5000"/>
                </a:schemeClr>
              </a:solidFill>
              <a:latin typeface="造字工房悦黑演示版常规体" pitchFamily="50" charset="-122"/>
              <a:ea typeface="造字工房悦黑演示版常规体" pitchFamily="50" charset="-122"/>
              <a:cs typeface="Arial" panose="020B0604020202020204" pitchFamily="34" charset="0"/>
            </a:endParaRPr>
          </a:p>
        </p:txBody>
      </p:sp>
      <p:sp>
        <p:nvSpPr>
          <p:cNvPr id="17" name="矩形 16"/>
          <p:cNvSpPr/>
          <p:nvPr/>
        </p:nvSpPr>
        <p:spPr>
          <a:xfrm>
            <a:off x="179511" y="3113354"/>
            <a:ext cx="8784978" cy="1906668"/>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80">
              <a:solidFill>
                <a:schemeClr val="tx1">
                  <a:lumMod val="95000"/>
                  <a:lumOff val="5000"/>
                </a:schemeClr>
              </a:solidFill>
            </a:endParaRPr>
          </a:p>
        </p:txBody>
      </p:sp>
      <p:sp>
        <p:nvSpPr>
          <p:cNvPr id="10" name="TextBox 71"/>
          <p:cNvSpPr txBox="1"/>
          <p:nvPr/>
        </p:nvSpPr>
        <p:spPr>
          <a:xfrm>
            <a:off x="1520982" y="4149959"/>
            <a:ext cx="6091398" cy="646331"/>
          </a:xfrm>
          <a:prstGeom prst="rect">
            <a:avLst/>
          </a:prstGeom>
          <a:noFill/>
        </p:spPr>
        <p:txBody>
          <a:bodyPr wrap="square" rtlCol="0">
            <a:spAutoFit/>
          </a:bodyPr>
          <a:lstStyle/>
          <a:p>
            <a:pPr algn="ctr">
              <a:lnSpc>
                <a:spcPct val="150000"/>
              </a:lnSpc>
            </a:pPr>
            <a:r>
              <a:rPr lang="en-US" altLang="zh-CN" sz="1200" dirty="0" err="1" smtClean="0">
                <a:solidFill>
                  <a:schemeClr val="tx1">
                    <a:lumMod val="95000"/>
                    <a:lumOff val="5000"/>
                  </a:schemeClr>
                </a:solidFill>
                <a:latin typeface="微软雅黑 Light" panose="020B0502040204020203" pitchFamily="34" charset="-122"/>
                <a:ea typeface="微软雅黑 Light" panose="020B0502040204020203" pitchFamily="34" charset="-122"/>
              </a:rPr>
              <a:t>Yichi</a:t>
            </a:r>
            <a:r>
              <a:rPr lang="en-US" altLang="zh-CN" sz="1200" dirty="0" smtClean="0">
                <a:solidFill>
                  <a:schemeClr val="tx1">
                    <a:lumMod val="95000"/>
                    <a:lumOff val="5000"/>
                  </a:schemeClr>
                </a:solidFill>
                <a:latin typeface="微软雅黑 Light" panose="020B0502040204020203" pitchFamily="34" charset="-122"/>
                <a:ea typeface="微软雅黑 Light" panose="020B0502040204020203" pitchFamily="34" charset="-122"/>
              </a:rPr>
              <a:t> Zhang</a:t>
            </a:r>
          </a:p>
          <a:p>
            <a:pPr algn="ctr">
              <a:lnSpc>
                <a:spcPct val="150000"/>
              </a:lnSpc>
            </a:pPr>
            <a:r>
              <a:rPr lang="en-US" altLang="zh-CN" sz="1200" dirty="0" smtClean="0">
                <a:solidFill>
                  <a:schemeClr val="tx1">
                    <a:lumMod val="95000"/>
                    <a:lumOff val="5000"/>
                  </a:schemeClr>
                </a:solidFill>
                <a:latin typeface="微软雅黑 Light" panose="020B0502040204020203" pitchFamily="34" charset="-122"/>
                <a:ea typeface="微软雅黑 Light" panose="020B0502040204020203" pitchFamily="34" charset="-122"/>
              </a:rPr>
              <a:t>zhangyic17@mails.Tsinghua.edu.cn</a:t>
            </a:r>
          </a:p>
        </p:txBody>
      </p:sp>
      <p:cxnSp>
        <p:nvCxnSpPr>
          <p:cNvPr id="11" name="直接连接符 10"/>
          <p:cNvCxnSpPr/>
          <p:nvPr/>
        </p:nvCxnSpPr>
        <p:spPr>
          <a:xfrm>
            <a:off x="1979711" y="4045348"/>
            <a:ext cx="5184578" cy="0"/>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pic>
        <p:nvPicPr>
          <p:cNvPr id="3" name="图片 2" descr="AUA-Logo-06"/>
          <p:cNvPicPr>
            <a:picLocks noChangeAspect="1"/>
          </p:cNvPicPr>
          <p:nvPr/>
        </p:nvPicPr>
        <p:blipFill>
          <a:blip r:embed="rId4"/>
          <a:stretch>
            <a:fillRect/>
          </a:stretch>
        </p:blipFill>
        <p:spPr>
          <a:xfrm>
            <a:off x="7164705" y="1708785"/>
            <a:ext cx="2099310" cy="148526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p:split orient="vert"/>
      </p:transition>
    </mc:Choice>
    <mc:Fallback xmlns="">
      <p:transition>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heel(1)">
                                      <p:cBhvr>
                                        <p:cTn id="7" dur="2000"/>
                                        <p:tgtEl>
                                          <p:spTgt spid="17"/>
                                        </p:tgtEl>
                                      </p:cBhvr>
                                    </p:animEffect>
                                  </p:childTnLst>
                                </p:cTn>
                              </p:par>
                            </p:childTnLst>
                          </p:cTn>
                        </p:par>
                        <p:par>
                          <p:cTn id="8" fill="hold">
                            <p:stCondLst>
                              <p:cond delay="2000"/>
                            </p:stCondLst>
                            <p:childTnLst>
                              <p:par>
                                <p:cTn id="9" presetID="41" presetClass="entr" presetSubtype="0" fill="hold" grpId="0" nodeType="afterEffect">
                                  <p:stCondLst>
                                    <p:cond delay="0"/>
                                  </p:stCondLst>
                                  <p:iterate type="lt">
                                    <p:tmPct val="10000"/>
                                  </p:iterate>
                                  <p:childTnLst>
                                    <p:set>
                                      <p:cBhvr>
                                        <p:cTn id="10" dur="1" fill="hold">
                                          <p:stCondLst>
                                            <p:cond delay="0"/>
                                          </p:stCondLst>
                                        </p:cTn>
                                        <p:tgtEl>
                                          <p:spTgt spid="14"/>
                                        </p:tgtEl>
                                        <p:attrNameLst>
                                          <p:attrName>style.visibility</p:attrName>
                                        </p:attrNameLst>
                                      </p:cBhvr>
                                      <p:to>
                                        <p:strVal val="visible"/>
                                      </p:to>
                                    </p:set>
                                    <p:anim calcmode="lin" valueType="num">
                                      <p:cBhvr>
                                        <p:cTn id="11" dur="500" fill="hold"/>
                                        <p:tgtEl>
                                          <p:spTgt spid="14"/>
                                        </p:tgtEl>
                                        <p:attrNameLst>
                                          <p:attrName>ppt_x</p:attrName>
                                        </p:attrNameLst>
                                      </p:cBhvr>
                                      <p:tavLst>
                                        <p:tav tm="0">
                                          <p:val>
                                            <p:strVal val="#ppt_x"/>
                                          </p:val>
                                        </p:tav>
                                        <p:tav tm="50000">
                                          <p:val>
                                            <p:strVal val="#ppt_x+.1"/>
                                          </p:val>
                                        </p:tav>
                                        <p:tav tm="100000">
                                          <p:val>
                                            <p:strVal val="#ppt_x"/>
                                          </p:val>
                                        </p:tav>
                                      </p:tavLst>
                                    </p:anim>
                                    <p:anim calcmode="lin" valueType="num">
                                      <p:cBhvr>
                                        <p:cTn id="12" dur="500" fill="hold"/>
                                        <p:tgtEl>
                                          <p:spTgt spid="14"/>
                                        </p:tgtEl>
                                        <p:attrNameLst>
                                          <p:attrName>ppt_y</p:attrName>
                                        </p:attrNameLst>
                                      </p:cBhvr>
                                      <p:tavLst>
                                        <p:tav tm="0">
                                          <p:val>
                                            <p:strVal val="#ppt_y"/>
                                          </p:val>
                                        </p:tav>
                                        <p:tav tm="100000">
                                          <p:val>
                                            <p:strVal val="#ppt_y"/>
                                          </p:val>
                                        </p:tav>
                                      </p:tavLst>
                                    </p:anim>
                                    <p:anim calcmode="lin" valueType="num">
                                      <p:cBhvr>
                                        <p:cTn id="13" dur="500" fill="hold"/>
                                        <p:tgtEl>
                                          <p:spTgt spid="14"/>
                                        </p:tgtEl>
                                        <p:attrNameLst>
                                          <p:attrName>ppt_h</p:attrName>
                                        </p:attrNameLst>
                                      </p:cBhvr>
                                      <p:tavLst>
                                        <p:tav tm="0">
                                          <p:val>
                                            <p:strVal val="#ppt_h/10"/>
                                          </p:val>
                                        </p:tav>
                                        <p:tav tm="50000">
                                          <p:val>
                                            <p:strVal val="#ppt_h+.01"/>
                                          </p:val>
                                        </p:tav>
                                        <p:tav tm="100000">
                                          <p:val>
                                            <p:strVal val="#ppt_h"/>
                                          </p:val>
                                        </p:tav>
                                      </p:tavLst>
                                    </p:anim>
                                    <p:anim calcmode="lin" valueType="num">
                                      <p:cBhvr>
                                        <p:cTn id="14" dur="500" fill="hold"/>
                                        <p:tgtEl>
                                          <p:spTgt spid="14"/>
                                        </p:tgtEl>
                                        <p:attrNameLst>
                                          <p:attrName>ppt_w</p:attrName>
                                        </p:attrNameLst>
                                      </p:cBhvr>
                                      <p:tavLst>
                                        <p:tav tm="0">
                                          <p:val>
                                            <p:strVal val="#ppt_w/10"/>
                                          </p:val>
                                        </p:tav>
                                        <p:tav tm="50000">
                                          <p:val>
                                            <p:strVal val="#ppt_w+.01"/>
                                          </p:val>
                                        </p:tav>
                                        <p:tav tm="100000">
                                          <p:val>
                                            <p:strVal val="#ppt_w"/>
                                          </p:val>
                                        </p:tav>
                                      </p:tavLst>
                                    </p:anim>
                                    <p:animEffect transition="in" filter="fade">
                                      <p:cBhvr>
                                        <p:cTn id="15" dur="500" tmFilter="0,0; .5, 1; 1, 1"/>
                                        <p:tgtEl>
                                          <p:spTgt spid="14"/>
                                        </p:tgtEl>
                                      </p:cBhvr>
                                    </p:animEffect>
                                  </p:childTnLst>
                                </p:cTn>
                              </p:par>
                            </p:childTnLst>
                          </p:cTn>
                        </p:par>
                        <p:par>
                          <p:cTn id="16" fill="hold">
                            <p:stCondLst>
                              <p:cond delay="3650"/>
                            </p:stCondLst>
                            <p:childTnLst>
                              <p:par>
                                <p:cTn id="17" presetID="26" presetClass="emph" presetSubtype="0" fill="hold" grpId="1" nodeType="afterEffect">
                                  <p:stCondLst>
                                    <p:cond delay="0"/>
                                  </p:stCondLst>
                                  <p:iterate type="lt">
                                    <p:tmPct val="0"/>
                                  </p:iterate>
                                  <p:childTnLst>
                                    <p:animEffect transition="out" filter="fade">
                                      <p:cBhvr>
                                        <p:cTn id="18" dur="500" tmFilter="0, 0; .2, .5; .8, .5; 1, 0"/>
                                        <p:tgtEl>
                                          <p:spTgt spid="14"/>
                                        </p:tgtEl>
                                      </p:cBhvr>
                                    </p:animEffect>
                                    <p:animScale>
                                      <p:cBhvr>
                                        <p:cTn id="19" dur="250" autoRev="1" fill="hold"/>
                                        <p:tgtEl>
                                          <p:spTgt spid="14"/>
                                        </p:tgtEl>
                                      </p:cBhvr>
                                      <p:by x="105000" y="105000"/>
                                    </p:animScale>
                                  </p:childTnLst>
                                </p:cTn>
                              </p:par>
                            </p:childTnLst>
                          </p:cTn>
                        </p:par>
                        <p:par>
                          <p:cTn id="20" fill="hold">
                            <p:stCondLst>
                              <p:cond delay="4150"/>
                            </p:stCondLst>
                            <p:childTnLst>
                              <p:par>
                                <p:cTn id="21" presetID="16" presetClass="entr" presetSubtype="21" fill="hold" nodeType="after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barn(inVertical)">
                                      <p:cBhvr>
                                        <p:cTn id="23" dur="500"/>
                                        <p:tgtEl>
                                          <p:spTgt spid="11"/>
                                        </p:tgtEl>
                                      </p:cBhvr>
                                    </p:animEffect>
                                  </p:childTnLst>
                                </p:cTn>
                              </p:par>
                            </p:childTnLst>
                          </p:cTn>
                        </p:par>
                        <p:par>
                          <p:cTn id="24" fill="hold">
                            <p:stCondLst>
                              <p:cond delay="4650"/>
                            </p:stCondLst>
                            <p:childTnLst>
                              <p:par>
                                <p:cTn id="25" presetID="42" presetClass="entr" presetSubtype="0" fill="hold" grpId="0" nodeType="after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1000"/>
                                        <p:tgtEl>
                                          <p:spTgt spid="10"/>
                                        </p:tgtEl>
                                      </p:cBhvr>
                                    </p:animEffect>
                                    <p:anim calcmode="lin" valueType="num">
                                      <p:cBhvr>
                                        <p:cTn id="28" dur="1000" fill="hold"/>
                                        <p:tgtEl>
                                          <p:spTgt spid="10"/>
                                        </p:tgtEl>
                                        <p:attrNameLst>
                                          <p:attrName>ppt_x</p:attrName>
                                        </p:attrNameLst>
                                      </p:cBhvr>
                                      <p:tavLst>
                                        <p:tav tm="0">
                                          <p:val>
                                            <p:strVal val="#ppt_x"/>
                                          </p:val>
                                        </p:tav>
                                        <p:tav tm="100000">
                                          <p:val>
                                            <p:strVal val="#ppt_x"/>
                                          </p:val>
                                        </p:tav>
                                      </p:tavLst>
                                    </p:anim>
                                    <p:anim calcmode="lin" valueType="num">
                                      <p:cBhvr>
                                        <p:cTn id="2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P spid="17" grpId="0" animBg="1"/>
      <p:bldP spid="10" grpId="0"/>
    </p:bldLst>
  </p:timing>
</p:sld>
</file>

<file path=ppt/theme/theme1.xml><?xml version="1.0" encoding="utf-8"?>
<a:theme xmlns:a="http://schemas.openxmlformats.org/drawingml/2006/main" name="Office 主题​​">
  <a:themeElements>
    <a:clrScheme name="自定义 1012">
      <a:dk1>
        <a:sysClr val="windowText" lastClr="000000"/>
      </a:dk1>
      <a:lt1>
        <a:sysClr val="window" lastClr="FFFFFF"/>
      </a:lt1>
      <a:dk2>
        <a:srgbClr val="5A6378"/>
      </a:dk2>
      <a:lt2>
        <a:srgbClr val="7F7F7F"/>
      </a:lt2>
      <a:accent1>
        <a:srgbClr val="10688B"/>
      </a:accent1>
      <a:accent2>
        <a:srgbClr val="0C0C0C"/>
      </a:accent2>
      <a:accent3>
        <a:srgbClr val="10688B"/>
      </a:accent3>
      <a:accent4>
        <a:srgbClr val="0C0C0C"/>
      </a:accent4>
      <a:accent5>
        <a:srgbClr val="10688B"/>
      </a:accent5>
      <a:accent6>
        <a:srgbClr val="0C0C0C"/>
      </a:accent6>
      <a:hlink>
        <a:srgbClr val="168BBA"/>
      </a:hlink>
      <a:folHlink>
        <a:srgbClr val="6800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2846</TotalTime>
  <Words>1933</Words>
  <Application>Microsoft Office PowerPoint</Application>
  <PresentationFormat>全屏显示(16:9)</PresentationFormat>
  <Paragraphs>163</Paragraphs>
  <Slides>19</Slides>
  <Notes>19</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19</vt:i4>
      </vt:variant>
    </vt:vector>
  </HeadingPairs>
  <TitlesOfParts>
    <vt:vector size="33" baseType="lpstr">
      <vt:lpstr>Yuanti SC</vt:lpstr>
      <vt:lpstr>华文细黑</vt:lpstr>
      <vt:lpstr>苹方 中等</vt:lpstr>
      <vt:lpstr>宋体</vt:lpstr>
      <vt:lpstr>Microsoft YaHei</vt:lpstr>
      <vt:lpstr>Microsoft YaHei</vt:lpstr>
      <vt:lpstr>微软雅黑 Light</vt:lpstr>
      <vt:lpstr>造字工房悦黑演示版常规体</vt:lpstr>
      <vt:lpstr>Arial</vt:lpstr>
      <vt:lpstr>Calibri</vt:lpstr>
      <vt:lpstr>Calibri Light</vt:lpstr>
      <vt:lpstr>Cambria Math</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CHINA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016</dc:title>
  <dc:creator>USER</dc:creator>
  <cp:lastModifiedBy>张 亦弛</cp:lastModifiedBy>
  <cp:revision>602</cp:revision>
  <dcterms:created xsi:type="dcterms:W3CDTF">2014-11-09T01:07:00Z</dcterms:created>
  <dcterms:modified xsi:type="dcterms:W3CDTF">2018-10-20T07:01:46Z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2052-10.1.0.7520</vt:lpwstr>
  </property>
</Properties>
</file>